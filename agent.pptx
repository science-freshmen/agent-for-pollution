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15022" r:id="rId3"/>
    <p:sldId id="15024" r:id="rId4"/>
    <p:sldId id="15025" r:id="rId5"/>
    <p:sldId id="15028" r:id="rId6"/>
    <p:sldId id="15023" r:id="rId7"/>
    <p:sldId id="15027" r:id="rId8"/>
    <p:sldId id="15026" r:id="rId9"/>
    <p:sldId id="1502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9"/>
    <p:restoredTop sz="94694"/>
  </p:normalViewPr>
  <p:slideViewPr>
    <p:cSldViewPr snapToGrid="0" showGuides="1">
      <p:cViewPr varScale="1">
        <p:scale>
          <a:sx n="113" d="100"/>
          <a:sy n="113" d="100"/>
        </p:scale>
        <p:origin x="208" y="3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73F9A-90EA-924F-9722-4E224BA4E61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03BFD-EA8D-6447-BAAB-43D1210F7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378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DEDFC-DCD7-8A4F-927F-01E30936F681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3551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DEDFC-DCD7-8A4F-927F-01E30936F681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5501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9B582-26EE-CBF1-26E4-3338F6AC4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B7E327-D985-6F25-C398-05A5CDA1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B59FC0-E743-FE95-8BCA-76F1803E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61A482-1EDE-AF37-F189-585F8C83F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7C6497-A4C3-3862-3710-9C27601B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214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A334F-117C-9434-4ED2-264691991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E1F1DB-7033-8B45-F311-59B1BCAA1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8AE002-861F-8DCB-C77C-861340E7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FD7402-0D59-1A91-3CE6-668AAC04B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CDBFBA-4E85-F19B-3BF0-1AB7CD8E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663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78840-6F33-B2F9-F4B6-AE82025C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EF93A3-3671-158B-9306-BAF8053AE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00D0B-F197-0215-2285-8EBE1D160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8957C-7DD8-0BEE-E75C-C65FFB25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CC727E-6AF9-2C4E-098E-A18ECDEC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690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E6A9E-A081-743C-7A7B-6A34C33D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F118CB-3856-61EA-BCE3-F4437704C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936BC5-896C-69DC-8F66-809D10CD1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77125C-68FC-F844-9C36-08A7E10E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581FF8-3FBD-6EA5-46AA-73ABAAA3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BBD8CA-9788-AAE5-5A45-C383BB0C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276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3221F-97B9-F54F-6776-3BD168FF9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D82C81-8936-DBEE-8424-1A59C530E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86885D-BA07-4503-DC63-BD44D92C7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438242-EF08-39FE-FF00-CD7C886BC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21D93B-10BE-2A9B-FB1C-D2E861118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002CBA-DE03-2D01-9C25-6E695887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7ED8B2-A119-AFF5-B218-536A9E40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F8B03B-ADC9-DBCA-78C6-6E104E2E8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8248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B5867-B4C1-BD72-D06D-F324BDD8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BA289C-0EAD-ED2B-6AAA-94CFEDA3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490995-7676-14D0-5694-525EB022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0C1258-0005-4263-D1FA-2D9A690A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329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CB75FB-3629-5AFF-56E8-7C997784A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E676BE-F3C6-8959-635D-C3DBC8FA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E80633-637E-E92A-1BC0-09D43D0D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50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F05DD-2373-97DD-B973-8A3942CA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0E0DF6-FBEA-D949-CCC4-0E7AE9449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2B9F48-D36C-9D1F-1A07-43F7780BF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DABBE7-47AC-C163-D765-BB64FC2D3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9934A8-0AE2-CDD4-1750-857BFB1F5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2F11E2-1A70-AA56-EF71-4D7C4E28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541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5CA97-8DD8-852A-0CBB-38758423E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E20D61-C7A7-1806-0A74-24BB36F6C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3765A1-6AA5-A389-F635-3890236D9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27E056-2D09-A92E-7170-814771F3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E4D534-B04F-FCB4-FEE0-FC5A2E0C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8C93DF-FC3D-902C-E3E1-D74AA65A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5871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C7BB7-E71A-4E25-E3BF-9E5CD59E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810E74-8D58-1127-2B55-0B53C8871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275BB-E936-E570-7994-412EA38D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8EA458-CDF3-84F2-C038-7D658D9A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DA4D07-F8B3-CC36-7AC7-E14ECA43E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803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368A27-4488-427A-B929-B1B9CBA03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2969B4-59A2-F1A7-3909-D9A3F3E0E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C15728-8AF3-63D6-A27D-1D19AD99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62D016-8E2C-C32C-B85E-E2296AA4A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3ACF18-C4FA-76B6-C5F5-4961F233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083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638BF5-5D09-EE1E-C883-3013EA5D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73E244-6705-47F2-3A54-FBFE0E8FC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CE3509-E2A5-693B-58FE-A4BB416CF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B33E5-1A74-7343-9EE3-8D9D7ED55BA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039A8-B92A-A8AC-A1FB-DBB262CC7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2046AD-F5BF-8594-E5E0-63BE546C2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6408B-C94D-8D41-B6C8-DA3F9BFAA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070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file:///Users/joyce/Desktop/&#30456;&#23481;&#24615;&#28342;&#36136;/article/Compatible_solute_stress_summary.xls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EAD73-0884-F6FB-7CA5-412185D6D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CD76DB-AF64-3E49-61EB-21CCC0B10D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852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9B9B015-5845-9EC6-20E8-E12263A12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"/>
            <a:ext cx="6022428" cy="40803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0F4554-125C-372F-3C25-6CF573EF1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738" y="4124596"/>
            <a:ext cx="5111750" cy="273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6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0E58945-DADA-E1C2-4A62-AA504ACEA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4297"/>
            <a:ext cx="3924300" cy="38608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077EFA-0040-A175-C26F-F7ABD82D6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402" y="193675"/>
            <a:ext cx="3924300" cy="2082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E4FB72-12F2-51EA-43F2-48643CC15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452" y="2443655"/>
            <a:ext cx="38862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7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9BC01C7-D218-A2B6-A05F-76768BDB7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029" y="208455"/>
            <a:ext cx="3873500" cy="37084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12E270-2699-A539-9F96-2C4E213B78ED}"/>
              </a:ext>
            </a:extLst>
          </p:cNvPr>
          <p:cNvSpPr txBox="1"/>
          <p:nvPr/>
        </p:nvSpPr>
        <p:spPr>
          <a:xfrm>
            <a:off x="5439103" y="302920"/>
            <a:ext cx="4955626" cy="378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定位：全系统的数据入口与知识底座。处理逻辑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NLP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引擎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Qwen3-235B-A22B API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6,000+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篇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PMS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活化文献中提取材料、性能与机理数据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文献先被切分为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上下文兼容单元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以适配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LLM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输入长度约束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所有提取输出被强制约束为预定义的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JSON schema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无法从原文无歧义识别的字段一律标注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“Not Mentioned”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从制度上防止幻觉式推断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⑤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提取结果与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100,000+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篇污水处理文献整合，通过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Neo4j–PostgreSQL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混合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RAG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架构构建专家验证知识图谱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⑥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自动接入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PNEC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（预测无效应浓度）检索、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PubChem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查询与分子注释，为图谱补充结构、物化与生物属性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输出：结构化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JSON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材料数据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1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知识图谱；人工标注验证显示其对关键材料信息、性能指标与元数据具有高保真度（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Supplementary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Table 1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zh-CN" altLang="zh-CN" sz="1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69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1170C7E-78AD-8F2C-7DEC-B03A9B46A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04" y="0"/>
            <a:ext cx="5077146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58EEE50-8725-CB83-4CEF-CE78C0803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0" y="161830"/>
            <a:ext cx="4626016" cy="162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25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EF0EAB3-C962-709C-AD93-B7991009857E}"/>
              </a:ext>
            </a:extLst>
          </p:cNvPr>
          <p:cNvCxnSpPr>
            <a:cxnSpLocks/>
          </p:cNvCxnSpPr>
          <p:nvPr/>
        </p:nvCxnSpPr>
        <p:spPr>
          <a:xfrm>
            <a:off x="6462799" y="666557"/>
            <a:ext cx="0" cy="3377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43FC498-F0D7-ED0C-BA20-5896D4781E0E}"/>
              </a:ext>
            </a:extLst>
          </p:cNvPr>
          <p:cNvSpPr txBox="1"/>
          <p:nvPr/>
        </p:nvSpPr>
        <p:spPr>
          <a:xfrm>
            <a:off x="5311745" y="1"/>
            <a:ext cx="2511972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用户提交输入</a:t>
            </a:r>
            <a:endParaRPr kumimoji="1" lang="en-US" altLang="zh-CN" sz="1600" dirty="0"/>
          </a:p>
          <a:p>
            <a:r>
              <a:rPr kumimoji="1" lang="en-US" altLang="zh-CN" sz="1000" dirty="0"/>
              <a:t>1.</a:t>
            </a:r>
            <a:r>
              <a:rPr kumimoji="1" lang="zh-CN" altLang="en-US" sz="1000" dirty="0"/>
              <a:t>目标盐度</a:t>
            </a:r>
            <a:endParaRPr kumimoji="1" lang="en-US" altLang="zh-CN" sz="1000" dirty="0"/>
          </a:p>
          <a:p>
            <a:r>
              <a:rPr kumimoji="1" lang="en-US" altLang="zh-CN" sz="1000" dirty="0"/>
              <a:t>2.</a:t>
            </a:r>
            <a:r>
              <a:rPr kumimoji="1" lang="zh-CN" altLang="en-US" sz="1000" dirty="0"/>
              <a:t>基因组（或者基因组分类学名称）</a:t>
            </a:r>
            <a:endParaRPr kumimoji="1" lang="en-US" altLang="zh-CN" sz="1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241CCD4-4194-99CE-1CE3-DC210CD4BFAA}"/>
              </a:ext>
            </a:extLst>
          </p:cNvPr>
          <p:cNvSpPr txBox="1"/>
          <p:nvPr/>
        </p:nvSpPr>
        <p:spPr>
          <a:xfrm>
            <a:off x="5311745" y="1004342"/>
            <a:ext cx="2511972" cy="1846659"/>
          </a:xfrm>
          <a:prstGeom prst="rect">
            <a:avLst/>
          </a:prstGeom>
          <a:solidFill>
            <a:srgbClr val="EDF6F2"/>
          </a:solidFill>
          <a:ln>
            <a:solidFill>
              <a:srgbClr val="2D7C6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/>
              <a:t>GDA</a:t>
            </a:r>
            <a:r>
              <a:rPr kumimoji="1" lang="zh-CN" altLang="en-US" sz="1600" dirty="0"/>
              <a:t>基因组功能解析</a:t>
            </a:r>
            <a:endParaRPr kumimoji="1" lang="en-US" altLang="zh-CN" sz="1600" dirty="0"/>
          </a:p>
          <a:p>
            <a:pPr algn="ctr"/>
            <a:r>
              <a:rPr kumimoji="1" lang="en-US" altLang="zh-CN" sz="1000" dirty="0"/>
              <a:t>1.</a:t>
            </a:r>
            <a:r>
              <a:rPr kumimoji="1" lang="zh-CN" altLang="en-US" sz="1000" dirty="0"/>
              <a:t>相容性溶质合成转运</a:t>
            </a:r>
            <a:r>
              <a:rPr kumimoji="1" lang="en-US" altLang="zh-CN" sz="1000" dirty="0"/>
              <a:t>+</a:t>
            </a:r>
            <a:r>
              <a:rPr kumimoji="1" lang="zh-CN" altLang="en-US" sz="1000" dirty="0"/>
              <a:t>核心代谢功能及</a:t>
            </a:r>
            <a:r>
              <a:rPr kumimoji="1" lang="en-US" altLang="zh-CN" sz="1000" dirty="0"/>
              <a:t>module→</a:t>
            </a:r>
            <a:r>
              <a:rPr kumimoji="1" lang="zh-CN" altLang="en-US" sz="1000" dirty="0"/>
              <a:t>功能缺陷谱</a:t>
            </a:r>
            <a:r>
              <a:rPr kumimoji="1" lang="en-US" altLang="zh-CN" sz="1000" dirty="0"/>
              <a:t>FDP</a:t>
            </a:r>
            <a:r>
              <a:rPr kumimoji="1" lang="zh-CN" altLang="en-US" sz="1000" dirty="0"/>
              <a:t>入库；</a:t>
            </a:r>
            <a:endParaRPr kumimoji="1" lang="en-US" altLang="zh-CN" sz="1000" dirty="0"/>
          </a:p>
          <a:p>
            <a:pPr algn="ctr"/>
            <a:r>
              <a:rPr kumimoji="1" lang="en-US" altLang="zh-CN" sz="1000" dirty="0"/>
              <a:t>2.</a:t>
            </a:r>
            <a:r>
              <a:rPr kumimoji="1" lang="zh-CN" altLang="en-US" sz="1000" dirty="0"/>
              <a:t>利用盐度</a:t>
            </a:r>
            <a:r>
              <a:rPr kumimoji="1" lang="en-US" altLang="zh-CN" sz="1000" dirty="0"/>
              <a:t>-</a:t>
            </a:r>
            <a:r>
              <a:rPr kumimoji="1" lang="zh-CN" altLang="en-US" sz="1000" dirty="0"/>
              <a:t>溶质映射表，做</a:t>
            </a:r>
            <a:r>
              <a:rPr kumimoji="1" lang="en" altLang="zh-CN" sz="1000" dirty="0"/>
              <a:t>LLM </a:t>
            </a:r>
            <a:r>
              <a:rPr kumimoji="1" lang="zh-CN" altLang="en-US" sz="1000" dirty="0"/>
              <a:t>诊断叙述：</a:t>
            </a:r>
            <a:r>
              <a:rPr kumimoji="1" lang="en" altLang="zh-CN" sz="1000" dirty="0"/>
              <a:t>“Ca. </a:t>
            </a:r>
            <a:r>
              <a:rPr kumimoji="1" lang="en" altLang="zh-CN" sz="1000" dirty="0" err="1"/>
              <a:t>Kuenenia</a:t>
            </a:r>
            <a:r>
              <a:rPr kumimoji="1" lang="en" altLang="zh-CN" sz="1000" dirty="0"/>
              <a:t> </a:t>
            </a:r>
            <a:r>
              <a:rPr kumimoji="1" lang="zh-CN" altLang="en-US" sz="1000" dirty="0"/>
              <a:t>缺失 </a:t>
            </a:r>
            <a:r>
              <a:rPr kumimoji="1" lang="en" altLang="zh-CN" sz="1000" dirty="0" err="1"/>
              <a:t>ectoine</a:t>
            </a:r>
            <a:r>
              <a:rPr kumimoji="1" lang="en" altLang="zh-CN" sz="1000" dirty="0"/>
              <a:t> </a:t>
            </a:r>
            <a:r>
              <a:rPr kumimoji="1" lang="zh-CN" altLang="en-US" sz="1000" dirty="0"/>
              <a:t>合成，</a:t>
            </a:r>
            <a:r>
              <a:rPr kumimoji="1" lang="en-US" altLang="zh-CN" sz="1000" dirty="0"/>
              <a:t>3.5% </a:t>
            </a:r>
            <a:r>
              <a:rPr kumimoji="1" lang="zh-CN" altLang="en-US" sz="1000" dirty="0"/>
              <a:t>盐度下将依赖外源供给，风险等级 </a:t>
            </a:r>
            <a:r>
              <a:rPr kumimoji="1" lang="en" altLang="zh-CN" sz="1000" dirty="0"/>
              <a:t>X</a:t>
            </a:r>
            <a:r>
              <a:rPr kumimoji="1" lang="zh-CN" altLang="en-US" sz="1000" dirty="0"/>
              <a:t>，</a:t>
            </a:r>
            <a:r>
              <a:rPr lang="zh-CN" altLang="en-US" sz="1000" dirty="0"/>
              <a:t>候选环境巴里坤湖：</a:t>
            </a:r>
            <a:r>
              <a:rPr lang="en" altLang="zh-CN" sz="1000" dirty="0" err="1"/>
              <a:t>Halomonas</a:t>
            </a:r>
            <a:r>
              <a:rPr lang="en" altLang="zh-CN" sz="1000" dirty="0"/>
              <a:t> sp. X </a:t>
            </a:r>
            <a:r>
              <a:rPr lang="zh-CN" altLang="en-US" sz="1000" dirty="0"/>
              <a:t>具完整 </a:t>
            </a:r>
            <a:r>
              <a:rPr lang="en" altLang="zh-CN" sz="1000" dirty="0" err="1"/>
              <a:t>ectABC</a:t>
            </a:r>
            <a:r>
              <a:rPr lang="en" altLang="zh-CN" sz="1000" dirty="0"/>
              <a:t> </a:t>
            </a:r>
            <a:r>
              <a:rPr lang="zh-CN" altLang="en-US" sz="1000" dirty="0"/>
              <a:t>途径、</a:t>
            </a:r>
            <a:r>
              <a:rPr lang="en-US" altLang="zh-CN" sz="1000" dirty="0"/>
              <a:t>3.5% </a:t>
            </a:r>
            <a:r>
              <a:rPr lang="zh-CN" altLang="en-US" sz="1000" dirty="0"/>
              <a:t>盐度下生长中高，但具亚硝酸盐氧化能力，与 </a:t>
            </a:r>
            <a:r>
              <a:rPr lang="en" altLang="zh-CN" sz="1000" dirty="0"/>
              <a:t>anammox </a:t>
            </a:r>
            <a:r>
              <a:rPr lang="zh-CN" altLang="en-US" sz="1000" dirty="0"/>
              <a:t>存在底物竞争</a:t>
            </a:r>
            <a:r>
              <a:rPr lang="zh-CN" altLang="en-US" dirty="0"/>
              <a:t>风险</a:t>
            </a:r>
            <a:r>
              <a:rPr kumimoji="1" lang="en" altLang="zh-CN" sz="1000" dirty="0"/>
              <a:t>"</a:t>
            </a:r>
            <a:r>
              <a:rPr kumimoji="1" lang="zh-CN" altLang="en" sz="1000" dirty="0"/>
              <a:t>；</a:t>
            </a:r>
            <a:endParaRPr kumimoji="1" lang="zh-CN" altLang="en-US" sz="1000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AF65E009-6DDB-2BF3-2E2B-D20BD04C123E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7823718" y="1927417"/>
            <a:ext cx="278007" cy="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765C716-2F85-FCA0-43DC-3477C803B6B7}"/>
              </a:ext>
            </a:extLst>
          </p:cNvPr>
          <p:cNvSpPr txBox="1"/>
          <p:nvPr/>
        </p:nvSpPr>
        <p:spPr>
          <a:xfrm>
            <a:off x="8101724" y="1604251"/>
            <a:ext cx="1342314" cy="646331"/>
          </a:xfrm>
          <a:prstGeom prst="rect">
            <a:avLst/>
          </a:prstGeom>
          <a:solidFill>
            <a:srgbClr val="EDF6F2"/>
          </a:solidFill>
          <a:ln>
            <a:solidFill>
              <a:srgbClr val="2D7C6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输出</a:t>
            </a:r>
            <a:endParaRPr kumimoji="1" lang="en-US" altLang="zh-CN" sz="1600" dirty="0"/>
          </a:p>
          <a:p>
            <a:pPr algn="ctr"/>
            <a:r>
              <a:rPr kumimoji="1" lang="en-US" altLang="zh-CN" sz="1000" dirty="0"/>
              <a:t>FDP(JSON+RDF)</a:t>
            </a:r>
          </a:p>
          <a:p>
            <a:pPr algn="ctr"/>
            <a:r>
              <a:rPr kumimoji="1" lang="en-US" altLang="zh-CN" sz="1000" dirty="0"/>
              <a:t>RSP</a:t>
            </a:r>
            <a:r>
              <a:rPr kumimoji="1" lang="zh-CN" altLang="en-US" sz="1000" dirty="0"/>
              <a:t>（权重向量）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BC0ABC-812A-D886-BF30-03DCE555B98B}"/>
              </a:ext>
            </a:extLst>
          </p:cNvPr>
          <p:cNvSpPr txBox="1"/>
          <p:nvPr/>
        </p:nvSpPr>
        <p:spPr>
          <a:xfrm>
            <a:off x="5311745" y="3091093"/>
            <a:ext cx="2511972" cy="646331"/>
          </a:xfrm>
          <a:prstGeom prst="rect">
            <a:avLst/>
          </a:prstGeom>
          <a:solidFill>
            <a:srgbClr val="EDF6F2"/>
          </a:solidFill>
          <a:ln>
            <a:solidFill>
              <a:srgbClr val="2D7C6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/>
              <a:t>EEDA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SPARQL</a:t>
            </a:r>
            <a:r>
              <a:rPr kumimoji="1" lang="zh-CN" altLang="en-US" sz="1600" dirty="0"/>
              <a:t>检索</a:t>
            </a:r>
            <a:endParaRPr kumimoji="1" lang="en-US" altLang="zh-CN" sz="1600" dirty="0"/>
          </a:p>
          <a:p>
            <a:pPr algn="ctr"/>
            <a:r>
              <a:rPr kumimoji="1" lang="zh-CN" altLang="en-US" sz="1000" dirty="0"/>
              <a:t>检索候选的</a:t>
            </a:r>
            <a:r>
              <a:rPr kumimoji="1" lang="en-US" altLang="zh-CN" sz="1000" dirty="0" err="1"/>
              <a:t>ExtremeEnvironment+Phylum</a:t>
            </a:r>
            <a:r>
              <a:rPr kumimoji="1" lang="zh-CN" altLang="en-US" sz="1000" dirty="0"/>
              <a:t>先验记录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6A92287-58E3-0D07-177E-6933A2BB3B9B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7823718" y="3414258"/>
            <a:ext cx="27800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A3A8E64-86CD-59F7-4151-83539F53EF9E}"/>
              </a:ext>
            </a:extLst>
          </p:cNvPr>
          <p:cNvSpPr txBox="1"/>
          <p:nvPr/>
        </p:nvSpPr>
        <p:spPr>
          <a:xfrm>
            <a:off x="8101724" y="3091092"/>
            <a:ext cx="1342314" cy="646331"/>
          </a:xfrm>
          <a:prstGeom prst="rect">
            <a:avLst/>
          </a:prstGeom>
          <a:solidFill>
            <a:srgbClr val="EDF6F2"/>
          </a:solidFill>
          <a:ln>
            <a:solidFill>
              <a:srgbClr val="2D7C6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输出</a:t>
            </a:r>
            <a:endParaRPr kumimoji="1" lang="en-US" altLang="zh-CN" sz="1600" dirty="0"/>
          </a:p>
          <a:p>
            <a:pPr algn="ctr"/>
            <a:r>
              <a:rPr kumimoji="1" lang="zh-CN" altLang="en-US" sz="1000" dirty="0"/>
              <a:t>候选环境列表</a:t>
            </a:r>
            <a:r>
              <a:rPr kumimoji="1" lang="en-US" altLang="zh-CN" sz="1000" dirty="0"/>
              <a:t>+</a:t>
            </a:r>
            <a:r>
              <a:rPr kumimoji="1" lang="zh-CN" altLang="en-US" sz="1000" dirty="0"/>
              <a:t>先验记录</a:t>
            </a:r>
            <a:endParaRPr kumimoji="1" lang="en-US" altLang="zh-CN" sz="1000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0EE1E388-481E-CB7D-932B-C1E98CF12A35}"/>
              </a:ext>
            </a:extLst>
          </p:cNvPr>
          <p:cNvCxnSpPr>
            <a:cxnSpLocks/>
          </p:cNvCxnSpPr>
          <p:nvPr/>
        </p:nvCxnSpPr>
        <p:spPr>
          <a:xfrm>
            <a:off x="6462932" y="2851000"/>
            <a:ext cx="0" cy="26313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88750C8-E98A-9BF0-3C27-4FF8302DD383}"/>
              </a:ext>
            </a:extLst>
          </p:cNvPr>
          <p:cNvSpPr txBox="1"/>
          <p:nvPr/>
        </p:nvSpPr>
        <p:spPr>
          <a:xfrm>
            <a:off x="5311745" y="4000561"/>
            <a:ext cx="2511972" cy="1107996"/>
          </a:xfrm>
          <a:prstGeom prst="rect">
            <a:avLst/>
          </a:prstGeom>
          <a:solidFill>
            <a:srgbClr val="EDF6F2"/>
          </a:solidFill>
          <a:ln>
            <a:solidFill>
              <a:srgbClr val="2D7C6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/>
              <a:t>CSA</a:t>
            </a:r>
            <a:r>
              <a:rPr kumimoji="1" lang="zh-CN" altLang="en-US" sz="1600" dirty="0"/>
              <a:t>四维评分与排序</a:t>
            </a:r>
            <a:endParaRPr kumimoji="1" lang="en-US" altLang="zh-CN" sz="1600" dirty="0"/>
          </a:p>
          <a:p>
            <a:pPr algn="ctr"/>
            <a:r>
              <a:rPr kumimoji="1" lang="en-US" altLang="zh-CN" sz="1000" dirty="0"/>
              <a:t>1.</a:t>
            </a:r>
            <a:r>
              <a:rPr kumimoji="1" lang="zh-CN" altLang="en-US" sz="1000" dirty="0"/>
              <a:t>跨喂养潜力评分：氮代谢、溶质合成；</a:t>
            </a:r>
            <a:endParaRPr kumimoji="1" lang="en-US" altLang="zh-CN" sz="1000" dirty="0"/>
          </a:p>
          <a:p>
            <a:pPr algn="ctr"/>
            <a:r>
              <a:rPr kumimoji="1" lang="en-US" altLang="zh-CN" sz="1000" dirty="0"/>
              <a:t>2.</a:t>
            </a:r>
            <a:r>
              <a:rPr kumimoji="1" lang="zh-CN" altLang="en-US" sz="1000" dirty="0"/>
              <a:t>环境匹配评分；</a:t>
            </a:r>
            <a:endParaRPr kumimoji="1" lang="en-US" altLang="zh-CN" sz="1000" dirty="0"/>
          </a:p>
          <a:p>
            <a:pPr algn="ctr"/>
            <a:r>
              <a:rPr kumimoji="1" lang="en-US" altLang="zh-CN" sz="1000" dirty="0"/>
              <a:t>3.</a:t>
            </a:r>
            <a:r>
              <a:rPr kumimoji="1" lang="zh-CN" altLang="en-US" sz="1000" dirty="0"/>
              <a:t>网络兼容性评分：根据</a:t>
            </a:r>
            <a:r>
              <a:rPr kumimoji="1" lang="en-US" altLang="zh-CN" sz="1000" dirty="0"/>
              <a:t>16S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rRNA</a:t>
            </a:r>
            <a:r>
              <a:rPr kumimoji="1" lang="zh-CN" altLang="en-US" sz="1000" dirty="0"/>
              <a:t>总结的先验表进行打分；</a:t>
            </a:r>
            <a:endParaRPr kumimoji="1" lang="en-US" altLang="zh-CN" sz="1000" dirty="0"/>
          </a:p>
          <a:p>
            <a:pPr algn="ctr"/>
            <a:r>
              <a:rPr kumimoji="1" lang="en-US" altLang="zh-CN" sz="1000" dirty="0"/>
              <a:t>4.</a:t>
            </a:r>
            <a:r>
              <a:rPr kumimoji="1" lang="zh-CN" altLang="en-US" sz="1000" dirty="0"/>
              <a:t>群落稳健性评分</a:t>
            </a: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CFB27608-0BE0-EDC9-D9B0-2DC631C10F8F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 flipV="1">
            <a:off x="7823718" y="4554557"/>
            <a:ext cx="27800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45C4AA6-DA3E-1870-12A8-736A472E429F}"/>
              </a:ext>
            </a:extLst>
          </p:cNvPr>
          <p:cNvSpPr txBox="1"/>
          <p:nvPr/>
        </p:nvSpPr>
        <p:spPr>
          <a:xfrm>
            <a:off x="8101724" y="4231392"/>
            <a:ext cx="1342314" cy="646331"/>
          </a:xfrm>
          <a:prstGeom prst="rect">
            <a:avLst/>
          </a:prstGeom>
          <a:solidFill>
            <a:srgbClr val="EDF6F2"/>
          </a:solidFill>
          <a:ln>
            <a:solidFill>
              <a:srgbClr val="2D7C6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输出</a:t>
            </a:r>
            <a:endParaRPr kumimoji="1" lang="en-US" altLang="zh-CN" sz="1600" dirty="0"/>
          </a:p>
          <a:p>
            <a:pPr algn="ctr"/>
            <a:r>
              <a:rPr kumimoji="1" lang="zh-CN" altLang="en-US" sz="1000" dirty="0"/>
              <a:t>排序候选</a:t>
            </a:r>
            <a:r>
              <a:rPr kumimoji="1" lang="en-US" altLang="zh-CN" sz="1000" dirty="0"/>
              <a:t>+</a:t>
            </a:r>
            <a:r>
              <a:rPr kumimoji="1" lang="zh-CN" altLang="en-US" sz="1000" dirty="0"/>
              <a:t>四维评分详情</a:t>
            </a:r>
            <a:endParaRPr kumimoji="1" lang="en-US" altLang="zh-CN" sz="1000" dirty="0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09201EC-BB94-2C0A-9C74-9739422D9912}"/>
              </a:ext>
            </a:extLst>
          </p:cNvPr>
          <p:cNvCxnSpPr>
            <a:cxnSpLocks/>
          </p:cNvCxnSpPr>
          <p:nvPr/>
        </p:nvCxnSpPr>
        <p:spPr>
          <a:xfrm>
            <a:off x="6462799" y="3737423"/>
            <a:ext cx="0" cy="26313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BC3434A-3C1B-58E7-CAE4-CE818D545894}"/>
              </a:ext>
            </a:extLst>
          </p:cNvPr>
          <p:cNvSpPr txBox="1"/>
          <p:nvPr/>
        </p:nvSpPr>
        <p:spPr>
          <a:xfrm>
            <a:off x="5311745" y="5371694"/>
            <a:ext cx="2511972" cy="492443"/>
          </a:xfrm>
          <a:prstGeom prst="rect">
            <a:avLst/>
          </a:prstGeom>
          <a:solidFill>
            <a:srgbClr val="EDF6F2"/>
          </a:solidFill>
          <a:ln>
            <a:solidFill>
              <a:srgbClr val="2D7C6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用户实验验证</a:t>
            </a:r>
            <a:endParaRPr kumimoji="1" lang="en-US" altLang="zh-CN" sz="1600" dirty="0"/>
          </a:p>
          <a:p>
            <a:pPr algn="ctr"/>
            <a:r>
              <a:rPr kumimoji="1" lang="zh-CN" altLang="en-US" sz="1000" dirty="0"/>
              <a:t>脱氮效率、群落结构、溶质浓度</a:t>
            </a: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16086A0C-D8BF-D939-6E3F-D6F3DEBB39AA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 flipV="1">
            <a:off x="7823718" y="5617915"/>
            <a:ext cx="27800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513312B-162B-8A6B-0533-AE716ACC4488}"/>
              </a:ext>
            </a:extLst>
          </p:cNvPr>
          <p:cNvSpPr txBox="1"/>
          <p:nvPr/>
        </p:nvSpPr>
        <p:spPr>
          <a:xfrm>
            <a:off x="8101724" y="5294749"/>
            <a:ext cx="1342314" cy="646331"/>
          </a:xfrm>
          <a:prstGeom prst="rect">
            <a:avLst/>
          </a:prstGeom>
          <a:solidFill>
            <a:srgbClr val="EDF6F2"/>
          </a:solidFill>
          <a:ln>
            <a:solidFill>
              <a:srgbClr val="2D7C6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输出</a:t>
            </a:r>
            <a:endParaRPr kumimoji="1" lang="en-US" altLang="zh-CN" sz="1600" dirty="0"/>
          </a:p>
          <a:p>
            <a:pPr algn="ctr"/>
            <a:r>
              <a:rPr kumimoji="1" lang="en-US" altLang="zh-CN" sz="1000" dirty="0" err="1"/>
              <a:t>BioaugmentationOutcome</a:t>
            </a:r>
            <a:endParaRPr kumimoji="1" lang="en-US" altLang="zh-CN" sz="1000" dirty="0"/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F477963F-7D3A-FE76-8D8D-02D4B889EB24}"/>
              </a:ext>
            </a:extLst>
          </p:cNvPr>
          <p:cNvCxnSpPr>
            <a:cxnSpLocks/>
          </p:cNvCxnSpPr>
          <p:nvPr/>
        </p:nvCxnSpPr>
        <p:spPr>
          <a:xfrm>
            <a:off x="6462799" y="5108555"/>
            <a:ext cx="0" cy="26313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E662648A-D9BB-6900-0FDD-025650E4220C}"/>
              </a:ext>
            </a:extLst>
          </p:cNvPr>
          <p:cNvCxnSpPr>
            <a:cxnSpLocks/>
            <a:endCxn id="50" idx="3"/>
          </p:cNvCxnSpPr>
          <p:nvPr/>
        </p:nvCxnSpPr>
        <p:spPr>
          <a:xfrm rot="16200000" flipH="1">
            <a:off x="6234157" y="3170254"/>
            <a:ext cx="3436292" cy="2983470"/>
          </a:xfrm>
          <a:prstGeom prst="bentConnector4">
            <a:avLst>
              <a:gd name="adj1" fmla="val 26"/>
              <a:gd name="adj2" fmla="val 116419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DFA7B668-33DE-7DB0-001F-8DD12DED57EB}"/>
              </a:ext>
            </a:extLst>
          </p:cNvPr>
          <p:cNvSpPr txBox="1"/>
          <p:nvPr/>
        </p:nvSpPr>
        <p:spPr>
          <a:xfrm>
            <a:off x="5311745" y="6133915"/>
            <a:ext cx="2511972" cy="492443"/>
          </a:xfrm>
          <a:prstGeom prst="rect">
            <a:avLst/>
          </a:prstGeom>
          <a:solidFill>
            <a:srgbClr val="F9E6E3"/>
          </a:solidFill>
          <a:ln>
            <a:solidFill>
              <a:srgbClr val="CD9B9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用户实验验证</a:t>
            </a:r>
            <a:endParaRPr kumimoji="1" lang="en-US" altLang="zh-CN" sz="1600" dirty="0"/>
          </a:p>
          <a:p>
            <a:pPr algn="ctr"/>
            <a:r>
              <a:rPr kumimoji="1" lang="zh-CN" altLang="en-US" sz="1000" dirty="0"/>
              <a:t>脱氮效率、群落结构、溶质浓度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4ED18F5-B3B1-488A-9F51-4BE17849FF2C}"/>
              </a:ext>
            </a:extLst>
          </p:cNvPr>
          <p:cNvSpPr txBox="1"/>
          <p:nvPr/>
        </p:nvSpPr>
        <p:spPr>
          <a:xfrm>
            <a:off x="8101724" y="6056970"/>
            <a:ext cx="1342314" cy="646331"/>
          </a:xfrm>
          <a:prstGeom prst="rect">
            <a:avLst/>
          </a:prstGeom>
          <a:solidFill>
            <a:srgbClr val="F9E6E3"/>
          </a:solidFill>
          <a:ln>
            <a:solidFill>
              <a:srgbClr val="CD9B9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输出</a:t>
            </a:r>
            <a:endParaRPr kumimoji="1" lang="en-US" altLang="zh-CN" sz="1600" dirty="0"/>
          </a:p>
          <a:p>
            <a:pPr algn="ctr"/>
            <a:r>
              <a:rPr kumimoji="1" lang="en-US" altLang="zh-CN" sz="1000" dirty="0" err="1"/>
              <a:t>BioaugmentationOutcome</a:t>
            </a:r>
            <a:endParaRPr kumimoji="1" lang="en-US" altLang="zh-CN" sz="1000" dirty="0"/>
          </a:p>
        </p:txBody>
      </p: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59818DB-48AD-DD7C-CDE1-B75643EECEA4}"/>
              </a:ext>
            </a:extLst>
          </p:cNvPr>
          <p:cNvCxnSpPr>
            <a:cxnSpLocks/>
          </p:cNvCxnSpPr>
          <p:nvPr/>
        </p:nvCxnSpPr>
        <p:spPr>
          <a:xfrm>
            <a:off x="6462799" y="5870776"/>
            <a:ext cx="0" cy="26313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AB0627A0-087A-9E12-F5E4-3F1FB1056F3C}"/>
              </a:ext>
            </a:extLst>
          </p:cNvPr>
          <p:cNvCxnSpPr>
            <a:cxnSpLocks/>
          </p:cNvCxnSpPr>
          <p:nvPr/>
        </p:nvCxnSpPr>
        <p:spPr>
          <a:xfrm flipV="1">
            <a:off x="7813299" y="6380135"/>
            <a:ext cx="27800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83900E1A-DED9-9E77-808B-3503BFB0F73E}"/>
              </a:ext>
            </a:extLst>
          </p:cNvPr>
          <p:cNvSpPr txBox="1"/>
          <p:nvPr/>
        </p:nvSpPr>
        <p:spPr>
          <a:xfrm>
            <a:off x="2265945" y="4000561"/>
            <a:ext cx="2511972" cy="1107996"/>
          </a:xfrm>
          <a:prstGeom prst="rect">
            <a:avLst/>
          </a:prstGeom>
          <a:solidFill>
            <a:srgbClr val="EDF6F2"/>
          </a:solidFill>
          <a:ln>
            <a:solidFill>
              <a:srgbClr val="2D7C6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/>
              <a:t>RAG</a:t>
            </a:r>
          </a:p>
          <a:p>
            <a:pPr algn="ctr"/>
            <a:r>
              <a:rPr kumimoji="1" lang="en-US" altLang="zh-CN" sz="1000" dirty="0"/>
              <a:t>1.</a:t>
            </a:r>
            <a:r>
              <a:rPr kumimoji="1" lang="zh-CN" altLang="en-US" sz="1000" dirty="0"/>
              <a:t>文献：用于评估网络稳定性；</a:t>
            </a:r>
            <a:endParaRPr kumimoji="1" lang="en-US" altLang="zh-CN" sz="1000" dirty="0"/>
          </a:p>
          <a:p>
            <a:pPr algn="ctr"/>
            <a:r>
              <a:rPr kumimoji="1" lang="en-US" altLang="zh-CN" sz="1000" dirty="0"/>
              <a:t>2.</a:t>
            </a:r>
            <a:r>
              <a:rPr kumimoji="1" lang="zh-CN" altLang="en-US" sz="1000" dirty="0"/>
              <a:t>文献：用于为用户推荐相容性溶质添加浓度区间；</a:t>
            </a:r>
            <a:endParaRPr kumimoji="1" lang="en-US" altLang="zh-CN" sz="1000" dirty="0"/>
          </a:p>
          <a:p>
            <a:pPr algn="ctr"/>
            <a:r>
              <a:rPr kumimoji="1" lang="en-US" altLang="zh-CN" sz="1000" dirty="0"/>
              <a:t>3.</a:t>
            </a:r>
            <a:r>
              <a:rPr kumimoji="1" lang="zh-CN" altLang="en-US" sz="1000" dirty="0"/>
              <a:t>盐湖基因组的功能信息，包括核心代谢及溶质合成能力</a:t>
            </a:r>
            <a:endParaRPr kumimoji="1" lang="en-US" altLang="zh-CN" sz="1000" dirty="0"/>
          </a:p>
        </p:txBody>
      </p: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4F5CB5E2-7E6E-7AC2-FB32-886F40920C74}"/>
              </a:ext>
            </a:extLst>
          </p:cNvPr>
          <p:cNvCxnSpPr>
            <a:cxnSpLocks/>
          </p:cNvCxnSpPr>
          <p:nvPr/>
        </p:nvCxnSpPr>
        <p:spPr>
          <a:xfrm>
            <a:off x="4777917" y="4554556"/>
            <a:ext cx="533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27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C775D08-E107-D7B8-0BD8-27AA1DD12E9B}"/>
              </a:ext>
            </a:extLst>
          </p:cNvPr>
          <p:cNvSpPr txBox="1"/>
          <p:nvPr/>
        </p:nvSpPr>
        <p:spPr>
          <a:xfrm>
            <a:off x="1309816" y="100606"/>
            <a:ext cx="960737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zh-CN" altLang="en-US" sz="1200" b="1" dirty="0">
                <a:latin typeface="ui-sans-serif"/>
              </a:rPr>
              <a:t>二、</a:t>
            </a:r>
            <a:r>
              <a:rPr lang="en-US" altLang="zh-CN" sz="1200" b="1" dirty="0">
                <a:latin typeface="ui-sans-serif"/>
              </a:rPr>
              <a:t>"</a:t>
            </a:r>
            <a:r>
              <a:rPr lang="zh-CN" altLang="en-US" sz="1200" b="1" dirty="0">
                <a:latin typeface="ui-sans-serif"/>
              </a:rPr>
              <a:t>怎么知道它长得快还是慢</a:t>
            </a:r>
            <a:r>
              <a:rPr lang="en-US" altLang="zh-CN" sz="1200" b="1" dirty="0">
                <a:latin typeface="ui-sans-serif"/>
              </a:rPr>
              <a:t>"</a:t>
            </a:r>
            <a:r>
              <a:rPr lang="zh-CN" altLang="en-US" sz="1200" b="1" dirty="0">
                <a:latin typeface="ui-sans-serif"/>
              </a:rPr>
              <a:t>：</a:t>
            </a:r>
            <a:r>
              <a:rPr lang="en" altLang="zh-CN" sz="1200" b="1" dirty="0" err="1">
                <a:latin typeface="ui-sans-serif"/>
              </a:rPr>
              <a:t>GrowthTraitDB</a:t>
            </a:r>
            <a:r>
              <a:rPr lang="en" altLang="zh-CN" sz="1200" b="1" dirty="0">
                <a:latin typeface="ui-sans-serif"/>
              </a:rPr>
              <a:t> </a:t>
            </a:r>
            <a:r>
              <a:rPr lang="zh-CN" altLang="en-US" sz="1200" b="1" dirty="0">
                <a:latin typeface="ui-sans-serif"/>
              </a:rPr>
              <a:t>三级数据源</a:t>
            </a:r>
          </a:p>
          <a:p>
            <a:pPr algn="l">
              <a:buNone/>
            </a:pPr>
            <a:r>
              <a:rPr lang="zh-CN" altLang="en-US" sz="1200" dirty="0">
                <a:latin typeface="ui-sans-serif"/>
              </a:rPr>
              <a:t>这正是方案 </a:t>
            </a:r>
            <a:r>
              <a:rPr lang="en-US" altLang="zh-CN" sz="1200" dirty="0">
                <a:latin typeface="ui-sans-serif"/>
              </a:rPr>
              <a:t>8.2.4 </a:t>
            </a:r>
            <a:r>
              <a:rPr lang="zh-CN" altLang="en-US" sz="1200" dirty="0">
                <a:latin typeface="ui-sans-serif"/>
              </a:rPr>
              <a:t>设计的 </a:t>
            </a:r>
            <a:r>
              <a:rPr lang="en" altLang="zh-CN" sz="1200" dirty="0" err="1">
                <a:latin typeface="ui-sans-serif"/>
              </a:rPr>
              <a:t>GrowthTraitDB</a:t>
            </a:r>
            <a:r>
              <a:rPr lang="zh-CN" altLang="en" sz="1200" dirty="0">
                <a:latin typeface="ui-sans-serif"/>
              </a:rPr>
              <a:t>。</a:t>
            </a:r>
            <a:r>
              <a:rPr lang="zh-CN" altLang="en-US" sz="1200" dirty="0">
                <a:latin typeface="ui-sans-serif"/>
              </a:rPr>
              <a:t>你问的其实是</a:t>
            </a:r>
            <a:r>
              <a:rPr lang="en-US" altLang="zh-CN" sz="1200" dirty="0">
                <a:latin typeface="ui-sans-serif"/>
              </a:rPr>
              <a:t>"</a:t>
            </a:r>
            <a:r>
              <a:rPr lang="zh-CN" altLang="en-US" sz="1200" dirty="0">
                <a:latin typeface="ui-sans-serif"/>
              </a:rPr>
              <a:t>没有实测数据怎么办</a:t>
            </a:r>
            <a:r>
              <a:rPr lang="en-US" altLang="zh-CN" sz="1200" dirty="0">
                <a:latin typeface="ui-sans-serif"/>
              </a:rPr>
              <a:t>"</a:t>
            </a:r>
            <a:r>
              <a:rPr lang="zh-CN" altLang="en-US" sz="1200" dirty="0">
                <a:latin typeface="ui-sans-serif"/>
              </a:rPr>
              <a:t>，答案是三级递降的估计链：</a:t>
            </a:r>
          </a:p>
          <a:p>
            <a:pPr algn="l">
              <a:buNone/>
            </a:pPr>
            <a:r>
              <a:rPr lang="en" altLang="zh-CN" sz="1200" dirty="0">
                <a:latin typeface="ui-sans-serif"/>
              </a:rPr>
              <a:t>Tier 1 —— </a:t>
            </a:r>
            <a:r>
              <a:rPr lang="zh-CN" altLang="en-US" sz="1200" dirty="0">
                <a:latin typeface="ui-sans-serif"/>
              </a:rPr>
              <a:t>实测性能曲线（最可靠） </a:t>
            </a:r>
            <a:r>
              <a:rPr lang="en" altLang="zh-CN" sz="1200" dirty="0">
                <a:latin typeface="ui-sans-serif"/>
              </a:rPr>
              <a:t>Qiao et al. 2026 </a:t>
            </a:r>
            <a:r>
              <a:rPr lang="zh-CN" altLang="en-US" sz="1200" dirty="0">
                <a:latin typeface="ui-sans-serif"/>
              </a:rPr>
              <a:t>那 </a:t>
            </a:r>
            <a:r>
              <a:rPr lang="en-US" altLang="zh-CN" sz="1200" dirty="0">
                <a:latin typeface="ui-sans-serif"/>
              </a:rPr>
              <a:t>85 </a:t>
            </a:r>
            <a:r>
              <a:rPr lang="zh-CN" altLang="en-US" sz="1200" dirty="0">
                <a:latin typeface="ui-sans-serif"/>
              </a:rPr>
              <a:t>株分离株，有实测的生长速率</a:t>
            </a:r>
            <a:r>
              <a:rPr lang="en-US" altLang="zh-CN" sz="1200" dirty="0">
                <a:latin typeface="ui-sans-serif"/>
              </a:rPr>
              <a:t>-</a:t>
            </a:r>
            <a:r>
              <a:rPr lang="zh-CN" altLang="en-US" sz="1200" dirty="0">
                <a:latin typeface="ui-sans-serif"/>
              </a:rPr>
              <a:t>盐度曲线。对它们：直接把目标盐度 </a:t>
            </a:r>
            <a:r>
              <a:rPr lang="en" altLang="zh-CN" sz="1200" dirty="0" err="1">
                <a:latin typeface="ui-sans-serif"/>
              </a:rPr>
              <a:t>s_target</a:t>
            </a:r>
            <a:r>
              <a:rPr lang="en" altLang="zh-CN" sz="1200" dirty="0">
                <a:latin typeface="ui-sans-serif"/>
              </a:rPr>
              <a:t> </a:t>
            </a:r>
            <a:r>
              <a:rPr lang="zh-CN" altLang="en-US" sz="1200" dirty="0">
                <a:latin typeface="ui-sans-serif"/>
              </a:rPr>
              <a:t>代入曲线，得到 </a:t>
            </a:r>
            <a:r>
              <a:rPr lang="en" altLang="zh-CN" sz="1200" dirty="0">
                <a:latin typeface="ui-sans-serif"/>
              </a:rPr>
              <a:t>r̂ᵢ(</a:t>
            </a:r>
            <a:r>
              <a:rPr lang="en" altLang="zh-CN" sz="1200" dirty="0" err="1">
                <a:latin typeface="ui-sans-serif"/>
              </a:rPr>
              <a:t>s_target</a:t>
            </a:r>
            <a:r>
              <a:rPr lang="en" altLang="zh-CN" sz="1200" dirty="0">
                <a:latin typeface="ui-sans-serif"/>
              </a:rPr>
              <a:t>)</a:t>
            </a:r>
            <a:r>
              <a:rPr lang="zh-CN" altLang="en" sz="1200" dirty="0">
                <a:latin typeface="ui-sans-serif"/>
              </a:rPr>
              <a:t>。</a:t>
            </a:r>
            <a:r>
              <a:rPr lang="zh-CN" altLang="en-US" sz="1200" dirty="0">
                <a:latin typeface="ui-sans-serif"/>
              </a:rPr>
              <a:t>每个菌存的是三个参数：</a:t>
            </a:r>
            <a:r>
              <a:rPr lang="el-GR" altLang="zh-CN" sz="1200" dirty="0">
                <a:latin typeface="ui-sans-serif"/>
              </a:rPr>
              <a:t>μ</a:t>
            </a:r>
            <a:r>
              <a:rPr lang="en" altLang="zh-CN" sz="1200" dirty="0">
                <a:latin typeface="ui-sans-serif"/>
              </a:rPr>
              <a:t>max</a:t>
            </a:r>
            <a:r>
              <a:rPr lang="zh-CN" altLang="en" sz="1200" dirty="0">
                <a:latin typeface="ui-sans-serif"/>
              </a:rPr>
              <a:t>（</a:t>
            </a:r>
            <a:r>
              <a:rPr lang="zh-CN" altLang="en-US" sz="1200" dirty="0">
                <a:latin typeface="ui-sans-serif"/>
              </a:rPr>
              <a:t>最大速率）、</a:t>
            </a:r>
            <a:r>
              <a:rPr lang="en" altLang="zh-CN" sz="1200" dirty="0" err="1">
                <a:latin typeface="ui-sans-serif"/>
              </a:rPr>
              <a:t>sopt</a:t>
            </a:r>
            <a:r>
              <a:rPr lang="zh-CN" altLang="en" sz="1200" dirty="0">
                <a:latin typeface="ui-sans-serif"/>
              </a:rPr>
              <a:t>（</a:t>
            </a:r>
            <a:r>
              <a:rPr lang="zh-CN" altLang="en-US" sz="1200" dirty="0">
                <a:latin typeface="ui-sans-serif"/>
              </a:rPr>
              <a:t>最适盐度）、</a:t>
            </a:r>
            <a:r>
              <a:rPr lang="en" altLang="zh-CN" sz="1200" dirty="0">
                <a:latin typeface="ui-sans-serif"/>
              </a:rPr>
              <a:t>b</a:t>
            </a:r>
            <a:r>
              <a:rPr lang="zh-CN" altLang="en" sz="1200" dirty="0">
                <a:latin typeface="ui-sans-serif"/>
              </a:rPr>
              <a:t>（</a:t>
            </a:r>
            <a:r>
              <a:rPr lang="zh-CN" altLang="en-US" sz="1200" dirty="0">
                <a:latin typeface="ui-sans-serif"/>
              </a:rPr>
              <a:t>超过 </a:t>
            </a:r>
            <a:r>
              <a:rPr lang="en" altLang="zh-CN" sz="1200" dirty="0" err="1">
                <a:latin typeface="ui-sans-serif"/>
              </a:rPr>
              <a:t>sopt</a:t>
            </a:r>
            <a:r>
              <a:rPr lang="en" altLang="zh-CN" sz="1200" dirty="0">
                <a:latin typeface="ui-sans-serif"/>
              </a:rPr>
              <a:t> </a:t>
            </a:r>
            <a:r>
              <a:rPr lang="zh-CN" altLang="en-US" sz="1200" dirty="0">
                <a:latin typeface="ui-sans-serif"/>
              </a:rPr>
              <a:t>后的下降斜率），线性胁迫模型 </a:t>
            </a:r>
            <a:r>
              <a:rPr lang="en" altLang="zh-CN" sz="1200" dirty="0">
                <a:latin typeface="ui-sans-serif"/>
              </a:rPr>
              <a:t>r̂ᵢ(s) = </a:t>
            </a:r>
            <a:r>
              <a:rPr lang="el-GR" altLang="zh-CN" sz="1200" dirty="0">
                <a:latin typeface="ui-sans-serif"/>
              </a:rPr>
              <a:t>μ</a:t>
            </a:r>
            <a:r>
              <a:rPr lang="en" altLang="zh-CN" sz="1200" dirty="0">
                <a:latin typeface="ui-sans-serif"/>
              </a:rPr>
              <a:t>max − b·(s − </a:t>
            </a:r>
            <a:r>
              <a:rPr lang="en" altLang="zh-CN" sz="1200" dirty="0" err="1">
                <a:latin typeface="ui-sans-serif"/>
              </a:rPr>
              <a:t>sopt</a:t>
            </a:r>
            <a:r>
              <a:rPr lang="en" altLang="zh-CN" sz="1200" dirty="0">
                <a:latin typeface="ui-sans-serif"/>
              </a:rPr>
              <a:t>)</a:t>
            </a:r>
            <a:r>
              <a:rPr lang="zh-CN" altLang="en" sz="1200" dirty="0">
                <a:latin typeface="ui-sans-serif"/>
              </a:rPr>
              <a:t>（</a:t>
            </a:r>
            <a:r>
              <a:rPr lang="en" altLang="zh-CN" sz="1200" dirty="0">
                <a:latin typeface="ui-sans-serif"/>
              </a:rPr>
              <a:t>s &gt; </a:t>
            </a:r>
            <a:r>
              <a:rPr lang="en" altLang="zh-CN" sz="1200" dirty="0" err="1">
                <a:latin typeface="ui-sans-serif"/>
              </a:rPr>
              <a:t>sopt</a:t>
            </a:r>
            <a:r>
              <a:rPr lang="en" altLang="zh-CN" sz="1200" dirty="0">
                <a:latin typeface="ui-sans-serif"/>
              </a:rPr>
              <a:t> </a:t>
            </a:r>
            <a:r>
              <a:rPr lang="zh-CN" altLang="en-US" sz="1200" dirty="0">
                <a:latin typeface="ui-sans-serif"/>
              </a:rPr>
              <a:t>时）。</a:t>
            </a:r>
          </a:p>
          <a:p>
            <a:pPr algn="l">
              <a:buNone/>
            </a:pPr>
            <a:r>
              <a:rPr lang="en" altLang="zh-CN" sz="1200" dirty="0">
                <a:latin typeface="ui-sans-serif"/>
              </a:rPr>
              <a:t>Tier 2 —— 16S rRNA </a:t>
            </a:r>
            <a:r>
              <a:rPr lang="zh-CN" altLang="en-US" sz="1200" dirty="0">
                <a:latin typeface="ui-sans-serif"/>
              </a:rPr>
              <a:t>拷贝数代理（无分离株时） 你文件夹里已经有 </a:t>
            </a:r>
            <a:r>
              <a:rPr lang="en" altLang="zh-CN" sz="1200" dirty="0" err="1">
                <a:latin typeface="ui-monospace"/>
              </a:rPr>
              <a:t>rrndb_copy_number.py</a:t>
            </a:r>
            <a:r>
              <a:rPr lang="zh-CN" altLang="en" sz="1200" dirty="0">
                <a:latin typeface="ui-sans-serif"/>
              </a:rPr>
              <a:t>，</a:t>
            </a:r>
            <a:r>
              <a:rPr lang="zh-CN" altLang="en-US" sz="1200" dirty="0">
                <a:latin typeface="ui-sans-serif"/>
              </a:rPr>
              <a:t>这就是干这个的：查 </a:t>
            </a:r>
            <a:r>
              <a:rPr lang="en" altLang="zh-CN" sz="1200" dirty="0" err="1">
                <a:latin typeface="ui-sans-serif"/>
              </a:rPr>
              <a:t>rrnDB</a:t>
            </a:r>
            <a:r>
              <a:rPr lang="en" altLang="zh-CN" sz="1200" dirty="0">
                <a:latin typeface="ui-sans-serif"/>
              </a:rPr>
              <a:t> </a:t>
            </a:r>
            <a:r>
              <a:rPr lang="zh-CN" altLang="en-US" sz="1200" dirty="0">
                <a:latin typeface="ui-sans-serif"/>
              </a:rPr>
              <a:t>数据库的 </a:t>
            </a:r>
            <a:r>
              <a:rPr lang="en-US" altLang="zh-CN" sz="1200" dirty="0">
                <a:latin typeface="ui-sans-serif"/>
              </a:rPr>
              <a:t>16</a:t>
            </a:r>
            <a:r>
              <a:rPr lang="en" altLang="zh-CN" sz="1200" dirty="0">
                <a:latin typeface="ui-sans-serif"/>
              </a:rPr>
              <a:t>S </a:t>
            </a:r>
            <a:r>
              <a:rPr lang="zh-CN" altLang="en-US" sz="1200" dirty="0">
                <a:latin typeface="ui-sans-serif"/>
              </a:rPr>
              <a:t>拷贝数，套用 </a:t>
            </a:r>
            <a:r>
              <a:rPr lang="en" altLang="zh-CN" sz="1200" dirty="0">
                <a:latin typeface="ui-sans-serif"/>
              </a:rPr>
              <a:t>Huisman et al. 2026</a:t>
            </a:r>
            <a:r>
              <a:rPr lang="zh-CN" altLang="en" sz="1200" dirty="0">
                <a:latin typeface="ui-sans-serif"/>
              </a:rPr>
              <a:t>（</a:t>
            </a:r>
            <a:r>
              <a:rPr lang="en" altLang="zh-CN" sz="1200" dirty="0">
                <a:latin typeface="ui-sans-serif"/>
              </a:rPr>
              <a:t>Extended Data Fig. 9</a:t>
            </a:r>
            <a:r>
              <a:rPr lang="zh-CN" altLang="en" sz="1200" dirty="0">
                <a:latin typeface="ui-sans-serif"/>
              </a:rPr>
              <a:t>）</a:t>
            </a:r>
            <a:r>
              <a:rPr lang="zh-CN" altLang="en-US" sz="1200" dirty="0">
                <a:latin typeface="ui-sans-serif"/>
              </a:rPr>
              <a:t>的</a:t>
            </a:r>
            <a:r>
              <a:rPr lang="en-US" altLang="zh-CN" sz="1200" dirty="0">
                <a:latin typeface="ui-sans-serif"/>
              </a:rPr>
              <a:t>"</a:t>
            </a:r>
            <a:r>
              <a:rPr lang="zh-CN" altLang="en-US" sz="1200" dirty="0">
                <a:latin typeface="ui-sans-serif"/>
              </a:rPr>
              <a:t>拷贝数</a:t>
            </a:r>
            <a:r>
              <a:rPr lang="en-US" altLang="zh-CN" sz="1200" dirty="0">
                <a:latin typeface="ui-sans-serif"/>
              </a:rPr>
              <a:t>—</a:t>
            </a:r>
            <a:r>
              <a:rPr lang="zh-CN" altLang="en-US" sz="1200" dirty="0">
                <a:latin typeface="ui-sans-serif"/>
              </a:rPr>
              <a:t>生长速率</a:t>
            </a:r>
            <a:r>
              <a:rPr lang="en-US" altLang="zh-CN" sz="1200" dirty="0">
                <a:latin typeface="ui-sans-serif"/>
              </a:rPr>
              <a:t>"</a:t>
            </a:r>
            <a:r>
              <a:rPr lang="zh-CN" altLang="en-US" sz="1200" dirty="0">
                <a:latin typeface="ui-sans-serif"/>
              </a:rPr>
              <a:t>回归方程换算成 </a:t>
            </a:r>
            <a:r>
              <a:rPr lang="el-GR" altLang="zh-CN" sz="1200" dirty="0">
                <a:latin typeface="ui-sans-serif"/>
              </a:rPr>
              <a:t>μ</a:t>
            </a:r>
            <a:r>
              <a:rPr lang="en" altLang="zh-CN" sz="1200" dirty="0">
                <a:latin typeface="ui-sans-serif"/>
              </a:rPr>
              <a:t>max </a:t>
            </a:r>
            <a:r>
              <a:rPr lang="zh-CN" altLang="en-US" sz="1200" dirty="0">
                <a:latin typeface="ui-sans-serif"/>
              </a:rPr>
              <a:t>代理值，再叠加上面的盐度胁迫曲线。原理是生态学里的经典性状轴：高拷贝数 ≈ 富营养</a:t>
            </a:r>
            <a:r>
              <a:rPr lang="en-US" altLang="zh-CN" sz="1200" dirty="0">
                <a:latin typeface="ui-sans-serif"/>
              </a:rPr>
              <a:t>/</a:t>
            </a:r>
            <a:r>
              <a:rPr lang="zh-CN" altLang="en-US" sz="1200" dirty="0">
                <a:latin typeface="ui-sans-serif"/>
              </a:rPr>
              <a:t>快生长策略（</a:t>
            </a:r>
            <a:r>
              <a:rPr lang="en" altLang="zh-CN" sz="1200" dirty="0">
                <a:latin typeface="ui-sans-serif"/>
              </a:rPr>
              <a:t>copiotroph</a:t>
            </a:r>
            <a:r>
              <a:rPr lang="zh-CN" altLang="en" sz="1200" dirty="0">
                <a:latin typeface="ui-sans-serif"/>
              </a:rPr>
              <a:t>），</a:t>
            </a:r>
            <a:r>
              <a:rPr lang="zh-CN" altLang="en-US" sz="1200" dirty="0">
                <a:latin typeface="ui-sans-serif"/>
              </a:rPr>
              <a:t>低拷贝数 ≈ 慢生长策略（</a:t>
            </a:r>
            <a:r>
              <a:rPr lang="en" altLang="zh-CN" sz="1200" dirty="0">
                <a:latin typeface="ui-sans-serif"/>
              </a:rPr>
              <a:t>oligotroph</a:t>
            </a:r>
            <a:r>
              <a:rPr lang="zh-CN" altLang="en" sz="1200" dirty="0">
                <a:latin typeface="ui-sans-serif"/>
              </a:rPr>
              <a:t>）。</a:t>
            </a:r>
          </a:p>
          <a:p>
            <a:pPr algn="l">
              <a:buNone/>
            </a:pPr>
            <a:r>
              <a:rPr lang="en" altLang="zh-CN" sz="1200" dirty="0">
                <a:latin typeface="ui-sans-serif"/>
              </a:rPr>
              <a:t>Tier 3 —— </a:t>
            </a:r>
            <a:r>
              <a:rPr lang="zh-CN" altLang="en-US" sz="1200" dirty="0">
                <a:latin typeface="ui-sans-serif"/>
              </a:rPr>
              <a:t>科水平系统发育推断（最后兜底） 如果连拷贝数都没有，用同科已知菌的性能曲线做系统发育插值</a:t>
            </a:r>
            <a:r>
              <a:rPr lang="en-US" altLang="zh-CN" sz="1200" dirty="0">
                <a:latin typeface="ui-sans-serif"/>
              </a:rPr>
              <a:t>——</a:t>
            </a:r>
            <a:r>
              <a:rPr lang="zh-CN" altLang="en-US" sz="1200" dirty="0">
                <a:latin typeface="ui-sans-serif"/>
              </a:rPr>
              <a:t>依据 </a:t>
            </a:r>
            <a:r>
              <a:rPr lang="en" altLang="zh-CN" sz="1200" dirty="0">
                <a:latin typeface="ui-sans-serif"/>
              </a:rPr>
              <a:t>Huisman </a:t>
            </a:r>
            <a:r>
              <a:rPr lang="zh-CN" altLang="en-US" sz="1200" dirty="0">
                <a:latin typeface="ui-sans-serif"/>
              </a:rPr>
              <a:t>论文 </a:t>
            </a:r>
            <a:r>
              <a:rPr lang="en" altLang="zh-CN" sz="1200" dirty="0">
                <a:latin typeface="ui-sans-serif"/>
              </a:rPr>
              <a:t>Fig. 1d </a:t>
            </a:r>
            <a:r>
              <a:rPr lang="zh-CN" altLang="en-US" sz="1200" dirty="0">
                <a:latin typeface="ui-sans-serif"/>
              </a:rPr>
              <a:t>的发现：生长性状在科水平上具有保守性。这是置信度最低的一档。</a:t>
            </a:r>
            <a:endParaRPr lang="en-US" altLang="zh-CN" sz="1200" dirty="0">
              <a:latin typeface="ui-sans-serif"/>
            </a:endParaRPr>
          </a:p>
          <a:p>
            <a:pPr algn="l">
              <a:buNone/>
            </a:pPr>
            <a:endParaRPr lang="en-US" altLang="zh-CN" sz="1200" dirty="0">
              <a:latin typeface="ui-sans-serif"/>
            </a:endParaRPr>
          </a:p>
          <a:p>
            <a:r>
              <a:rPr lang="zh-CN" altLang="en-US" b="1" dirty="0"/>
              <a:t>三、</a:t>
            </a:r>
            <a:r>
              <a:rPr lang="en" altLang="zh-CN" b="1" dirty="0"/>
              <a:t>CRS </a:t>
            </a:r>
            <a:r>
              <a:rPr lang="zh-CN" altLang="en-US" b="1" dirty="0"/>
              <a:t>里的</a:t>
            </a:r>
            <a:r>
              <a:rPr lang="en-US" altLang="zh-CN" b="1" dirty="0"/>
              <a:t>"</a:t>
            </a:r>
            <a:r>
              <a:rPr lang="zh-CN" altLang="en-US" b="1" dirty="0"/>
              <a:t>长得快</a:t>
            </a:r>
            <a:r>
              <a:rPr lang="en-US" altLang="zh-CN" b="1" dirty="0"/>
              <a:t>"≠ </a:t>
            </a:r>
            <a:r>
              <a:rPr lang="zh-CN" altLang="en-US" b="1" dirty="0"/>
              <a:t>加到反应器后真的长得快</a:t>
            </a:r>
          </a:p>
          <a:p>
            <a:r>
              <a:rPr lang="en" altLang="zh-CN" dirty="0"/>
              <a:t>CRS </a:t>
            </a:r>
            <a:r>
              <a:rPr lang="zh-CN" altLang="en-US" dirty="0"/>
              <a:t>算的是潜能（</a:t>
            </a:r>
            <a:r>
              <a:rPr lang="en" altLang="zh-CN" dirty="0"/>
              <a:t>potential</a:t>
            </a:r>
            <a:r>
              <a:rPr lang="zh-CN" altLang="en" dirty="0"/>
              <a:t>），</a:t>
            </a:r>
            <a:r>
              <a:rPr lang="zh-CN" altLang="en-US" dirty="0"/>
              <a:t>而</a:t>
            </a:r>
            <a:r>
              <a:rPr lang="en-US" altLang="zh-CN" dirty="0"/>
              <a:t>"</a:t>
            </a:r>
            <a:r>
              <a:rPr lang="zh-CN" altLang="en-US" dirty="0"/>
              <a:t>加到体系后实际长多快</a:t>
            </a:r>
            <a:r>
              <a:rPr lang="en-US" altLang="zh-CN" dirty="0"/>
              <a:t>"</a:t>
            </a:r>
            <a:r>
              <a:rPr lang="zh-CN" altLang="en-US" dirty="0"/>
              <a:t>受三件 </a:t>
            </a:r>
            <a:r>
              <a:rPr lang="en" altLang="zh-CN" dirty="0"/>
              <a:t>CRS </a:t>
            </a:r>
            <a:r>
              <a:rPr lang="zh-CN" altLang="en-US" dirty="0"/>
              <a:t>管不了的事影响：</a:t>
            </a:r>
          </a:p>
          <a:p>
            <a:r>
              <a:rPr lang="zh-CN" altLang="en-US" dirty="0"/>
              <a:t>底物：</a:t>
            </a:r>
            <a:r>
              <a:rPr lang="en" altLang="zh-CN" dirty="0"/>
              <a:t>anammox </a:t>
            </a:r>
            <a:r>
              <a:rPr lang="zh-CN" altLang="en-US" dirty="0"/>
              <a:t>反应器是低碳体系，异养菌可能</a:t>
            </a:r>
            <a:r>
              <a:rPr lang="en-US" altLang="zh-CN" dirty="0"/>
              <a:t>"</a:t>
            </a:r>
            <a:r>
              <a:rPr lang="zh-CN" altLang="en-US" dirty="0"/>
              <a:t>有本事长但没饭吃</a:t>
            </a:r>
            <a:r>
              <a:rPr lang="en-US" altLang="zh-CN" dirty="0"/>
              <a:t>"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稀释率 </a:t>
            </a:r>
            <a:r>
              <a:rPr lang="el-GR" altLang="zh-CN" dirty="0"/>
              <a:t>δ</a:t>
            </a:r>
            <a:r>
              <a:rPr lang="zh-CN" altLang="el-GR" dirty="0"/>
              <a:t>：</a:t>
            </a:r>
            <a:r>
              <a:rPr lang="zh-CN" altLang="en-US" dirty="0"/>
              <a:t>反应器是连续流的，</a:t>
            </a:r>
            <a:r>
              <a:rPr lang="en" altLang="zh-CN" dirty="0"/>
              <a:t>r &lt; </a:t>
            </a:r>
            <a:r>
              <a:rPr lang="el-GR" altLang="zh-CN" dirty="0"/>
              <a:t>δ</a:t>
            </a:r>
            <a:r>
              <a:rPr lang="zh-CN" altLang="el-GR" dirty="0"/>
              <a:t>（</a:t>
            </a:r>
            <a:r>
              <a:rPr lang="el-GR" altLang="zh-CN" dirty="0"/>
              <a:t>=1/</a:t>
            </a:r>
            <a:r>
              <a:rPr lang="en" altLang="zh-CN" dirty="0"/>
              <a:t>HRT</a:t>
            </a:r>
            <a:r>
              <a:rPr lang="zh-CN" altLang="en" dirty="0"/>
              <a:t>）</a:t>
            </a:r>
            <a:r>
              <a:rPr lang="zh-CN" altLang="en-US" dirty="0"/>
              <a:t>就直接被洗出</a:t>
            </a:r>
            <a:r>
              <a:rPr lang="en-US" altLang="zh-CN" dirty="0"/>
              <a:t>——</a:t>
            </a:r>
            <a:r>
              <a:rPr lang="zh-CN" altLang="en-US" dirty="0"/>
              <a:t>所以方案里 </a:t>
            </a:r>
            <a:r>
              <a:rPr lang="en" altLang="zh-CN" dirty="0"/>
              <a:t>CRS </a:t>
            </a:r>
            <a:r>
              <a:rPr lang="zh-CN" altLang="en-US" dirty="0"/>
              <a:t>输出带 </a:t>
            </a:r>
            <a:r>
              <a:rPr lang="en" altLang="zh-CN" dirty="0" err="1"/>
              <a:t>washout_risk</a:t>
            </a:r>
            <a:r>
              <a:rPr lang="en" altLang="zh-CN" dirty="0"/>
              <a:t> </a:t>
            </a:r>
            <a:r>
              <a:rPr lang="zh-CN" altLang="en-US" dirty="0"/>
              <a:t>标志；</a:t>
            </a:r>
          </a:p>
          <a:p>
            <a:r>
              <a:rPr lang="zh-CN" altLang="en-US" dirty="0"/>
              <a:t>竞争：与本地菌的竞争系数 </a:t>
            </a:r>
            <a:r>
              <a:rPr lang="el-GR" altLang="zh-CN" dirty="0"/>
              <a:t>α</a:t>
            </a:r>
            <a:r>
              <a:rPr lang="zh-CN" altLang="el-GR" dirty="0"/>
              <a:t>、</a:t>
            </a:r>
            <a:r>
              <a:rPr lang="zh-CN" altLang="en-US" dirty="0"/>
              <a:t>生态位重叠</a:t>
            </a:r>
            <a:r>
              <a:rPr lang="en-US" altLang="zh-CN" dirty="0"/>
              <a:t>——</a:t>
            </a:r>
            <a:r>
              <a:rPr lang="zh-CN" altLang="en-US" dirty="0"/>
              <a:t>所以有 </a:t>
            </a:r>
            <a:r>
              <a:rPr lang="en" altLang="zh-CN" dirty="0"/>
              <a:t>Engraftment </a:t>
            </a:r>
            <a:r>
              <a:rPr lang="zh-CN" altLang="en-US" dirty="0"/>
              <a:t>检查。</a:t>
            </a:r>
          </a:p>
          <a:p>
            <a:r>
              <a:rPr lang="zh-CN" altLang="en-US" dirty="0"/>
              <a:t>方案的处理方式是三层递进、每层各司其职：</a:t>
            </a:r>
            <a:r>
              <a:rPr lang="en" altLang="zh-CN" dirty="0"/>
              <a:t>CRS </a:t>
            </a:r>
            <a:r>
              <a:rPr lang="zh-CN" altLang="en-US" dirty="0"/>
              <a:t>用 </a:t>
            </a:r>
            <a:r>
              <a:rPr lang="en" altLang="zh-CN" dirty="0"/>
              <a:t>Tier 1–3 </a:t>
            </a:r>
            <a:r>
              <a:rPr lang="zh-CN" altLang="en-US" dirty="0"/>
              <a:t>数据算</a:t>
            </a:r>
            <a:r>
              <a:rPr lang="en-US" altLang="zh-CN" dirty="0"/>
              <a:t>"</a:t>
            </a:r>
            <a:r>
              <a:rPr lang="zh-CN" altLang="en-US" dirty="0"/>
              <a:t>潜能先验</a:t>
            </a:r>
            <a:r>
              <a:rPr lang="en-US" altLang="zh-CN" dirty="0"/>
              <a:t>"→ </a:t>
            </a:r>
            <a:r>
              <a:rPr lang="en" altLang="zh-CN" dirty="0"/>
              <a:t>LV-Sim </a:t>
            </a:r>
            <a:r>
              <a:rPr lang="zh-CN" altLang="en-US" dirty="0"/>
              <a:t>用 </a:t>
            </a:r>
            <a:r>
              <a:rPr lang="en" altLang="zh-CN" dirty="0"/>
              <a:t>Lotka–Volterra </a:t>
            </a:r>
            <a:r>
              <a:rPr lang="zh-CN" altLang="en-US" dirty="0"/>
              <a:t>方程（</a:t>
            </a:r>
            <a:r>
              <a:rPr lang="en" altLang="zh-CN" dirty="0" err="1"/>
              <a:t>dN</a:t>
            </a:r>
            <a:r>
              <a:rPr lang="en" altLang="zh-CN" dirty="0"/>
              <a:t>/dt = rᵢ(s)·Nᵢ·(1−</a:t>
            </a:r>
            <a:r>
              <a:rPr lang="el-GR" altLang="zh-CN" dirty="0"/>
              <a:t>Σα</a:t>
            </a:r>
            <a:r>
              <a:rPr lang="en" altLang="zh-CN" dirty="0"/>
              <a:t>ᵢⱼNⱼ) − </a:t>
            </a:r>
            <a:r>
              <a:rPr lang="el-GR" altLang="zh-CN" dirty="0"/>
              <a:t>δ·</a:t>
            </a:r>
            <a:r>
              <a:rPr lang="en" altLang="zh-CN" dirty="0"/>
              <a:t>Nᵢ</a:t>
            </a:r>
            <a:r>
              <a:rPr lang="zh-CN" altLang="en" dirty="0"/>
              <a:t>）</a:t>
            </a:r>
            <a:r>
              <a:rPr lang="zh-CN" altLang="en-US" dirty="0"/>
              <a:t>在 </a:t>
            </a:r>
            <a:r>
              <a:rPr lang="en" altLang="zh-CN" dirty="0"/>
              <a:t>in silico </a:t>
            </a:r>
            <a:r>
              <a:rPr lang="zh-CN" altLang="en-US" dirty="0"/>
              <a:t>里模拟</a:t>
            </a:r>
            <a:r>
              <a:rPr lang="en-US" altLang="zh-CN" dirty="0"/>
              <a:t>"</a:t>
            </a:r>
            <a:r>
              <a:rPr lang="zh-CN" altLang="en-US" dirty="0"/>
              <a:t>真加进去会怎样</a:t>
            </a:r>
            <a:r>
              <a:rPr lang="en-US" altLang="zh-CN" dirty="0"/>
              <a:t>"→ </a:t>
            </a:r>
            <a:r>
              <a:rPr lang="zh-CN" altLang="en-US" dirty="0"/>
              <a:t>实验验证（接种后 </a:t>
            </a:r>
            <a:r>
              <a:rPr lang="en" altLang="zh-CN" dirty="0"/>
              <a:t>qPCR/16S </a:t>
            </a:r>
            <a:r>
              <a:rPr lang="zh-CN" altLang="en-US" dirty="0"/>
              <a:t>追踪丰度、测 </a:t>
            </a:r>
            <a:r>
              <a:rPr lang="en" altLang="zh-CN" dirty="0"/>
              <a:t>CGR</a:t>
            </a:r>
            <a:r>
              <a:rPr lang="zh-CN" altLang="en" dirty="0"/>
              <a:t>）</a:t>
            </a:r>
            <a:r>
              <a:rPr lang="zh-CN" altLang="en-US" dirty="0"/>
              <a:t>给出最终答案，结果作为 </a:t>
            </a:r>
            <a:r>
              <a:rPr lang="en" altLang="zh-CN" dirty="0" err="1"/>
              <a:t>BioaugmentationOutcome</a:t>
            </a:r>
            <a:r>
              <a:rPr lang="en" altLang="zh-CN" dirty="0"/>
              <a:t> </a:t>
            </a:r>
            <a:r>
              <a:rPr lang="zh-CN" altLang="en-US" dirty="0"/>
              <a:t>回流校准 </a:t>
            </a:r>
            <a:r>
              <a:rPr lang="en" altLang="zh-CN" dirty="0"/>
              <a:t>Tier 2 </a:t>
            </a:r>
            <a:r>
              <a:rPr lang="zh-CN" altLang="en-US" dirty="0"/>
              <a:t>的拷贝数回归方程。</a:t>
            </a:r>
          </a:p>
          <a:p>
            <a:pPr algn="l">
              <a:buNone/>
            </a:pPr>
            <a:endParaRPr lang="zh-CN" altLang="en-US" sz="1200" dirty="0"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56223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88BDC7E-3D53-1348-1CB4-C8C4A9CA7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724" y="380071"/>
            <a:ext cx="7772400" cy="609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0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606F4-6E53-2705-EC9C-AEDF12162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-33867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20260909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1537F6-F666-3C6B-0A48-F2BF7D786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117600"/>
            <a:ext cx="10515600" cy="5362222"/>
          </a:xfrm>
        </p:spPr>
        <p:txBody>
          <a:bodyPr>
            <a:normAutofit fontScale="70000" lnSpcReduction="20000"/>
          </a:bodyPr>
          <a:lstStyle/>
          <a:p>
            <a:pPr lvl="0">
              <a:lnSpc>
                <a:spcPct val="120000"/>
              </a:lnSpc>
            </a:pPr>
            <a:r>
              <a:rPr lang="zh-CN" altLang="en-US" dirty="0"/>
              <a:t>根据列表下载文献</a:t>
            </a:r>
            <a:r>
              <a:rPr lang="en" altLang="zh-CN" dirty="0">
                <a:hlinkClick r:id="rId2"/>
              </a:rPr>
              <a:t>file:///Users/joyce/Desktop/</a:t>
            </a:r>
            <a:r>
              <a:rPr lang="zh-CN" altLang="en-US" dirty="0">
                <a:hlinkClick r:id="rId2"/>
              </a:rPr>
              <a:t>相容性溶质</a:t>
            </a:r>
            <a:r>
              <a:rPr lang="en-US" altLang="zh-CN" dirty="0">
                <a:hlinkClick r:id="rId2"/>
              </a:rPr>
              <a:t>/</a:t>
            </a:r>
            <a:r>
              <a:rPr lang="en" altLang="zh-CN" dirty="0">
                <a:hlinkClick r:id="rId2"/>
              </a:rPr>
              <a:t>article/Compatible_solute_stress_summary.xlsx</a:t>
            </a:r>
            <a:endParaRPr lang="en-US" altLang="zh-CN" dirty="0"/>
          </a:p>
          <a:p>
            <a:pPr lvl="0">
              <a:lnSpc>
                <a:spcPct val="120000"/>
              </a:lnSpc>
            </a:pPr>
            <a:r>
              <a:rPr lang="zh-CN" altLang="zh-CN" dirty="0"/>
              <a:t>下载相容性溶质相关专利，关键词用</a:t>
            </a:r>
            <a:r>
              <a:rPr lang="zh-CN" altLang="en-US" dirty="0"/>
              <a:t>“</a:t>
            </a:r>
            <a:r>
              <a:rPr lang="en-US" altLang="zh-CN" dirty="0"/>
              <a:t>compatible solute</a:t>
            </a:r>
            <a:r>
              <a:rPr lang="zh-CN" altLang="en-US" dirty="0"/>
              <a:t>”</a:t>
            </a:r>
            <a:r>
              <a:rPr lang="zh-CN" altLang="zh-CN" dirty="0"/>
              <a:t>搜索即可，需要注意的是这两个单词缺一不可，如果专利中单独有其中一个单词，则排除在外。下载地址为：</a:t>
            </a:r>
            <a:endParaRPr lang="en-US" altLang="zh-CN" dirty="0"/>
          </a:p>
          <a:p>
            <a:pPr marL="0" lvl="0" indent="0">
              <a:buNone/>
            </a:pPr>
            <a:endParaRPr lang="en" altLang="zh-CN" dirty="0"/>
          </a:p>
          <a:p>
            <a:pPr marL="0" lvl="0" indent="0">
              <a:buNone/>
            </a:pPr>
            <a:endParaRPr lang="en" altLang="zh-CN" dirty="0"/>
          </a:p>
          <a:p>
            <a:pPr marL="0" lvl="0" indent="0">
              <a:buNone/>
            </a:pPr>
            <a:endParaRPr lang="en" altLang="zh-CN" dirty="0"/>
          </a:p>
          <a:p>
            <a:pPr marL="0" lvl="0" indent="0">
              <a:buNone/>
            </a:pPr>
            <a:endParaRPr lang="en" altLang="zh-CN" dirty="0"/>
          </a:p>
          <a:p>
            <a:pPr marL="0" lvl="0" indent="0">
              <a:buNone/>
            </a:pPr>
            <a:endParaRPr lang="en" altLang="zh-CN" dirty="0"/>
          </a:p>
          <a:p>
            <a:pPr lvl="0"/>
            <a:endParaRPr lang="en-US" altLang="zh-CN" dirty="0"/>
          </a:p>
          <a:p>
            <a:pPr marL="0" lvl="0" indent="0">
              <a:buNone/>
            </a:pPr>
            <a:endParaRPr lang="en-US" altLang="zh-CN" dirty="0"/>
          </a:p>
          <a:p>
            <a:pPr lvl="0">
              <a:lnSpc>
                <a:spcPct val="120000"/>
              </a:lnSpc>
            </a:pPr>
            <a:r>
              <a:rPr lang="zh-CN" altLang="zh-CN" dirty="0"/>
              <a:t>收集一些官网的政策公告，</a:t>
            </a:r>
            <a:r>
              <a:rPr lang="zh-CN" altLang="en-US" dirty="0"/>
              <a:t>总结成一个</a:t>
            </a:r>
            <a:r>
              <a:rPr lang="en-US" altLang="zh-CN" dirty="0"/>
              <a:t>excel</a:t>
            </a:r>
            <a:r>
              <a:rPr lang="zh-CN" altLang="en-US" dirty="0"/>
              <a:t>（自由发挥总结一个表格），公告为一列，涉及到的关键污染物，限制条件是什么（环境政策约束如污染物排放浓度等）为一列，，，</a:t>
            </a:r>
            <a:endParaRPr lang="en-US" altLang="zh-CN" dirty="0"/>
          </a:p>
          <a:p>
            <a:pPr marL="0" lvl="0" indent="0">
              <a:lnSpc>
                <a:spcPct val="120000"/>
              </a:lnSpc>
              <a:buNone/>
            </a:pPr>
            <a:r>
              <a:rPr lang="en" altLang="zh-CN" dirty="0"/>
              <a:t>https://</a:t>
            </a:r>
            <a:r>
              <a:rPr lang="en" altLang="zh-CN" dirty="0" err="1"/>
              <a:t>www.epa.gov</a:t>
            </a:r>
            <a:r>
              <a:rPr lang="en" altLang="zh-CN" dirty="0"/>
              <a:t>/</a:t>
            </a:r>
            <a:endParaRPr lang="zh-CN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A961E6-36A3-673C-3BCA-AF0D194E7173}"/>
              </a:ext>
            </a:extLst>
          </p:cNvPr>
          <p:cNvSpPr txBox="1"/>
          <p:nvPr/>
        </p:nvSpPr>
        <p:spPr>
          <a:xfrm>
            <a:off x="745066" y="2604911"/>
            <a:ext cx="52493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zh-CN" altLang="en-US" dirty="0"/>
              <a:t>国内 国家知识产权局（相容性溶质）</a:t>
            </a:r>
          </a:p>
          <a:p>
            <a:pPr marL="0" lvl="0" indent="0">
              <a:buNone/>
            </a:pPr>
            <a:r>
              <a:rPr lang="en" altLang="zh-CN" dirty="0"/>
              <a:t>https://</a:t>
            </a:r>
            <a:r>
              <a:rPr lang="en" altLang="zh-CN" dirty="0" err="1"/>
              <a:t>www.cnipa.gov.cn</a:t>
            </a:r>
            <a:r>
              <a:rPr lang="en" altLang="zh-CN" dirty="0"/>
              <a:t>/</a:t>
            </a:r>
          </a:p>
          <a:p>
            <a:pPr marL="0" lvl="0" indent="0">
              <a:buNone/>
            </a:pPr>
            <a:r>
              <a:rPr lang="zh-CN" altLang="en-US" dirty="0"/>
              <a:t>国际</a:t>
            </a:r>
          </a:p>
          <a:p>
            <a:pPr marL="0" lvl="0" indent="0">
              <a:buNone/>
            </a:pPr>
            <a:r>
              <a:rPr lang="en" altLang="zh-CN" dirty="0"/>
              <a:t>WIPO PATENTSCOPE</a:t>
            </a:r>
          </a:p>
          <a:p>
            <a:pPr marL="0" lvl="0" indent="0">
              <a:buNone/>
            </a:pPr>
            <a:r>
              <a:rPr lang="en" altLang="zh-CN" dirty="0"/>
              <a:t>https://</a:t>
            </a:r>
            <a:r>
              <a:rPr lang="en" altLang="zh-CN" dirty="0" err="1"/>
              <a:t>patentscope.wipo.int</a:t>
            </a:r>
            <a:r>
              <a:rPr lang="en" altLang="zh-CN" dirty="0"/>
              <a:t>/</a:t>
            </a:r>
          </a:p>
          <a:p>
            <a:pPr marL="0" lvl="0" indent="0">
              <a:buNone/>
            </a:pPr>
            <a:r>
              <a:rPr lang="en" altLang="zh-CN" dirty="0"/>
              <a:t>Google Patent</a:t>
            </a:r>
          </a:p>
          <a:p>
            <a:pPr marL="0" indent="0">
              <a:buNone/>
            </a:pPr>
            <a:r>
              <a:rPr lang="en" altLang="zh-CN" dirty="0"/>
              <a:t>https://</a:t>
            </a:r>
            <a:r>
              <a:rPr lang="en" altLang="zh-CN" dirty="0" err="1"/>
              <a:t>patents.google.com</a:t>
            </a:r>
            <a:r>
              <a:rPr lang="en" altLang="zh-CN" dirty="0"/>
              <a:t>/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0549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1090</Words>
  <Application>Microsoft Macintosh PowerPoint</Application>
  <PresentationFormat>宽屏</PresentationFormat>
  <Paragraphs>67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宋体</vt:lpstr>
      <vt:lpstr>ui-monospace</vt:lpstr>
      <vt:lpstr>ui-sans-serif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20260909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Xuejiao Qiao</dc:creator>
  <cp:lastModifiedBy>Xuejiao Qiao</cp:lastModifiedBy>
  <cp:revision>5</cp:revision>
  <dcterms:created xsi:type="dcterms:W3CDTF">2026-09-09T02:55:52Z</dcterms:created>
  <dcterms:modified xsi:type="dcterms:W3CDTF">2026-09-09T06:27:58Z</dcterms:modified>
</cp:coreProperties>
</file>