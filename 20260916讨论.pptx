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3" r:id="rId8"/>
    <p:sldId id="264" r:id="rId9"/>
    <p:sldId id="265"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100"/>
    <p:restoredTop sz="94701"/>
  </p:normalViewPr>
  <p:slideViewPr>
    <p:cSldViewPr snapToGrid="0" snapToObjects="1">
      <p:cViewPr varScale="1">
        <p:scale>
          <a:sx n="141" d="100"/>
          <a:sy n="141" d="100"/>
        </p:scale>
        <p:origin x="216" y="32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85721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开场30秒：本课题关注相容性溶质这一微生物天然抗逆策略。前半部分讲背景：相容性溶质是什么、为什么产溶质的菌对环境生物处理重要；后半部分讲方法与总体设计：为什么用领域Agent、系统怎么搭、用什么实验验证。全程约5分钟。</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相容性溶质是极端微生物进化的抗逆策略：不干扰代谢、平衡渗透压、稳定生物大分子和膜结构，所以一种溶质常常同时带来耐盐、耐温、耐pH等多种保护。它已在食品、化妆品和合成生物学里用起来了，但在环境修复与资源回收方向还没有被定向开发，这就是课题的出发点。</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产溶质菌的应用价值集中在三类体系：高盐工业废水处理、固废资源化、污染环境修复。共同问题是人工构建的菌群没有经过极端环境选择，遇盐度冲击、酸碱波动、极端温度就失稳。目前的做法基本是经验性尝试，比如直接投加海洋耐盐菌，没有一套从应激情景诊断到菌株筛选再到调控预评估的统一平台，散落的文献和组学数据也复用不起来。</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Agent能不能解决这个问题？已有进展说明可以：环境领域已有专门优化废水处理运行的多智能体框架（Rothfarb 2025）；微生物方向有CRISPR-GPT自动设计基因编辑实验（Qu 2024）和做蛋白质功能预测的LLM Agent（Zhapa-Camacho 2025）；化学领域的ChemCrow和Coscientist更能自主完成实验。但在微生物抗逆资源挖掘、特别是产溶质菌定向筛选这个方向上，还没有已发表的Agent应用——这正是本研究的切入点。</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总体设计分三层：底座是4300余篇按胁迫类型分类的相容性溶质文献库、极端微生物组数据集和定量功能互作模型；中间的领域Agent基于场景需求自动完成菌株胁迫适应分析、群落互作推断和调控方案优化，输出可部署的生物强化方案；最后用anammox体系的盐度胁迫实验做实证，从脱氮性能、群落演替到分子互作机制逐层定量验证，形成可复用的技术路径。</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9/16/26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9/16/26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9/16/26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9/16/26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endParaRPr/>
          </a:p>
        </p:txBody>
      </p:sp>
      <p:sp>
        <p:nvSpPr>
          <p:cNvPr id="3" name="Rectangle 2"/>
          <p:cNvSpPr/>
          <p:nvPr/>
        </p:nvSpPr>
        <p:spPr>
          <a:xfrm>
            <a:off x="0" y="0"/>
            <a:ext cx="164592" cy="6858000"/>
          </a:xfrm>
          <a:prstGeom prst="rect">
            <a:avLst/>
          </a:prstGeom>
          <a:solidFill>
            <a:srgbClr val="0E6E6B"/>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endParaRPr/>
          </a:p>
        </p:txBody>
      </p:sp>
      <p:sp>
        <p:nvSpPr>
          <p:cNvPr id="4" name="TextBox 3"/>
          <p:cNvSpPr txBox="1"/>
          <p:nvPr/>
        </p:nvSpPr>
        <p:spPr>
          <a:xfrm>
            <a:off x="777240" y="1051560"/>
            <a:ext cx="10607040" cy="365760"/>
          </a:xfrm>
          <a:prstGeom prst="rect">
            <a:avLst/>
          </a:prstGeom>
          <a:noFill/>
        </p:spPr>
        <p:txBody>
          <a:bodyPr wrap="square" lIns="0" tIns="0" rIns="0" bIns="0" anchor="t">
            <a:spAutoFit/>
          </a:bodyPr>
          <a:lstStyle/>
          <a:p>
            <a:pPr algn="l">
              <a:lnSpc>
                <a:spcPct val="112000"/>
              </a:lnSpc>
              <a:spcAft>
                <a:spcPts val="600"/>
              </a:spcAft>
            </a:pPr>
            <a:r>
              <a:rPr sz="1300" b="1">
                <a:solidFill>
                  <a:srgbClr val="0E6E6B"/>
                </a:solidFill>
                <a:latin typeface="Arial"/>
                <a:ea typeface="微软雅黑"/>
              </a:rPr>
              <a:t>研究背景与总体设计 · 组会汇报</a:t>
            </a:r>
          </a:p>
        </p:txBody>
      </p:sp>
      <p:sp>
        <p:nvSpPr>
          <p:cNvPr id="5" name="TextBox 4"/>
          <p:cNvSpPr txBox="1"/>
          <p:nvPr/>
        </p:nvSpPr>
        <p:spPr>
          <a:xfrm>
            <a:off x="777240" y="1691640"/>
            <a:ext cx="10881360" cy="2103120"/>
          </a:xfrm>
          <a:prstGeom prst="rect">
            <a:avLst/>
          </a:prstGeom>
          <a:noFill/>
        </p:spPr>
        <p:txBody>
          <a:bodyPr wrap="square" lIns="0" tIns="0" rIns="0" bIns="0" anchor="t">
            <a:spAutoFit/>
          </a:bodyPr>
          <a:lstStyle/>
          <a:p>
            <a:pPr algn="l">
              <a:lnSpc>
                <a:spcPct val="115000"/>
              </a:lnSpc>
              <a:spcAft>
                <a:spcPts val="1400"/>
              </a:spcAft>
            </a:pPr>
            <a:r>
              <a:rPr sz="3400" b="1">
                <a:solidFill>
                  <a:srgbClr val="212B2B"/>
                </a:solidFill>
                <a:latin typeface="Arial"/>
                <a:ea typeface="微软雅黑"/>
              </a:rPr>
              <a:t>相容性溶质赋予微生物的广谱抗逆能力</a:t>
            </a:r>
          </a:p>
          <a:p>
            <a:pPr algn="l">
              <a:lnSpc>
                <a:spcPct val="115000"/>
              </a:lnSpc>
              <a:spcAft>
                <a:spcPts val="1400"/>
              </a:spcAft>
            </a:pPr>
            <a:r>
              <a:rPr sz="2600" b="1">
                <a:solidFill>
                  <a:srgbClr val="0A4F4D"/>
                </a:solidFill>
                <a:latin typeface="Arial"/>
                <a:ea typeface="微软雅黑"/>
              </a:rPr>
              <a:t>及产溶质功能菌定向应用的领域智能Agent方法</a:t>
            </a:r>
          </a:p>
        </p:txBody>
      </p:sp>
      <p:sp>
        <p:nvSpPr>
          <p:cNvPr id="6" name="Rectangle 5"/>
          <p:cNvSpPr/>
          <p:nvPr/>
        </p:nvSpPr>
        <p:spPr>
          <a:xfrm>
            <a:off x="804672" y="3977639"/>
            <a:ext cx="1920240" cy="41148"/>
          </a:xfrm>
          <a:prstGeom prst="rect">
            <a:avLst/>
          </a:prstGeom>
          <a:solidFill>
            <a:srgbClr val="C9D8D6"/>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endParaRPr/>
          </a:p>
        </p:txBody>
      </p:sp>
      <p:sp>
        <p:nvSpPr>
          <p:cNvPr id="7" name="TextBox 6"/>
          <p:cNvSpPr txBox="1"/>
          <p:nvPr/>
        </p:nvSpPr>
        <p:spPr>
          <a:xfrm>
            <a:off x="777240" y="4224528"/>
            <a:ext cx="10881360" cy="822960"/>
          </a:xfrm>
          <a:prstGeom prst="rect">
            <a:avLst/>
          </a:prstGeom>
          <a:noFill/>
        </p:spPr>
        <p:txBody>
          <a:bodyPr wrap="square" lIns="0" tIns="0" rIns="0" bIns="0" anchor="t">
            <a:spAutoFit/>
          </a:bodyPr>
          <a:lstStyle/>
          <a:p>
            <a:pPr algn="l">
              <a:lnSpc>
                <a:spcPct val="112000"/>
              </a:lnSpc>
              <a:spcAft>
                <a:spcPts val="400"/>
              </a:spcAft>
            </a:pPr>
            <a:r>
              <a:rPr sz="1400" b="0">
                <a:solidFill>
                  <a:srgbClr val="5A6B6A"/>
                </a:solidFill>
                <a:latin typeface="Arial"/>
                <a:ea typeface="微软雅黑"/>
              </a:rPr>
              <a:t>以相容性溶质文献知识库与极端微生物组为底座，面向工业生物处理与生物制造体系</a:t>
            </a:r>
          </a:p>
          <a:p>
            <a:pPr algn="l">
              <a:lnSpc>
                <a:spcPct val="112000"/>
              </a:lnSpc>
              <a:spcAft>
                <a:spcPts val="400"/>
              </a:spcAft>
            </a:pPr>
            <a:r>
              <a:rPr sz="1400" b="0">
                <a:solidFill>
                  <a:srgbClr val="5A6B6A"/>
                </a:solidFill>
                <a:latin typeface="Arial"/>
                <a:ea typeface="微软雅黑"/>
              </a:rPr>
              <a:t>实现产相容性溶质功能菌的智能筛选与调控策略预评估</a:t>
            </a:r>
          </a:p>
        </p:txBody>
      </p:sp>
      <p:sp>
        <p:nvSpPr>
          <p:cNvPr id="8" name="Rectangle 7"/>
          <p:cNvSpPr/>
          <p:nvPr/>
        </p:nvSpPr>
        <p:spPr>
          <a:xfrm>
            <a:off x="777240" y="5897880"/>
            <a:ext cx="10634472" cy="914"/>
          </a:xfrm>
          <a:prstGeom prst="rect">
            <a:avLst/>
          </a:prstGeom>
          <a:noFill/>
          <a:ln w="12700">
            <a:solidFill>
              <a:srgbClr val="C9D8D6"/>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endParaRPr/>
          </a:p>
        </p:txBody>
      </p:sp>
      <p:sp>
        <p:nvSpPr>
          <p:cNvPr id="9" name="TextBox 8"/>
          <p:cNvSpPr txBox="1"/>
          <p:nvPr/>
        </p:nvSpPr>
        <p:spPr>
          <a:xfrm>
            <a:off x="777240" y="6053328"/>
            <a:ext cx="10607040" cy="365760"/>
          </a:xfrm>
          <a:prstGeom prst="rect">
            <a:avLst/>
          </a:prstGeom>
          <a:noFill/>
        </p:spPr>
        <p:txBody>
          <a:bodyPr wrap="square" lIns="0" tIns="0" rIns="0" bIns="0" anchor="t">
            <a:spAutoFit/>
          </a:bodyPr>
          <a:lstStyle/>
          <a:p>
            <a:pPr algn="l">
              <a:lnSpc>
                <a:spcPct val="112000"/>
              </a:lnSpc>
              <a:spcAft>
                <a:spcPts val="600"/>
              </a:spcAft>
            </a:pPr>
            <a:r>
              <a:rPr sz="1200" b="0">
                <a:solidFill>
                  <a:srgbClr val="8A9998"/>
                </a:solidFill>
                <a:latin typeface="Arial"/>
                <a:ea typeface="微软雅黑"/>
              </a:rPr>
              <a:t>汇报人：________    ｜    2026年8月</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endParaRPr/>
          </a:p>
        </p:txBody>
      </p:sp>
      <p:sp>
        <p:nvSpPr>
          <p:cNvPr id="3" name="TextBox 2"/>
          <p:cNvSpPr txBox="1"/>
          <p:nvPr/>
        </p:nvSpPr>
        <p:spPr>
          <a:xfrm>
            <a:off x="548640" y="347472"/>
            <a:ext cx="11091672" cy="868680"/>
          </a:xfrm>
          <a:prstGeom prst="rect">
            <a:avLst/>
          </a:prstGeom>
          <a:noFill/>
        </p:spPr>
        <p:txBody>
          <a:bodyPr wrap="square" lIns="0" tIns="0" rIns="0" bIns="0" anchor="t">
            <a:spAutoFit/>
          </a:bodyPr>
          <a:lstStyle/>
          <a:p>
            <a:pPr algn="l">
              <a:lnSpc>
                <a:spcPct val="105000"/>
              </a:lnSpc>
              <a:spcAft>
                <a:spcPts val="600"/>
              </a:spcAft>
            </a:pPr>
            <a:r>
              <a:rPr sz="2300" b="1">
                <a:solidFill>
                  <a:srgbClr val="212B2B"/>
                </a:solidFill>
                <a:latin typeface="Arial"/>
                <a:ea typeface="微软雅黑"/>
              </a:rPr>
              <a:t>相容性溶质：小分子、广谱保护、交叉抗逆，但环境领域尚未定向开发</a:t>
            </a:r>
          </a:p>
        </p:txBody>
      </p:sp>
      <p:sp>
        <p:nvSpPr>
          <p:cNvPr id="4" name="Rectangle 3"/>
          <p:cNvSpPr/>
          <p:nvPr/>
        </p:nvSpPr>
        <p:spPr>
          <a:xfrm>
            <a:off x="566928" y="1152144"/>
            <a:ext cx="502920" cy="45720"/>
          </a:xfrm>
          <a:prstGeom prst="rect">
            <a:avLst/>
          </a:prstGeom>
          <a:solidFill>
            <a:srgbClr val="0E6E6B"/>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endParaRPr/>
          </a:p>
        </p:txBody>
      </p:sp>
      <p:sp>
        <p:nvSpPr>
          <p:cNvPr id="5" name="TextBox 4"/>
          <p:cNvSpPr txBox="1"/>
          <p:nvPr/>
        </p:nvSpPr>
        <p:spPr>
          <a:xfrm>
            <a:off x="548640" y="1481328"/>
            <a:ext cx="6583680" cy="2286000"/>
          </a:xfrm>
          <a:prstGeom prst="rect">
            <a:avLst/>
          </a:prstGeom>
          <a:noFill/>
        </p:spPr>
        <p:txBody>
          <a:bodyPr wrap="square" lIns="0" tIns="0" rIns="0" bIns="0" anchor="t">
            <a:spAutoFit/>
          </a:bodyPr>
          <a:lstStyle/>
          <a:p>
            <a:pPr algn="l">
              <a:lnSpc>
                <a:spcPct val="112000"/>
              </a:lnSpc>
              <a:spcAft>
                <a:spcPts val="800"/>
              </a:spcAft>
            </a:pPr>
            <a:r>
              <a:rPr sz="1300" b="1">
                <a:solidFill>
                  <a:srgbClr val="0E6E6B"/>
                </a:solidFill>
                <a:latin typeface="Arial"/>
                <a:ea typeface="微软雅黑"/>
              </a:rPr>
              <a:t>作用机制</a:t>
            </a:r>
          </a:p>
          <a:p>
            <a:pPr algn="l">
              <a:lnSpc>
                <a:spcPct val="112000"/>
              </a:lnSpc>
              <a:spcAft>
                <a:spcPts val="800"/>
              </a:spcAft>
            </a:pPr>
            <a:r>
              <a:rPr sz="1350" b="0">
                <a:solidFill>
                  <a:srgbClr val="212B2B"/>
                </a:solidFill>
                <a:latin typeface="Arial"/>
                <a:ea typeface="微软雅黑"/>
              </a:rPr>
              <a:t>· 小分子有机渗透物，高浓度积累而不干扰胞内正常代谢</a:t>
            </a:r>
          </a:p>
          <a:p>
            <a:pPr algn="l">
              <a:lnSpc>
                <a:spcPct val="112000"/>
              </a:lnSpc>
              <a:spcAft>
                <a:spcPts val="800"/>
              </a:spcAft>
            </a:pPr>
            <a:r>
              <a:rPr sz="1350" b="0">
                <a:solidFill>
                  <a:srgbClr val="212B2B"/>
                </a:solidFill>
                <a:latin typeface="Arial"/>
                <a:ea typeface="微软雅黑"/>
              </a:rPr>
              <a:t>· 离子-溶质协同，快速平衡胞内外渗透压</a:t>
            </a:r>
          </a:p>
          <a:p>
            <a:pPr algn="l">
              <a:lnSpc>
                <a:spcPct val="112000"/>
              </a:lnSpc>
              <a:spcAft>
                <a:spcPts val="800"/>
              </a:spcAft>
            </a:pPr>
            <a:r>
              <a:rPr sz="1350" b="0">
                <a:solidFill>
                  <a:srgbClr val="212B2B"/>
                </a:solidFill>
                <a:latin typeface="Arial"/>
                <a:ea typeface="微软雅黑"/>
              </a:rPr>
              <a:t>· 稳定蛋白质、核酸与细胞膜的水合壳，实现广谱结构保护</a:t>
            </a:r>
          </a:p>
        </p:txBody>
      </p:sp>
      <p:sp>
        <p:nvSpPr>
          <p:cNvPr id="6" name="TextBox 5"/>
          <p:cNvSpPr txBox="1"/>
          <p:nvPr/>
        </p:nvSpPr>
        <p:spPr>
          <a:xfrm>
            <a:off x="548640" y="3703320"/>
            <a:ext cx="6583680" cy="320040"/>
          </a:xfrm>
          <a:prstGeom prst="rect">
            <a:avLst/>
          </a:prstGeom>
          <a:noFill/>
        </p:spPr>
        <p:txBody>
          <a:bodyPr wrap="square" lIns="0" tIns="0" rIns="0" bIns="0" anchor="t">
            <a:spAutoFit/>
          </a:bodyPr>
          <a:lstStyle/>
          <a:p>
            <a:pPr algn="l">
              <a:lnSpc>
                <a:spcPct val="112000"/>
              </a:lnSpc>
              <a:spcAft>
                <a:spcPts val="600"/>
              </a:spcAft>
            </a:pPr>
            <a:r>
              <a:rPr sz="1250" b="0">
                <a:solidFill>
                  <a:srgbClr val="5A6B6A"/>
                </a:solidFill>
                <a:latin typeface="Arial"/>
                <a:ea typeface="微软雅黑"/>
              </a:rPr>
              <a:t>单一溶质常同时赋予交叉保护：</a:t>
            </a:r>
          </a:p>
        </p:txBody>
      </p:sp>
      <p:sp>
        <p:nvSpPr>
          <p:cNvPr id="7" name="Rectangle 6"/>
          <p:cNvSpPr/>
          <p:nvPr/>
        </p:nvSpPr>
        <p:spPr>
          <a:xfrm>
            <a:off x="548640" y="4041648"/>
            <a:ext cx="932688" cy="384048"/>
          </a:xfrm>
          <a:prstGeom prst="rect">
            <a:avLst/>
          </a:prstGeom>
          <a:solidFill>
            <a:srgbClr val="EAF2F1"/>
          </a:solidFill>
          <a:ln w="9525">
            <a:solidFill>
              <a:srgbClr val="C9D8D6"/>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lnSpc>
                <a:spcPct val="110000"/>
              </a:lnSpc>
              <a:spcAft>
                <a:spcPts val="200"/>
              </a:spcAft>
            </a:pPr>
            <a:r>
              <a:rPr sz="1250" b="1">
                <a:solidFill>
                  <a:srgbClr val="0A4F4D"/>
                </a:solidFill>
                <a:latin typeface="Arial"/>
                <a:ea typeface="微软雅黑"/>
              </a:rPr>
              <a:t>耐盐</a:t>
            </a:r>
          </a:p>
        </p:txBody>
      </p:sp>
      <p:sp>
        <p:nvSpPr>
          <p:cNvPr id="8" name="Rectangle 7"/>
          <p:cNvSpPr/>
          <p:nvPr/>
        </p:nvSpPr>
        <p:spPr>
          <a:xfrm>
            <a:off x="1609344" y="4041648"/>
            <a:ext cx="932688" cy="384048"/>
          </a:xfrm>
          <a:prstGeom prst="rect">
            <a:avLst/>
          </a:prstGeom>
          <a:solidFill>
            <a:srgbClr val="EAF2F1"/>
          </a:solidFill>
          <a:ln w="9525">
            <a:solidFill>
              <a:srgbClr val="C9D8D6"/>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lnSpc>
                <a:spcPct val="110000"/>
              </a:lnSpc>
              <a:spcAft>
                <a:spcPts val="200"/>
              </a:spcAft>
            </a:pPr>
            <a:r>
              <a:rPr sz="1250" b="1">
                <a:solidFill>
                  <a:srgbClr val="0A4F4D"/>
                </a:solidFill>
                <a:latin typeface="Arial"/>
                <a:ea typeface="微软雅黑"/>
              </a:rPr>
              <a:t>耐温</a:t>
            </a:r>
          </a:p>
        </p:txBody>
      </p:sp>
      <p:sp>
        <p:nvSpPr>
          <p:cNvPr id="9" name="Rectangle 8"/>
          <p:cNvSpPr/>
          <p:nvPr/>
        </p:nvSpPr>
        <p:spPr>
          <a:xfrm>
            <a:off x="2670048" y="4041648"/>
            <a:ext cx="932688" cy="384048"/>
          </a:xfrm>
          <a:prstGeom prst="rect">
            <a:avLst/>
          </a:prstGeom>
          <a:solidFill>
            <a:srgbClr val="EAF2F1"/>
          </a:solidFill>
          <a:ln w="9525">
            <a:solidFill>
              <a:srgbClr val="C9D8D6"/>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lnSpc>
                <a:spcPct val="110000"/>
              </a:lnSpc>
              <a:spcAft>
                <a:spcPts val="200"/>
              </a:spcAft>
            </a:pPr>
            <a:r>
              <a:rPr sz="1250" b="1">
                <a:solidFill>
                  <a:srgbClr val="0A4F4D"/>
                </a:solidFill>
                <a:latin typeface="Arial"/>
                <a:ea typeface="微软雅黑"/>
              </a:rPr>
              <a:t>耐pH</a:t>
            </a:r>
          </a:p>
        </p:txBody>
      </p:sp>
      <p:sp>
        <p:nvSpPr>
          <p:cNvPr id="10" name="Rectangle 9"/>
          <p:cNvSpPr/>
          <p:nvPr/>
        </p:nvSpPr>
        <p:spPr>
          <a:xfrm>
            <a:off x="3730752" y="4041648"/>
            <a:ext cx="932688" cy="384048"/>
          </a:xfrm>
          <a:prstGeom prst="rect">
            <a:avLst/>
          </a:prstGeom>
          <a:solidFill>
            <a:srgbClr val="EAF2F1"/>
          </a:solidFill>
          <a:ln w="9525">
            <a:solidFill>
              <a:srgbClr val="C9D8D6"/>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lnSpc>
                <a:spcPct val="110000"/>
              </a:lnSpc>
              <a:spcAft>
                <a:spcPts val="200"/>
              </a:spcAft>
            </a:pPr>
            <a:r>
              <a:rPr sz="1250" b="1">
                <a:solidFill>
                  <a:srgbClr val="0A4F4D"/>
                </a:solidFill>
                <a:latin typeface="Arial"/>
                <a:ea typeface="微软雅黑"/>
              </a:rPr>
              <a:t>耐干燥</a:t>
            </a:r>
          </a:p>
        </p:txBody>
      </p:sp>
      <p:sp>
        <p:nvSpPr>
          <p:cNvPr id="11" name="Rectangle 10"/>
          <p:cNvSpPr/>
          <p:nvPr/>
        </p:nvSpPr>
        <p:spPr>
          <a:xfrm>
            <a:off x="4791456" y="4041648"/>
            <a:ext cx="932688" cy="384048"/>
          </a:xfrm>
          <a:prstGeom prst="rect">
            <a:avLst/>
          </a:prstGeom>
          <a:solidFill>
            <a:srgbClr val="EAF2F1"/>
          </a:solidFill>
          <a:ln w="9525">
            <a:solidFill>
              <a:srgbClr val="C9D8D6"/>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lnSpc>
                <a:spcPct val="110000"/>
              </a:lnSpc>
              <a:spcAft>
                <a:spcPts val="200"/>
              </a:spcAft>
            </a:pPr>
            <a:r>
              <a:rPr sz="1250" b="1">
                <a:solidFill>
                  <a:srgbClr val="0A4F4D"/>
                </a:solidFill>
                <a:latin typeface="Arial"/>
                <a:ea typeface="微软雅黑"/>
              </a:rPr>
              <a:t>抗辐射</a:t>
            </a:r>
          </a:p>
        </p:txBody>
      </p:sp>
      <p:sp>
        <p:nvSpPr>
          <p:cNvPr id="12" name="Rectangle 11"/>
          <p:cNvSpPr/>
          <p:nvPr/>
        </p:nvSpPr>
        <p:spPr>
          <a:xfrm>
            <a:off x="5852160" y="4041648"/>
            <a:ext cx="932688" cy="384048"/>
          </a:xfrm>
          <a:prstGeom prst="rect">
            <a:avLst/>
          </a:prstGeom>
          <a:solidFill>
            <a:srgbClr val="EAF2F1"/>
          </a:solidFill>
          <a:ln w="9525">
            <a:solidFill>
              <a:srgbClr val="C9D8D6"/>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lnSpc>
                <a:spcPct val="110000"/>
              </a:lnSpc>
              <a:spcAft>
                <a:spcPts val="200"/>
              </a:spcAft>
            </a:pPr>
            <a:r>
              <a:rPr sz="1250" b="1">
                <a:solidFill>
                  <a:srgbClr val="0A4F4D"/>
                </a:solidFill>
                <a:latin typeface="Arial"/>
                <a:ea typeface="微软雅黑"/>
              </a:rPr>
              <a:t>抗压力</a:t>
            </a:r>
          </a:p>
        </p:txBody>
      </p:sp>
      <p:sp>
        <p:nvSpPr>
          <p:cNvPr id="13" name="Rectangle 12"/>
          <p:cNvSpPr/>
          <p:nvPr/>
        </p:nvSpPr>
        <p:spPr>
          <a:xfrm>
            <a:off x="7635240" y="1481328"/>
            <a:ext cx="4005072" cy="2944368"/>
          </a:xfrm>
          <a:prstGeom prst="rect">
            <a:avLst/>
          </a:prstGeom>
          <a:solidFill>
            <a:srgbClr val="EAF2F1"/>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lnSpc>
                <a:spcPct val="110000"/>
              </a:lnSpc>
              <a:spcAft>
                <a:spcPts val="600"/>
              </a:spcAft>
            </a:pPr>
            <a:r>
              <a:rPr sz="1300" b="1">
                <a:solidFill>
                  <a:srgbClr val="0A4F4D"/>
                </a:solidFill>
                <a:latin typeface="Arial"/>
                <a:ea typeface="微软雅黑"/>
              </a:rPr>
              <a:t>抗逆策略的本质</a:t>
            </a:r>
          </a:p>
          <a:p>
            <a:pPr algn="l">
              <a:lnSpc>
                <a:spcPct val="110000"/>
              </a:lnSpc>
              <a:spcAft>
                <a:spcPts val="600"/>
              </a:spcAft>
            </a:pPr>
            <a:r>
              <a:rPr sz="1250" b="0">
                <a:solidFill>
                  <a:srgbClr val="212B2B"/>
                </a:solidFill>
                <a:latin typeface="Arial"/>
                <a:ea typeface="微软雅黑"/>
              </a:rPr>
              <a:t>极端微生物经长期适应性进化形成的核心策略；</a:t>
            </a:r>
          </a:p>
          <a:p>
            <a:pPr algn="l">
              <a:lnSpc>
                <a:spcPct val="110000"/>
              </a:lnSpc>
              <a:spcAft>
                <a:spcPts val="600"/>
              </a:spcAft>
            </a:pPr>
            <a:r>
              <a:rPr sz="1250" b="0">
                <a:solidFill>
                  <a:srgbClr val="212B2B"/>
                </a:solidFill>
                <a:latin typeface="Arial"/>
                <a:ea typeface="微软雅黑"/>
              </a:rPr>
              <a:t>保护效应大多不依赖特定胁迫类型——</a:t>
            </a:r>
          </a:p>
          <a:p>
            <a:pPr algn="l">
              <a:lnSpc>
                <a:spcPct val="110000"/>
              </a:lnSpc>
              <a:spcAft>
                <a:spcPts val="600"/>
              </a:spcAft>
            </a:pPr>
            <a:r>
              <a:rPr sz="1250" b="1">
                <a:solidFill>
                  <a:srgbClr val="0A4F4D"/>
                </a:solidFill>
                <a:latin typeface="Arial"/>
                <a:ea typeface="微软雅黑"/>
              </a:rPr>
              <a:t>这是其跨场景复用的基础。</a:t>
            </a:r>
          </a:p>
        </p:txBody>
      </p:sp>
      <p:sp>
        <p:nvSpPr>
          <p:cNvPr id="14" name="Rectangle 13"/>
          <p:cNvSpPr/>
          <p:nvPr/>
        </p:nvSpPr>
        <p:spPr>
          <a:xfrm>
            <a:off x="548640" y="5074920"/>
            <a:ext cx="5440680" cy="1234440"/>
          </a:xfrm>
          <a:prstGeom prst="rect">
            <a:avLst/>
          </a:prstGeom>
          <a:solidFill>
            <a:srgbClr val="FFFFFF"/>
          </a:solidFill>
          <a:ln w="9525">
            <a:solidFill>
              <a:srgbClr val="C9D8D6"/>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lnSpc>
                <a:spcPct val="110000"/>
              </a:lnSpc>
              <a:spcAft>
                <a:spcPts val="200"/>
              </a:spcAft>
            </a:pPr>
            <a:r>
              <a:rPr sz="1300" b="1">
                <a:solidFill>
                  <a:srgbClr val="5A6B6A"/>
                </a:solidFill>
                <a:latin typeface="Arial"/>
                <a:ea typeface="微软雅黑"/>
              </a:rPr>
              <a:t>已在食品、化妆品、合成生物学等领域应用</a:t>
            </a:r>
          </a:p>
          <a:p>
            <a:pPr algn="l">
              <a:lnSpc>
                <a:spcPct val="110000"/>
              </a:lnSpc>
              <a:spcAft>
                <a:spcPts val="200"/>
              </a:spcAft>
            </a:pPr>
            <a:r>
              <a:rPr sz="1150" b="0">
                <a:solidFill>
                  <a:srgbClr val="5A6B6A"/>
                </a:solidFill>
                <a:latin typeface="Arial"/>
                <a:ea typeface="微软雅黑"/>
              </a:rPr>
              <a:t>应用成熟，但场景与微生物资源挖掘无关</a:t>
            </a:r>
          </a:p>
        </p:txBody>
      </p:sp>
      <p:sp>
        <p:nvSpPr>
          <p:cNvPr id="15" name="Rectangle 14"/>
          <p:cNvSpPr/>
          <p:nvPr/>
        </p:nvSpPr>
        <p:spPr>
          <a:xfrm>
            <a:off x="6172200" y="5074920"/>
            <a:ext cx="5468112" cy="1234440"/>
          </a:xfrm>
          <a:prstGeom prst="rect">
            <a:avLst/>
          </a:prstGeom>
          <a:solidFill>
            <a:srgbClr val="FAEFE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lnSpc>
                <a:spcPct val="110000"/>
              </a:lnSpc>
              <a:spcAft>
                <a:spcPts val="200"/>
              </a:spcAft>
            </a:pPr>
            <a:r>
              <a:rPr sz="1300" b="1">
                <a:solidFill>
                  <a:srgbClr val="B4560E"/>
                </a:solidFill>
                <a:latin typeface="Arial"/>
                <a:ea typeface="微软雅黑"/>
              </a:rPr>
              <a:t>环境修复与资源回收：尚未定向开发与工程化利用</a:t>
            </a:r>
          </a:p>
          <a:p>
            <a:pPr algn="l">
              <a:lnSpc>
                <a:spcPct val="110000"/>
              </a:lnSpc>
              <a:spcAft>
                <a:spcPts val="200"/>
              </a:spcAft>
            </a:pPr>
            <a:r>
              <a:rPr sz="1150" b="0">
                <a:solidFill>
                  <a:srgbClr val="212B2B"/>
                </a:solidFill>
                <a:latin typeface="Arial"/>
                <a:ea typeface="微软雅黑"/>
              </a:rPr>
              <a:t>天然抗逆资源大规模转化不足——本研究的出发点</a:t>
            </a:r>
          </a:p>
        </p:txBody>
      </p:sp>
      <p:sp>
        <p:nvSpPr>
          <p:cNvPr id="16" name="TextBox 15"/>
          <p:cNvSpPr txBox="1"/>
          <p:nvPr/>
        </p:nvSpPr>
        <p:spPr>
          <a:xfrm>
            <a:off x="548640" y="6419088"/>
            <a:ext cx="11064240" cy="274320"/>
          </a:xfrm>
          <a:prstGeom prst="rect">
            <a:avLst/>
          </a:prstGeom>
          <a:noFill/>
        </p:spPr>
        <p:txBody>
          <a:bodyPr wrap="square" lIns="0" tIns="0" rIns="0" bIns="0" anchor="t">
            <a:spAutoFit/>
          </a:bodyPr>
          <a:lstStyle/>
          <a:p>
            <a:pPr algn="l">
              <a:lnSpc>
                <a:spcPct val="112000"/>
              </a:lnSpc>
              <a:spcAft>
                <a:spcPts val="600"/>
              </a:spcAft>
            </a:pPr>
            <a:r>
              <a:rPr sz="900" b="0">
                <a:solidFill>
                  <a:srgbClr val="8A9998"/>
                </a:solidFill>
                <a:latin typeface="Arial"/>
                <a:ea typeface="微软雅黑"/>
              </a:rPr>
              <a:t>来源：本研究引言第一段</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endParaRPr/>
          </a:p>
        </p:txBody>
      </p:sp>
      <p:sp>
        <p:nvSpPr>
          <p:cNvPr id="3" name="TextBox 2"/>
          <p:cNvSpPr txBox="1"/>
          <p:nvPr/>
        </p:nvSpPr>
        <p:spPr>
          <a:xfrm>
            <a:off x="548640" y="347472"/>
            <a:ext cx="11091672" cy="868680"/>
          </a:xfrm>
          <a:prstGeom prst="rect">
            <a:avLst/>
          </a:prstGeom>
          <a:noFill/>
        </p:spPr>
        <p:txBody>
          <a:bodyPr wrap="square" lIns="0" tIns="0" rIns="0" bIns="0" anchor="t">
            <a:spAutoFit/>
          </a:bodyPr>
          <a:lstStyle/>
          <a:p>
            <a:pPr algn="l">
              <a:lnSpc>
                <a:spcPct val="105000"/>
              </a:lnSpc>
              <a:spcAft>
                <a:spcPts val="600"/>
              </a:spcAft>
            </a:pPr>
            <a:r>
              <a:rPr sz="2300" b="1">
                <a:solidFill>
                  <a:srgbClr val="212B2B"/>
                </a:solidFill>
                <a:latin typeface="Arial"/>
                <a:ea typeface="微软雅黑"/>
              </a:rPr>
              <a:t>三类工业生物处理体系受抗逆性瓶颈制约，全流程方法平台缺位</a:t>
            </a:r>
          </a:p>
        </p:txBody>
      </p:sp>
      <p:sp>
        <p:nvSpPr>
          <p:cNvPr id="4" name="Rectangle 3"/>
          <p:cNvSpPr/>
          <p:nvPr/>
        </p:nvSpPr>
        <p:spPr>
          <a:xfrm>
            <a:off x="566928" y="1152144"/>
            <a:ext cx="502920" cy="45720"/>
          </a:xfrm>
          <a:prstGeom prst="rect">
            <a:avLst/>
          </a:prstGeom>
          <a:solidFill>
            <a:srgbClr val="0E6E6B"/>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endParaRPr/>
          </a:p>
        </p:txBody>
      </p:sp>
      <p:sp>
        <p:nvSpPr>
          <p:cNvPr id="5" name="Rectangle 4"/>
          <p:cNvSpPr/>
          <p:nvPr/>
        </p:nvSpPr>
        <p:spPr>
          <a:xfrm>
            <a:off x="548640" y="1517904"/>
            <a:ext cx="11091672" cy="969264"/>
          </a:xfrm>
          <a:prstGeom prst="rect">
            <a:avLst/>
          </a:prstGeom>
          <a:solidFill>
            <a:srgbClr val="FFFFFF"/>
          </a:solidFill>
          <a:ln w="9525">
            <a:solidFill>
              <a:srgbClr val="C9D8D6"/>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lnSpc>
                <a:spcPct val="110000"/>
              </a:lnSpc>
              <a:spcAft>
                <a:spcPts val="300"/>
              </a:spcAft>
            </a:pPr>
            <a:r>
              <a:rPr sz="1400" b="1">
                <a:solidFill>
                  <a:srgbClr val="0A4F4D"/>
                </a:solidFill>
                <a:latin typeface="Arial"/>
                <a:ea typeface="微软雅黑"/>
              </a:rPr>
              <a:t>① 高盐难降解工业废水生物处理</a:t>
            </a:r>
          </a:p>
          <a:p>
            <a:pPr algn="l">
              <a:lnSpc>
                <a:spcPct val="110000"/>
              </a:lnSpc>
              <a:spcAft>
                <a:spcPts val="300"/>
              </a:spcAft>
            </a:pPr>
            <a:r>
              <a:rPr sz="1150" b="0">
                <a:solidFill>
                  <a:srgbClr val="5A6B6A"/>
                </a:solidFill>
                <a:latin typeface="Arial"/>
                <a:ea typeface="微软雅黑"/>
              </a:rPr>
              <a:t>印染 · 制药 · 煤化工 · 食品加工 ｜ 高浓度有机废水处理、生物脱氮除磷、难降解污染物定向降解</a:t>
            </a:r>
          </a:p>
        </p:txBody>
      </p:sp>
      <p:sp>
        <p:nvSpPr>
          <p:cNvPr id="6" name="Rectangle 5"/>
          <p:cNvSpPr/>
          <p:nvPr/>
        </p:nvSpPr>
        <p:spPr>
          <a:xfrm>
            <a:off x="548640" y="2633472"/>
            <a:ext cx="11091672" cy="969264"/>
          </a:xfrm>
          <a:prstGeom prst="rect">
            <a:avLst/>
          </a:prstGeom>
          <a:solidFill>
            <a:srgbClr val="FFFFFF"/>
          </a:solidFill>
          <a:ln w="9525">
            <a:solidFill>
              <a:srgbClr val="C9D8D6"/>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lnSpc>
                <a:spcPct val="110000"/>
              </a:lnSpc>
              <a:spcAft>
                <a:spcPts val="300"/>
              </a:spcAft>
            </a:pPr>
            <a:r>
              <a:rPr sz="1400" b="1">
                <a:solidFill>
                  <a:srgbClr val="0A4F4D"/>
                </a:solidFill>
                <a:latin typeface="Arial"/>
                <a:ea typeface="微软雅黑"/>
              </a:rPr>
              <a:t>② 固体废物生物资源化处理</a:t>
            </a:r>
          </a:p>
          <a:p>
            <a:pPr algn="l">
              <a:lnSpc>
                <a:spcPct val="110000"/>
              </a:lnSpc>
              <a:spcAft>
                <a:spcPts val="300"/>
              </a:spcAft>
            </a:pPr>
            <a:r>
              <a:rPr sz="1150" b="0">
                <a:solidFill>
                  <a:srgbClr val="5A6B6A"/>
                </a:solidFill>
                <a:latin typeface="Arial"/>
                <a:ea typeface="微软雅黑"/>
              </a:rPr>
              <a:t>工业有机废渣 · 市政污泥 · 农业废弃物 ｜ 生物堆肥、厌氧发酵产沼气、腐殖质资源化回收</a:t>
            </a:r>
          </a:p>
        </p:txBody>
      </p:sp>
      <p:sp>
        <p:nvSpPr>
          <p:cNvPr id="7" name="Rectangle 6"/>
          <p:cNvSpPr/>
          <p:nvPr/>
        </p:nvSpPr>
        <p:spPr>
          <a:xfrm>
            <a:off x="548640" y="3749039"/>
            <a:ext cx="11091672" cy="969264"/>
          </a:xfrm>
          <a:prstGeom prst="rect">
            <a:avLst/>
          </a:prstGeom>
          <a:solidFill>
            <a:srgbClr val="FFFFFF"/>
          </a:solidFill>
          <a:ln w="9525">
            <a:solidFill>
              <a:srgbClr val="C9D8D6"/>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lnSpc>
                <a:spcPct val="110000"/>
              </a:lnSpc>
              <a:spcAft>
                <a:spcPts val="300"/>
              </a:spcAft>
            </a:pPr>
            <a:r>
              <a:rPr sz="1400" b="1">
                <a:solidFill>
                  <a:srgbClr val="0A4F4D"/>
                </a:solidFill>
                <a:latin typeface="Arial"/>
                <a:ea typeface="微软雅黑"/>
              </a:rPr>
              <a:t>③ 污染环境生物修复</a:t>
            </a:r>
          </a:p>
          <a:p>
            <a:pPr algn="l">
              <a:lnSpc>
                <a:spcPct val="110000"/>
              </a:lnSpc>
              <a:spcAft>
                <a:spcPts val="300"/>
              </a:spcAft>
            </a:pPr>
            <a:r>
              <a:rPr sz="1150" b="0">
                <a:solidFill>
                  <a:srgbClr val="5A6B6A"/>
                </a:solidFill>
                <a:latin typeface="Arial"/>
                <a:ea typeface="微软雅黑"/>
              </a:rPr>
              <a:t>工业污染场地 · 油田污染土壤 · 重金属污染水体 ｜ 原位 / 异位微生物修复工程</a:t>
            </a:r>
          </a:p>
        </p:txBody>
      </p:sp>
      <p:sp>
        <p:nvSpPr>
          <p:cNvPr id="8" name="Rectangle 7"/>
          <p:cNvSpPr/>
          <p:nvPr/>
        </p:nvSpPr>
        <p:spPr>
          <a:xfrm>
            <a:off x="548640" y="4956048"/>
            <a:ext cx="11091672" cy="1298448"/>
          </a:xfrm>
          <a:prstGeom prst="rect">
            <a:avLst/>
          </a:prstGeom>
          <a:solidFill>
            <a:srgbClr val="EAF2F1"/>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lnSpc>
                <a:spcPct val="110000"/>
              </a:lnSpc>
              <a:spcAft>
                <a:spcPts val="500"/>
              </a:spcAft>
            </a:pPr>
            <a:r>
              <a:rPr sz="1300" b="1">
                <a:solidFill>
                  <a:srgbClr val="212B2B"/>
                </a:solidFill>
                <a:latin typeface="Arial"/>
                <a:ea typeface="微软雅黑"/>
              </a:rPr>
              <a:t>共性瓶颈：工程菌群未经极端环境定向选择，遭遇盐度冲击、酸碱波动、极端温度时稳定性与效率大幅下降</a:t>
            </a:r>
          </a:p>
          <a:p>
            <a:pPr algn="l">
              <a:lnSpc>
                <a:spcPct val="110000"/>
              </a:lnSpc>
              <a:spcAft>
                <a:spcPts val="500"/>
              </a:spcAft>
            </a:pPr>
            <a:r>
              <a:rPr sz="1200" b="0">
                <a:solidFill>
                  <a:srgbClr val="5A6B6A"/>
                </a:solidFill>
                <a:latin typeface="Arial"/>
                <a:ea typeface="微软雅黑"/>
              </a:rPr>
              <a:t>整体停留在经验探索层面，缺少"应激情景诊断 — 目标菌株定向筛选 — 调控策略性能预评估"统一平台；文献数据、微生物组信息、实证结果难以复用</a:t>
            </a:r>
          </a:p>
        </p:txBody>
      </p:sp>
      <p:sp>
        <p:nvSpPr>
          <p:cNvPr id="9" name="TextBox 8"/>
          <p:cNvSpPr txBox="1"/>
          <p:nvPr/>
        </p:nvSpPr>
        <p:spPr>
          <a:xfrm>
            <a:off x="548640" y="6419088"/>
            <a:ext cx="11064240" cy="274320"/>
          </a:xfrm>
          <a:prstGeom prst="rect">
            <a:avLst/>
          </a:prstGeom>
          <a:noFill/>
        </p:spPr>
        <p:txBody>
          <a:bodyPr wrap="square" lIns="0" tIns="0" rIns="0" bIns="0" anchor="t">
            <a:spAutoFit/>
          </a:bodyPr>
          <a:lstStyle/>
          <a:p>
            <a:pPr algn="l">
              <a:lnSpc>
                <a:spcPct val="112000"/>
              </a:lnSpc>
              <a:spcAft>
                <a:spcPts val="600"/>
              </a:spcAft>
            </a:pPr>
            <a:r>
              <a:rPr sz="900" b="0">
                <a:solidFill>
                  <a:srgbClr val="8A9998"/>
                </a:solidFill>
                <a:latin typeface="Arial"/>
                <a:ea typeface="微软雅黑"/>
              </a:rPr>
              <a:t>来源：本研究引言第二段</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endParaRPr/>
          </a:p>
        </p:txBody>
      </p:sp>
      <p:sp>
        <p:nvSpPr>
          <p:cNvPr id="3" name="TextBox 2"/>
          <p:cNvSpPr txBox="1"/>
          <p:nvPr/>
        </p:nvSpPr>
        <p:spPr>
          <a:xfrm>
            <a:off x="548640" y="347472"/>
            <a:ext cx="11091672" cy="868680"/>
          </a:xfrm>
          <a:prstGeom prst="rect">
            <a:avLst/>
          </a:prstGeom>
          <a:noFill/>
        </p:spPr>
        <p:txBody>
          <a:bodyPr wrap="square" lIns="0" tIns="0" rIns="0" bIns="0" anchor="t">
            <a:spAutoFit/>
          </a:bodyPr>
          <a:lstStyle/>
          <a:p>
            <a:pPr algn="l">
              <a:lnSpc>
                <a:spcPct val="105000"/>
              </a:lnSpc>
              <a:spcAft>
                <a:spcPts val="600"/>
              </a:spcAft>
            </a:pPr>
            <a:r>
              <a:rPr sz="2300" b="1">
                <a:solidFill>
                  <a:srgbClr val="212B2B"/>
                </a:solidFill>
                <a:latin typeface="Arial"/>
                <a:ea typeface="微软雅黑"/>
              </a:rPr>
              <a:t>领域Agent已在环境、微生物与化学领域落地，产溶质菌定向应用仍是空白</a:t>
            </a:r>
          </a:p>
        </p:txBody>
      </p:sp>
      <p:sp>
        <p:nvSpPr>
          <p:cNvPr id="4" name="Rectangle 3"/>
          <p:cNvSpPr/>
          <p:nvPr/>
        </p:nvSpPr>
        <p:spPr>
          <a:xfrm>
            <a:off x="566928" y="1152144"/>
            <a:ext cx="502920" cy="45720"/>
          </a:xfrm>
          <a:prstGeom prst="rect">
            <a:avLst/>
          </a:prstGeom>
          <a:solidFill>
            <a:srgbClr val="0E6E6B"/>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endParaRPr/>
          </a:p>
        </p:txBody>
      </p:sp>
      <p:sp>
        <p:nvSpPr>
          <p:cNvPr id="5" name="TextBox 4"/>
          <p:cNvSpPr txBox="1"/>
          <p:nvPr/>
        </p:nvSpPr>
        <p:spPr>
          <a:xfrm>
            <a:off x="548640" y="1463040"/>
            <a:ext cx="11064240" cy="566928"/>
          </a:xfrm>
          <a:prstGeom prst="rect">
            <a:avLst/>
          </a:prstGeom>
          <a:noFill/>
        </p:spPr>
        <p:txBody>
          <a:bodyPr wrap="square" lIns="0" tIns="0" rIns="0" bIns="0" anchor="t">
            <a:spAutoFit/>
          </a:bodyPr>
          <a:lstStyle/>
          <a:p>
            <a:pPr algn="l">
              <a:lnSpc>
                <a:spcPct val="112000"/>
              </a:lnSpc>
              <a:spcAft>
                <a:spcPts val="600"/>
              </a:spcAft>
            </a:pPr>
            <a:r>
              <a:rPr sz="1250" b="0">
                <a:solidFill>
                  <a:srgbClr val="212B2B"/>
                </a:solidFill>
                <a:latin typeface="Arial"/>
                <a:ea typeface="微软雅黑"/>
              </a:rPr>
              <a:t>与一般LLM的泛化输出不同，领域Agent集成结构化知识库、专业工具与定量分析模型，打通文献—数据库—实验经验的信息壁垒</a:t>
            </a:r>
          </a:p>
        </p:txBody>
      </p:sp>
      <p:sp>
        <p:nvSpPr>
          <p:cNvPr id="6" name="Rectangle 5"/>
          <p:cNvSpPr/>
          <p:nvPr/>
        </p:nvSpPr>
        <p:spPr>
          <a:xfrm>
            <a:off x="548640" y="2176272"/>
            <a:ext cx="960120" cy="932688"/>
          </a:xfrm>
          <a:prstGeom prst="rect">
            <a:avLst/>
          </a:prstGeom>
          <a:solidFill>
            <a:srgbClr val="0E6E6B"/>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lnSpc>
                <a:spcPct val="110000"/>
              </a:lnSpc>
              <a:spcAft>
                <a:spcPts val="200"/>
              </a:spcAft>
            </a:pPr>
            <a:r>
              <a:rPr sz="1300" b="1">
                <a:solidFill>
                  <a:srgbClr val="FFFFFF"/>
                </a:solidFill>
                <a:latin typeface="Arial"/>
                <a:ea typeface="微软雅黑"/>
              </a:rPr>
              <a:t>环境</a:t>
            </a:r>
          </a:p>
        </p:txBody>
      </p:sp>
      <p:sp>
        <p:nvSpPr>
          <p:cNvPr id="7" name="Rectangle 6"/>
          <p:cNvSpPr/>
          <p:nvPr/>
        </p:nvSpPr>
        <p:spPr>
          <a:xfrm>
            <a:off x="1508760" y="2176272"/>
            <a:ext cx="7223760" cy="932688"/>
          </a:xfrm>
          <a:prstGeom prst="rect">
            <a:avLst/>
          </a:prstGeom>
          <a:solidFill>
            <a:srgbClr val="FFFFFF"/>
          </a:solidFill>
          <a:ln w="9525">
            <a:solidFill>
              <a:srgbClr val="C9D8D6"/>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lnSpc>
                <a:spcPct val="110000"/>
              </a:lnSpc>
              <a:spcAft>
                <a:spcPts val="300"/>
              </a:spcAft>
            </a:pPr>
            <a:r>
              <a:rPr sz="1200" b="0">
                <a:solidFill>
                  <a:srgbClr val="212B2B"/>
                </a:solidFill>
                <a:latin typeface="Arial"/>
                <a:ea typeface="微软雅黑"/>
              </a:rPr>
              <a:t>多智能体LLM框架优化废水处理工艺诊断与运行调控</a:t>
            </a:r>
          </a:p>
          <a:p>
            <a:pPr algn="l">
              <a:lnSpc>
                <a:spcPct val="110000"/>
              </a:lnSpc>
              <a:spcAft>
                <a:spcPts val="300"/>
              </a:spcAft>
            </a:pPr>
            <a:r>
              <a:rPr sz="1000" b="0">
                <a:solidFill>
                  <a:srgbClr val="8A9998"/>
                </a:solidFill>
                <a:latin typeface="Arial"/>
                <a:ea typeface="微软雅黑"/>
              </a:rPr>
              <a:t>Rothfarb et al., 2025</a:t>
            </a:r>
          </a:p>
        </p:txBody>
      </p:sp>
      <p:sp>
        <p:nvSpPr>
          <p:cNvPr id="8" name="Rectangle 7"/>
          <p:cNvSpPr/>
          <p:nvPr/>
        </p:nvSpPr>
        <p:spPr>
          <a:xfrm>
            <a:off x="548640" y="3236976"/>
            <a:ext cx="960120" cy="932688"/>
          </a:xfrm>
          <a:prstGeom prst="rect">
            <a:avLst/>
          </a:prstGeom>
          <a:solidFill>
            <a:srgbClr val="0E6E6B"/>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lnSpc>
                <a:spcPct val="110000"/>
              </a:lnSpc>
              <a:spcAft>
                <a:spcPts val="200"/>
              </a:spcAft>
            </a:pPr>
            <a:r>
              <a:rPr sz="1300" b="1">
                <a:solidFill>
                  <a:srgbClr val="FFFFFF"/>
                </a:solidFill>
                <a:latin typeface="Arial"/>
                <a:ea typeface="微软雅黑"/>
              </a:rPr>
              <a:t>微生物</a:t>
            </a:r>
          </a:p>
        </p:txBody>
      </p:sp>
      <p:sp>
        <p:nvSpPr>
          <p:cNvPr id="9" name="Rectangle 8"/>
          <p:cNvSpPr/>
          <p:nvPr/>
        </p:nvSpPr>
        <p:spPr>
          <a:xfrm>
            <a:off x="1508760" y="3236976"/>
            <a:ext cx="7223760" cy="932688"/>
          </a:xfrm>
          <a:prstGeom prst="rect">
            <a:avLst/>
          </a:prstGeom>
          <a:solidFill>
            <a:srgbClr val="FFFFFF"/>
          </a:solidFill>
          <a:ln w="9525">
            <a:solidFill>
              <a:srgbClr val="C9D8D6"/>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lnSpc>
                <a:spcPct val="110000"/>
              </a:lnSpc>
              <a:spcAft>
                <a:spcPts val="300"/>
              </a:spcAft>
            </a:pPr>
            <a:r>
              <a:rPr sz="1200" b="0">
                <a:solidFill>
                  <a:srgbClr val="212B2B"/>
                </a:solidFill>
                <a:latin typeface="Arial"/>
                <a:ea typeface="微软雅黑"/>
              </a:rPr>
              <a:t>CRISPR-GPT自动设计基因编辑实验；LLM Agent加速蛋白质功能预测</a:t>
            </a:r>
          </a:p>
          <a:p>
            <a:pPr algn="l">
              <a:lnSpc>
                <a:spcPct val="110000"/>
              </a:lnSpc>
              <a:spcAft>
                <a:spcPts val="300"/>
              </a:spcAft>
            </a:pPr>
            <a:r>
              <a:rPr sz="1000" b="0">
                <a:solidFill>
                  <a:srgbClr val="8A9998"/>
                </a:solidFill>
                <a:latin typeface="Arial"/>
                <a:ea typeface="微软雅黑"/>
              </a:rPr>
              <a:t>Qu et al., 2024; Zhapa-Camacho et al., 2025</a:t>
            </a:r>
          </a:p>
        </p:txBody>
      </p:sp>
      <p:sp>
        <p:nvSpPr>
          <p:cNvPr id="10" name="Rectangle 9"/>
          <p:cNvSpPr/>
          <p:nvPr/>
        </p:nvSpPr>
        <p:spPr>
          <a:xfrm>
            <a:off x="548640" y="4297680"/>
            <a:ext cx="960120" cy="932688"/>
          </a:xfrm>
          <a:prstGeom prst="rect">
            <a:avLst/>
          </a:prstGeom>
          <a:solidFill>
            <a:srgbClr val="0E6E6B"/>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lnSpc>
                <a:spcPct val="110000"/>
              </a:lnSpc>
              <a:spcAft>
                <a:spcPts val="200"/>
              </a:spcAft>
            </a:pPr>
            <a:r>
              <a:rPr sz="1300" b="1">
                <a:solidFill>
                  <a:srgbClr val="FFFFFF"/>
                </a:solidFill>
                <a:latin typeface="Arial"/>
                <a:ea typeface="微软雅黑"/>
              </a:rPr>
              <a:t>化学</a:t>
            </a:r>
          </a:p>
        </p:txBody>
      </p:sp>
      <p:sp>
        <p:nvSpPr>
          <p:cNvPr id="11" name="Rectangle 10"/>
          <p:cNvSpPr/>
          <p:nvPr/>
        </p:nvSpPr>
        <p:spPr>
          <a:xfrm>
            <a:off x="1508760" y="4297680"/>
            <a:ext cx="7223760" cy="932688"/>
          </a:xfrm>
          <a:prstGeom prst="rect">
            <a:avLst/>
          </a:prstGeom>
          <a:solidFill>
            <a:srgbClr val="FFFFFF"/>
          </a:solidFill>
          <a:ln w="9525">
            <a:solidFill>
              <a:srgbClr val="C9D8D6"/>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lnSpc>
                <a:spcPct val="110000"/>
              </a:lnSpc>
              <a:spcAft>
                <a:spcPts val="300"/>
              </a:spcAft>
            </a:pPr>
            <a:r>
              <a:rPr sz="1200" b="0">
                <a:solidFill>
                  <a:srgbClr val="212B2B"/>
                </a:solidFill>
                <a:latin typeface="Arial"/>
                <a:ea typeface="微软雅黑"/>
              </a:rPr>
              <a:t>ChemCrow自主规划有机合成并辅助发现新化合物；Coscientist自主设计并执行化学实验</a:t>
            </a:r>
          </a:p>
          <a:p>
            <a:pPr algn="l">
              <a:lnSpc>
                <a:spcPct val="110000"/>
              </a:lnSpc>
              <a:spcAft>
                <a:spcPts val="300"/>
              </a:spcAft>
            </a:pPr>
            <a:r>
              <a:rPr sz="1000" b="0">
                <a:solidFill>
                  <a:srgbClr val="8A9998"/>
                </a:solidFill>
                <a:latin typeface="Arial"/>
                <a:ea typeface="微软雅黑"/>
              </a:rPr>
              <a:t>Bran et al., 2024; Boiko et al., 2023</a:t>
            </a:r>
          </a:p>
        </p:txBody>
      </p:sp>
      <p:sp>
        <p:nvSpPr>
          <p:cNvPr id="12" name="Rectangle 11"/>
          <p:cNvSpPr/>
          <p:nvPr/>
        </p:nvSpPr>
        <p:spPr>
          <a:xfrm>
            <a:off x="9006840" y="2176272"/>
            <a:ext cx="2633472" cy="3163824"/>
          </a:xfrm>
          <a:prstGeom prst="rect">
            <a:avLst/>
          </a:prstGeom>
          <a:solidFill>
            <a:srgbClr val="FAEFE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lnSpc>
                <a:spcPct val="110000"/>
              </a:lnSpc>
              <a:spcAft>
                <a:spcPts val="700"/>
              </a:spcAft>
            </a:pPr>
            <a:r>
              <a:rPr sz="1400" b="1">
                <a:solidFill>
                  <a:srgbClr val="B4560E"/>
                </a:solidFill>
                <a:latin typeface="Arial"/>
                <a:ea typeface="微软雅黑"/>
              </a:rPr>
              <a:t>仍属空白</a:t>
            </a:r>
          </a:p>
          <a:p>
            <a:pPr algn="l">
              <a:lnSpc>
                <a:spcPct val="110000"/>
              </a:lnSpc>
              <a:spcAft>
                <a:spcPts val="700"/>
              </a:spcAft>
            </a:pPr>
            <a:r>
              <a:rPr sz="1250" b="0">
                <a:solidFill>
                  <a:srgbClr val="212B2B"/>
                </a:solidFill>
                <a:latin typeface="Arial"/>
                <a:ea typeface="微软雅黑"/>
              </a:rPr>
              <a:t>微生物抗逆资源挖掘</a:t>
            </a:r>
          </a:p>
          <a:p>
            <a:pPr algn="l">
              <a:lnSpc>
                <a:spcPct val="110000"/>
              </a:lnSpc>
              <a:spcAft>
                <a:spcPts val="700"/>
              </a:spcAft>
            </a:pPr>
            <a:r>
              <a:rPr sz="1250" b="0">
                <a:solidFill>
                  <a:srgbClr val="212B2B"/>
                </a:solidFill>
                <a:latin typeface="Arial"/>
                <a:ea typeface="微软雅黑"/>
              </a:rPr>
              <a:t>产相容性溶质功能菌定向筛选</a:t>
            </a:r>
          </a:p>
          <a:p>
            <a:pPr algn="l">
              <a:lnSpc>
                <a:spcPct val="110000"/>
              </a:lnSpc>
              <a:spcAft>
                <a:spcPts val="700"/>
              </a:spcAft>
            </a:pPr>
            <a:r>
              <a:rPr sz="1250" b="0">
                <a:solidFill>
                  <a:srgbClr val="212B2B"/>
                </a:solidFill>
                <a:latin typeface="Arial"/>
                <a:ea typeface="微软雅黑"/>
              </a:rPr>
              <a:t>环境生物处理应用</a:t>
            </a:r>
          </a:p>
          <a:p>
            <a:pPr algn="l">
              <a:lnSpc>
                <a:spcPct val="110000"/>
              </a:lnSpc>
              <a:spcAft>
                <a:spcPts val="700"/>
              </a:spcAft>
            </a:pPr>
            <a:r>
              <a:rPr sz="1300" b="1">
                <a:solidFill>
                  <a:srgbClr val="0A4F4D"/>
                </a:solidFill>
                <a:latin typeface="Arial"/>
                <a:ea typeface="微软雅黑"/>
              </a:rPr>
              <a:t>→ 本研究切入点</a:t>
            </a:r>
          </a:p>
        </p:txBody>
      </p:sp>
      <p:sp>
        <p:nvSpPr>
          <p:cNvPr id="13" name="TextBox 12"/>
          <p:cNvSpPr txBox="1"/>
          <p:nvPr/>
        </p:nvSpPr>
        <p:spPr>
          <a:xfrm>
            <a:off x="548640" y="5806440"/>
            <a:ext cx="11064240" cy="365760"/>
          </a:xfrm>
          <a:prstGeom prst="rect">
            <a:avLst/>
          </a:prstGeom>
          <a:noFill/>
        </p:spPr>
        <p:txBody>
          <a:bodyPr wrap="square" lIns="0" tIns="0" rIns="0" bIns="0" anchor="t">
            <a:spAutoFit/>
          </a:bodyPr>
          <a:lstStyle/>
          <a:p>
            <a:pPr algn="l">
              <a:lnSpc>
                <a:spcPct val="112000"/>
              </a:lnSpc>
              <a:spcAft>
                <a:spcPts val="600"/>
              </a:spcAft>
            </a:pPr>
            <a:r>
              <a:rPr sz="950" b="0">
                <a:solidFill>
                  <a:srgbClr val="8A9998"/>
                </a:solidFill>
                <a:latin typeface="Arial"/>
                <a:ea typeface="微软雅黑"/>
              </a:rPr>
              <a:t>上述文献均经Crossref核验；与本研究直接相关的Agent应用尚无已发表工作</a:t>
            </a:r>
          </a:p>
        </p:txBody>
      </p:sp>
      <p:sp>
        <p:nvSpPr>
          <p:cNvPr id="14" name="TextBox 13"/>
          <p:cNvSpPr txBox="1"/>
          <p:nvPr/>
        </p:nvSpPr>
        <p:spPr>
          <a:xfrm>
            <a:off x="548640" y="6419088"/>
            <a:ext cx="11064240" cy="274320"/>
          </a:xfrm>
          <a:prstGeom prst="rect">
            <a:avLst/>
          </a:prstGeom>
          <a:noFill/>
        </p:spPr>
        <p:txBody>
          <a:bodyPr wrap="square" lIns="0" tIns="0" rIns="0" bIns="0" anchor="t">
            <a:spAutoFit/>
          </a:bodyPr>
          <a:lstStyle/>
          <a:p>
            <a:pPr algn="l">
              <a:lnSpc>
                <a:spcPct val="112000"/>
              </a:lnSpc>
              <a:spcAft>
                <a:spcPts val="600"/>
              </a:spcAft>
            </a:pPr>
            <a:r>
              <a:rPr sz="900" b="0">
                <a:solidFill>
                  <a:srgbClr val="8A9998"/>
                </a:solidFill>
                <a:latin typeface="Arial"/>
                <a:ea typeface="微软雅黑"/>
              </a:rPr>
              <a:t>来源：本研究引言第三段</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endParaRPr/>
          </a:p>
        </p:txBody>
      </p:sp>
      <p:sp>
        <p:nvSpPr>
          <p:cNvPr id="3" name="TextBox 2"/>
          <p:cNvSpPr txBox="1"/>
          <p:nvPr/>
        </p:nvSpPr>
        <p:spPr>
          <a:xfrm>
            <a:off x="548640" y="347472"/>
            <a:ext cx="11091672" cy="868680"/>
          </a:xfrm>
          <a:prstGeom prst="rect">
            <a:avLst/>
          </a:prstGeom>
          <a:noFill/>
        </p:spPr>
        <p:txBody>
          <a:bodyPr wrap="square" lIns="0" tIns="0" rIns="0" bIns="0" anchor="t">
            <a:spAutoFit/>
          </a:bodyPr>
          <a:lstStyle/>
          <a:p>
            <a:pPr algn="l">
              <a:lnSpc>
                <a:spcPct val="105000"/>
              </a:lnSpc>
              <a:spcAft>
                <a:spcPts val="600"/>
              </a:spcAft>
            </a:pPr>
            <a:r>
              <a:rPr sz="2300" b="1">
                <a:solidFill>
                  <a:srgbClr val="212B2B"/>
                </a:solidFill>
                <a:latin typeface="Arial"/>
                <a:ea typeface="微软雅黑"/>
              </a:rPr>
              <a:t>本研究：以分类文献库与极端微生物组为底座的领域Agent，贯通筛选与实证</a:t>
            </a:r>
          </a:p>
        </p:txBody>
      </p:sp>
      <p:sp>
        <p:nvSpPr>
          <p:cNvPr id="4" name="Rectangle 3"/>
          <p:cNvSpPr/>
          <p:nvPr/>
        </p:nvSpPr>
        <p:spPr>
          <a:xfrm>
            <a:off x="566928" y="1152144"/>
            <a:ext cx="502920" cy="45720"/>
          </a:xfrm>
          <a:prstGeom prst="rect">
            <a:avLst/>
          </a:prstGeom>
          <a:solidFill>
            <a:srgbClr val="0E6E6B"/>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endParaRPr/>
          </a:p>
        </p:txBody>
      </p:sp>
      <p:sp>
        <p:nvSpPr>
          <p:cNvPr id="5" name="TextBox 4"/>
          <p:cNvSpPr txBox="1"/>
          <p:nvPr/>
        </p:nvSpPr>
        <p:spPr>
          <a:xfrm>
            <a:off x="548640" y="1444752"/>
            <a:ext cx="2743200" cy="274320"/>
          </a:xfrm>
          <a:prstGeom prst="rect">
            <a:avLst/>
          </a:prstGeom>
          <a:noFill/>
        </p:spPr>
        <p:txBody>
          <a:bodyPr wrap="square" lIns="0" tIns="0" rIns="0" bIns="0" anchor="t">
            <a:spAutoFit/>
          </a:bodyPr>
          <a:lstStyle/>
          <a:p>
            <a:pPr algn="l">
              <a:lnSpc>
                <a:spcPct val="112000"/>
              </a:lnSpc>
              <a:spcAft>
                <a:spcPts val="600"/>
              </a:spcAft>
            </a:pPr>
            <a:r>
              <a:rPr sz="1200" b="1">
                <a:solidFill>
                  <a:srgbClr val="0E6E6B"/>
                </a:solidFill>
                <a:latin typeface="Arial"/>
                <a:ea typeface="微软雅黑"/>
              </a:rPr>
              <a:t>系统底座</a:t>
            </a:r>
          </a:p>
        </p:txBody>
      </p:sp>
      <p:sp>
        <p:nvSpPr>
          <p:cNvPr id="6" name="Rectangle 5"/>
          <p:cNvSpPr/>
          <p:nvPr/>
        </p:nvSpPr>
        <p:spPr>
          <a:xfrm>
            <a:off x="548640" y="1755648"/>
            <a:ext cx="3063240" cy="713232"/>
          </a:xfrm>
          <a:prstGeom prst="rect">
            <a:avLst/>
          </a:prstGeom>
          <a:solidFill>
            <a:srgbClr val="EAF2F1"/>
          </a:solidFill>
          <a:ln w="9525">
            <a:solidFill>
              <a:srgbClr val="C9D8D6"/>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lnSpc>
                <a:spcPct val="110000"/>
              </a:lnSpc>
              <a:spcAft>
                <a:spcPts val="0"/>
              </a:spcAft>
            </a:pPr>
            <a:r>
              <a:rPr sz="1050" b="0">
                <a:solidFill>
                  <a:srgbClr val="212B2B"/>
                </a:solidFill>
                <a:latin typeface="Arial"/>
                <a:ea typeface="微软雅黑"/>
              </a:rPr>
              <a:t>4300余篇相容性溶质文献知识库（按胁迫类型分类）</a:t>
            </a:r>
          </a:p>
        </p:txBody>
      </p:sp>
      <p:sp>
        <p:nvSpPr>
          <p:cNvPr id="7" name="Rectangle 6"/>
          <p:cNvSpPr/>
          <p:nvPr/>
        </p:nvSpPr>
        <p:spPr>
          <a:xfrm>
            <a:off x="548640" y="2578608"/>
            <a:ext cx="3063240" cy="713232"/>
          </a:xfrm>
          <a:prstGeom prst="rect">
            <a:avLst/>
          </a:prstGeom>
          <a:solidFill>
            <a:srgbClr val="EAF2F1"/>
          </a:solidFill>
          <a:ln w="9525">
            <a:solidFill>
              <a:srgbClr val="C9D8D6"/>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lnSpc>
                <a:spcPct val="110000"/>
              </a:lnSpc>
              <a:spcAft>
                <a:spcPts val="0"/>
              </a:spcAft>
            </a:pPr>
            <a:r>
              <a:rPr sz="1050" b="0">
                <a:solidFill>
                  <a:srgbClr val="212B2B"/>
                </a:solidFill>
                <a:latin typeface="Arial"/>
                <a:ea typeface="微软雅黑"/>
              </a:rPr>
              <a:t>极端环境微生物组数据集</a:t>
            </a:r>
          </a:p>
        </p:txBody>
      </p:sp>
      <p:sp>
        <p:nvSpPr>
          <p:cNvPr id="8" name="Rectangle 7"/>
          <p:cNvSpPr/>
          <p:nvPr/>
        </p:nvSpPr>
        <p:spPr>
          <a:xfrm>
            <a:off x="548640" y="3401568"/>
            <a:ext cx="3063240" cy="713232"/>
          </a:xfrm>
          <a:prstGeom prst="rect">
            <a:avLst/>
          </a:prstGeom>
          <a:solidFill>
            <a:srgbClr val="EAF2F1"/>
          </a:solidFill>
          <a:ln w="9525">
            <a:solidFill>
              <a:srgbClr val="C9D8D6"/>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lnSpc>
                <a:spcPct val="110000"/>
              </a:lnSpc>
              <a:spcAft>
                <a:spcPts val="0"/>
              </a:spcAft>
            </a:pPr>
            <a:r>
              <a:rPr sz="1050" b="0">
                <a:solidFill>
                  <a:srgbClr val="212B2B"/>
                </a:solidFill>
                <a:latin typeface="Arial"/>
                <a:ea typeface="微软雅黑"/>
              </a:rPr>
              <a:t>定量功能互作分析模型</a:t>
            </a:r>
          </a:p>
        </p:txBody>
      </p:sp>
      <p:sp>
        <p:nvSpPr>
          <p:cNvPr id="9" name="Right Arrow 8"/>
          <p:cNvSpPr/>
          <p:nvPr/>
        </p:nvSpPr>
        <p:spPr>
          <a:xfrm>
            <a:off x="3675887" y="2880360"/>
            <a:ext cx="457200" cy="310896"/>
          </a:xfrm>
          <a:prstGeom prst="rightArrow">
            <a:avLst/>
          </a:prstGeom>
          <a:solidFill>
            <a:srgbClr val="0E6E6B"/>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endParaRPr/>
          </a:p>
        </p:txBody>
      </p:sp>
      <p:sp>
        <p:nvSpPr>
          <p:cNvPr id="10" name="Rectangle 9"/>
          <p:cNvSpPr/>
          <p:nvPr/>
        </p:nvSpPr>
        <p:spPr>
          <a:xfrm>
            <a:off x="4224528" y="1755648"/>
            <a:ext cx="2834640" cy="2606040"/>
          </a:xfrm>
          <a:prstGeom prst="rect">
            <a:avLst/>
          </a:prstGeom>
          <a:solidFill>
            <a:srgbClr val="0E6E6B"/>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lnSpc>
                <a:spcPct val="110000"/>
              </a:lnSpc>
              <a:spcAft>
                <a:spcPts val="800"/>
              </a:spcAft>
            </a:pPr>
            <a:r>
              <a:rPr sz="1500" b="1">
                <a:solidFill>
                  <a:srgbClr val="FFFFFF"/>
                </a:solidFill>
                <a:latin typeface="Arial"/>
                <a:ea typeface="微软雅黑"/>
              </a:rPr>
              <a:t>领域智能Agent</a:t>
            </a:r>
          </a:p>
          <a:p>
            <a:pPr algn="ctr">
              <a:lnSpc>
                <a:spcPct val="110000"/>
              </a:lnSpc>
              <a:spcAft>
                <a:spcPts val="800"/>
              </a:spcAft>
            </a:pPr>
            <a:r>
              <a:rPr sz="1200" b="0">
                <a:solidFill>
                  <a:srgbClr val="FFFFFF"/>
                </a:solidFill>
                <a:latin typeface="Arial"/>
                <a:ea typeface="微软雅黑"/>
              </a:rPr>
              <a:t>目标菌株胁迫适应分析</a:t>
            </a:r>
          </a:p>
          <a:p>
            <a:pPr algn="ctr">
              <a:lnSpc>
                <a:spcPct val="110000"/>
              </a:lnSpc>
              <a:spcAft>
                <a:spcPts val="800"/>
              </a:spcAft>
            </a:pPr>
            <a:r>
              <a:rPr sz="1200" b="0">
                <a:solidFill>
                  <a:srgbClr val="FFFFFF"/>
                </a:solidFill>
                <a:latin typeface="Arial"/>
                <a:ea typeface="微软雅黑"/>
              </a:rPr>
              <a:t>群落功能互作推断</a:t>
            </a:r>
          </a:p>
          <a:p>
            <a:pPr algn="ctr">
              <a:lnSpc>
                <a:spcPct val="110000"/>
              </a:lnSpc>
              <a:spcAft>
                <a:spcPts val="800"/>
              </a:spcAft>
            </a:pPr>
            <a:r>
              <a:rPr sz="1200" b="0">
                <a:solidFill>
                  <a:srgbClr val="FFFFFF"/>
                </a:solidFill>
                <a:latin typeface="Arial"/>
                <a:ea typeface="微软雅黑"/>
              </a:rPr>
              <a:t>调控方案优化</a:t>
            </a:r>
          </a:p>
        </p:txBody>
      </p:sp>
      <p:sp>
        <p:nvSpPr>
          <p:cNvPr id="11" name="Right Arrow 10"/>
          <p:cNvSpPr/>
          <p:nvPr/>
        </p:nvSpPr>
        <p:spPr>
          <a:xfrm>
            <a:off x="7150608" y="2880360"/>
            <a:ext cx="457200" cy="310896"/>
          </a:xfrm>
          <a:prstGeom prst="rightArrow">
            <a:avLst/>
          </a:prstGeom>
          <a:solidFill>
            <a:srgbClr val="0E6E6B"/>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endParaRPr/>
          </a:p>
        </p:txBody>
      </p:sp>
      <p:sp>
        <p:nvSpPr>
          <p:cNvPr id="12" name="TextBox 11"/>
          <p:cNvSpPr txBox="1"/>
          <p:nvPr/>
        </p:nvSpPr>
        <p:spPr>
          <a:xfrm>
            <a:off x="7754112" y="1444752"/>
            <a:ext cx="3840480" cy="274320"/>
          </a:xfrm>
          <a:prstGeom prst="rect">
            <a:avLst/>
          </a:prstGeom>
          <a:noFill/>
        </p:spPr>
        <p:txBody>
          <a:bodyPr wrap="square" lIns="0" tIns="0" rIns="0" bIns="0" anchor="t">
            <a:spAutoFit/>
          </a:bodyPr>
          <a:lstStyle/>
          <a:p>
            <a:pPr algn="l">
              <a:lnSpc>
                <a:spcPct val="112000"/>
              </a:lnSpc>
              <a:spcAft>
                <a:spcPts val="600"/>
              </a:spcAft>
            </a:pPr>
            <a:r>
              <a:rPr sz="1200" b="1">
                <a:solidFill>
                  <a:srgbClr val="0E6E6B"/>
                </a:solidFill>
                <a:latin typeface="Arial"/>
                <a:ea typeface="微软雅黑"/>
              </a:rPr>
              <a:t>面向场景需求输出</a:t>
            </a:r>
          </a:p>
        </p:txBody>
      </p:sp>
      <p:sp>
        <p:nvSpPr>
          <p:cNvPr id="13" name="Rectangle 12"/>
          <p:cNvSpPr/>
          <p:nvPr/>
        </p:nvSpPr>
        <p:spPr>
          <a:xfrm>
            <a:off x="7754112" y="1755648"/>
            <a:ext cx="3886200" cy="713232"/>
          </a:xfrm>
          <a:prstGeom prst="rect">
            <a:avLst/>
          </a:prstGeom>
          <a:solidFill>
            <a:srgbClr val="FFFFFF"/>
          </a:solidFill>
          <a:ln w="9525">
            <a:solidFill>
              <a:srgbClr val="0E6E6B"/>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lnSpc>
                <a:spcPct val="110000"/>
              </a:lnSpc>
              <a:spcAft>
                <a:spcPts val="200"/>
              </a:spcAft>
            </a:pPr>
            <a:r>
              <a:rPr sz="1200" b="1">
                <a:solidFill>
                  <a:srgbClr val="0A4F4D"/>
                </a:solidFill>
                <a:latin typeface="Arial"/>
                <a:ea typeface="微软雅黑"/>
              </a:rPr>
              <a:t>目标功能菌株智能筛选</a:t>
            </a:r>
          </a:p>
        </p:txBody>
      </p:sp>
      <p:sp>
        <p:nvSpPr>
          <p:cNvPr id="14" name="Rectangle 13"/>
          <p:cNvSpPr/>
          <p:nvPr/>
        </p:nvSpPr>
        <p:spPr>
          <a:xfrm>
            <a:off x="7754112" y="2578608"/>
            <a:ext cx="3886200" cy="713232"/>
          </a:xfrm>
          <a:prstGeom prst="rect">
            <a:avLst/>
          </a:prstGeom>
          <a:solidFill>
            <a:srgbClr val="FFFFFF"/>
          </a:solidFill>
          <a:ln w="9525">
            <a:solidFill>
              <a:srgbClr val="0E6E6B"/>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lnSpc>
                <a:spcPct val="110000"/>
              </a:lnSpc>
              <a:spcAft>
                <a:spcPts val="200"/>
              </a:spcAft>
            </a:pPr>
            <a:r>
              <a:rPr sz="1200" b="1">
                <a:solidFill>
                  <a:srgbClr val="0A4F4D"/>
                </a:solidFill>
                <a:latin typeface="Arial"/>
                <a:ea typeface="微软雅黑"/>
              </a:rPr>
              <a:t>调控策略性能预评估</a:t>
            </a:r>
          </a:p>
        </p:txBody>
      </p:sp>
      <p:sp>
        <p:nvSpPr>
          <p:cNvPr id="15" name="Rectangle 14"/>
          <p:cNvSpPr/>
          <p:nvPr/>
        </p:nvSpPr>
        <p:spPr>
          <a:xfrm>
            <a:off x="7754112" y="3401568"/>
            <a:ext cx="3886200" cy="713232"/>
          </a:xfrm>
          <a:prstGeom prst="rect">
            <a:avLst/>
          </a:prstGeom>
          <a:solidFill>
            <a:srgbClr val="FFFFFF"/>
          </a:solidFill>
          <a:ln w="9525">
            <a:solidFill>
              <a:srgbClr val="0E6E6B"/>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lnSpc>
                <a:spcPct val="110000"/>
              </a:lnSpc>
              <a:spcAft>
                <a:spcPts val="200"/>
              </a:spcAft>
            </a:pPr>
            <a:r>
              <a:rPr sz="1200" b="1">
                <a:solidFill>
                  <a:srgbClr val="0A4F4D"/>
                </a:solidFill>
                <a:latin typeface="Arial"/>
                <a:ea typeface="微软雅黑"/>
              </a:rPr>
              <a:t>可部署的生物强化方案</a:t>
            </a:r>
          </a:p>
        </p:txBody>
      </p:sp>
      <p:sp>
        <p:nvSpPr>
          <p:cNvPr id="16" name="Down Arrow 15"/>
          <p:cNvSpPr/>
          <p:nvPr/>
        </p:nvSpPr>
        <p:spPr>
          <a:xfrm>
            <a:off x="9464040" y="4224528"/>
            <a:ext cx="310896" cy="384048"/>
          </a:xfrm>
          <a:prstGeom prst="downArrow">
            <a:avLst/>
          </a:prstGeom>
          <a:solidFill>
            <a:srgbClr val="0E6E6B"/>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endParaRPr/>
          </a:p>
        </p:txBody>
      </p:sp>
      <p:sp>
        <p:nvSpPr>
          <p:cNvPr id="17" name="Rectangle 16"/>
          <p:cNvSpPr/>
          <p:nvPr/>
        </p:nvSpPr>
        <p:spPr>
          <a:xfrm>
            <a:off x="548640" y="4681728"/>
            <a:ext cx="11091672" cy="969264"/>
          </a:xfrm>
          <a:prstGeom prst="rect">
            <a:avLst/>
          </a:prstGeom>
          <a:solidFill>
            <a:srgbClr val="EAF2F1"/>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lnSpc>
                <a:spcPct val="110000"/>
              </a:lnSpc>
              <a:spcAft>
                <a:spcPts val="0"/>
              </a:spcAft>
            </a:pPr>
            <a:r>
              <a:rPr sz="1300" b="1">
                <a:solidFill>
                  <a:srgbClr val="0A4F4D"/>
                </a:solidFill>
                <a:latin typeface="Arial"/>
                <a:ea typeface="微软雅黑"/>
              </a:rPr>
              <a:t>实证验证：anammox体系盐度胁迫实验</a:t>
            </a:r>
            <a:r>
              <a:rPr sz="1200" b="0">
                <a:solidFill>
                  <a:srgbClr val="212B2B"/>
                </a:solidFill>
                <a:latin typeface="Arial"/>
                <a:ea typeface="微软雅黑"/>
              </a:rPr>
              <a:t>　系统脱氮性能变化 → 群落结构演替 → 分子水平功能互作机制，逐层定量解析</a:t>
            </a:r>
          </a:p>
        </p:txBody>
      </p:sp>
      <p:sp>
        <p:nvSpPr>
          <p:cNvPr id="18" name="Rectangle 17"/>
          <p:cNvSpPr/>
          <p:nvPr/>
        </p:nvSpPr>
        <p:spPr>
          <a:xfrm>
            <a:off x="548640" y="5870448"/>
            <a:ext cx="11091672" cy="4754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lnSpc>
                <a:spcPct val="110000"/>
              </a:lnSpc>
              <a:spcAft>
                <a:spcPts val="200"/>
              </a:spcAft>
            </a:pPr>
            <a:r>
              <a:rPr sz="1300" b="1">
                <a:solidFill>
                  <a:srgbClr val="212B2B"/>
                </a:solidFill>
                <a:latin typeface="Arial"/>
                <a:ea typeface="微软雅黑"/>
              </a:rPr>
              <a:t>为复杂胁迫环境下工程微生物系统的性能强化提供可部署、跨场景可复用的技术路径</a:t>
            </a:r>
          </a:p>
        </p:txBody>
      </p:sp>
      <p:sp>
        <p:nvSpPr>
          <p:cNvPr id="19" name="TextBox 18"/>
          <p:cNvSpPr txBox="1"/>
          <p:nvPr/>
        </p:nvSpPr>
        <p:spPr>
          <a:xfrm>
            <a:off x="548640" y="6419088"/>
            <a:ext cx="11064240" cy="274320"/>
          </a:xfrm>
          <a:prstGeom prst="rect">
            <a:avLst/>
          </a:prstGeom>
          <a:noFill/>
        </p:spPr>
        <p:txBody>
          <a:bodyPr wrap="square" lIns="0" tIns="0" rIns="0" bIns="0" anchor="t">
            <a:spAutoFit/>
          </a:bodyPr>
          <a:lstStyle/>
          <a:p>
            <a:pPr algn="l">
              <a:lnSpc>
                <a:spcPct val="112000"/>
              </a:lnSpc>
              <a:spcAft>
                <a:spcPts val="600"/>
              </a:spcAft>
            </a:pPr>
            <a:r>
              <a:rPr sz="900" b="0">
                <a:solidFill>
                  <a:srgbClr val="8A9998"/>
                </a:solidFill>
                <a:latin typeface="Arial"/>
                <a:ea typeface="微软雅黑"/>
              </a:rPr>
              <a:t>来源：本研究引言第四段</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B57C72FA-EA89-3226-9211-09B42BC3BBBB}"/>
              </a:ext>
            </a:extLst>
          </p:cNvPr>
          <p:cNvSpPr txBox="1"/>
          <p:nvPr/>
        </p:nvSpPr>
        <p:spPr>
          <a:xfrm>
            <a:off x="515007" y="557049"/>
            <a:ext cx="9756391" cy="1754326"/>
          </a:xfrm>
          <a:prstGeom prst="rect">
            <a:avLst/>
          </a:prstGeom>
          <a:noFill/>
        </p:spPr>
        <p:txBody>
          <a:bodyPr wrap="square" rtlCol="0">
            <a:spAutoFit/>
          </a:bodyPr>
          <a:lstStyle/>
          <a:p>
            <a:r>
              <a:rPr kumimoji="1" lang="en-US" altLang="zh-CN" dirty="0"/>
              <a:t>1.</a:t>
            </a:r>
            <a:r>
              <a:rPr kumimoji="1" lang="zh-CN" altLang="en-US" dirty="0"/>
              <a:t>分菌基因组进行功能注释，解释用户想要直接利用某种微生物进行环境修复和资源化；</a:t>
            </a:r>
            <a:endParaRPr kumimoji="1" lang="en-US" altLang="zh-CN" dirty="0"/>
          </a:p>
          <a:p>
            <a:r>
              <a:rPr kumimoji="1" lang="en-US" altLang="zh-CN" dirty="0"/>
              <a:t>2.</a:t>
            </a:r>
            <a:r>
              <a:rPr kumimoji="1" lang="zh-CN" altLang="en-US" dirty="0"/>
              <a:t>对西北盐湖底泥样本中的耐盐微生物进行功能注释及物种注释等，解释如何使用现有样本进行环境修复和资源化；</a:t>
            </a:r>
            <a:endParaRPr kumimoji="1" lang="en-US" altLang="zh-CN" dirty="0"/>
          </a:p>
          <a:p>
            <a:r>
              <a:rPr kumimoji="1" lang="en-US" altLang="zh-CN" dirty="0"/>
              <a:t>3.</a:t>
            </a:r>
            <a:r>
              <a:rPr kumimoji="1" lang="zh-CN" altLang="en-US" dirty="0"/>
              <a:t>对西北盐湖底泥样本中的耐盐微生物进行功能注释及物种注释等，解释如何使用现有样本强化目前的人工体系从而进行高效的环境修复和资源化；</a:t>
            </a:r>
            <a:endParaRPr kumimoji="1" lang="en-US" altLang="zh-CN" dirty="0"/>
          </a:p>
          <a:p>
            <a:endParaRPr kumimoji="1" lang="en-US" altLang="zh-CN" dirty="0"/>
          </a:p>
        </p:txBody>
      </p:sp>
      <p:sp>
        <p:nvSpPr>
          <p:cNvPr id="3" name="文本框 2">
            <a:extLst>
              <a:ext uri="{FF2B5EF4-FFF2-40B4-BE49-F238E27FC236}">
                <a16:creationId xmlns:a16="http://schemas.microsoft.com/office/drawing/2014/main" id="{5A663F21-9419-0138-E0AC-4CBE18EC4106}"/>
              </a:ext>
            </a:extLst>
          </p:cNvPr>
          <p:cNvSpPr txBox="1"/>
          <p:nvPr/>
        </p:nvSpPr>
        <p:spPr>
          <a:xfrm>
            <a:off x="268014" y="2554014"/>
            <a:ext cx="11655972" cy="4192110"/>
          </a:xfrm>
          <a:prstGeom prst="rect">
            <a:avLst/>
          </a:prstGeom>
          <a:noFill/>
        </p:spPr>
        <p:txBody>
          <a:bodyPr wrap="square">
            <a:spAutoFit/>
          </a:bodyPr>
          <a:lstStyle/>
          <a:p>
            <a:pPr algn="l">
              <a:lnSpc>
                <a:spcPts val="2250"/>
              </a:lnSpc>
              <a:buNone/>
            </a:pPr>
            <a:r>
              <a:rPr lang="en-US" altLang="zh-CN" b="1" i="0" dirty="0">
                <a:solidFill>
                  <a:srgbClr val="333333"/>
                </a:solidFill>
                <a:effectLst/>
                <a:latin typeface="PingFang SC" panose="020B0400000000000000" pitchFamily="34" charset="-122"/>
                <a:ea typeface="PingFang SC" panose="020B0400000000000000" pitchFamily="34" charset="-122"/>
              </a:rPr>
              <a:t>1. </a:t>
            </a:r>
            <a:r>
              <a:rPr lang="zh-CN" altLang="en-US" b="1" i="0" dirty="0">
                <a:solidFill>
                  <a:srgbClr val="333333"/>
                </a:solidFill>
                <a:effectLst/>
                <a:latin typeface="PingFang SC" panose="020B0400000000000000" pitchFamily="34" charset="-122"/>
                <a:ea typeface="PingFang SC" panose="020B0400000000000000" pitchFamily="34" charset="-122"/>
              </a:rPr>
              <a:t>单分离菌株基因组功能注释：直接靶向环境修复与资源化</a:t>
            </a:r>
          </a:p>
          <a:p>
            <a:pPr algn="l">
              <a:lnSpc>
                <a:spcPts val="2100"/>
              </a:lnSpc>
              <a:buNone/>
            </a:pPr>
            <a:r>
              <a:rPr lang="zh-CN" altLang="en-US" b="0" i="0" dirty="0">
                <a:solidFill>
                  <a:srgbClr val="333333"/>
                </a:solidFill>
                <a:effectLst/>
                <a:latin typeface="PingFang SC" panose="020B0400000000000000" pitchFamily="34" charset="-122"/>
                <a:ea typeface="PingFang SC" panose="020B0400000000000000" pitchFamily="34" charset="-122"/>
              </a:rPr>
              <a:t>这是从“纯菌株分子特征”到“定向应用”的精准落地路径，核心是通过基因组注释把菌株的抗逆、降解、合成功能完全拆解，直接匹配对应的环境场景：</a:t>
            </a:r>
          </a:p>
          <a:p>
            <a:pPr algn="l">
              <a:lnSpc>
                <a:spcPts val="2100"/>
              </a:lnSpc>
              <a:buFont typeface="Arial" panose="020B0604020202020204" pitchFamily="34" charset="0"/>
              <a:buChar char="•"/>
            </a:pPr>
            <a:r>
              <a:rPr lang="zh-CN" altLang="en-US" b="0" i="0" dirty="0">
                <a:solidFill>
                  <a:srgbClr val="333333"/>
                </a:solidFill>
                <a:effectLst/>
                <a:latin typeface="PingFang SC" panose="020B0400000000000000" pitchFamily="34" charset="-122"/>
                <a:ea typeface="PingFang SC" panose="020B0400000000000000" pitchFamily="34" charset="-122"/>
              </a:rPr>
              <a:t>‌</a:t>
            </a:r>
            <a:r>
              <a:rPr lang="zh-CN" altLang="en-US" b="1" i="0" dirty="0">
                <a:solidFill>
                  <a:srgbClr val="333333"/>
                </a:solidFill>
                <a:effectLst/>
                <a:latin typeface="PingFang SC" panose="020B0400000000000000" pitchFamily="34" charset="-122"/>
                <a:ea typeface="PingFang SC" panose="020B0400000000000000" pitchFamily="34" charset="-122"/>
              </a:rPr>
              <a:t>基础注释体系</a:t>
            </a:r>
            <a:r>
              <a:rPr lang="zh-CN" altLang="en-US" b="0" i="0" dirty="0">
                <a:solidFill>
                  <a:srgbClr val="333333"/>
                </a:solidFill>
                <a:effectLst/>
                <a:latin typeface="PingFang SC" panose="020B0400000000000000" pitchFamily="34" charset="-122"/>
                <a:ea typeface="PingFang SC" panose="020B0400000000000000" pitchFamily="34" charset="-122"/>
              </a:rPr>
              <a:t>‌：依托</a:t>
            </a:r>
            <a:r>
              <a:rPr lang="en" altLang="zh-CN" b="0" i="0" dirty="0">
                <a:solidFill>
                  <a:srgbClr val="333333"/>
                </a:solidFill>
                <a:effectLst/>
                <a:latin typeface="PingFang SC" panose="020B0400000000000000" pitchFamily="34" charset="-122"/>
                <a:ea typeface="PingFang SC" panose="020B0400000000000000" pitchFamily="34" charset="-122"/>
              </a:rPr>
              <a:t>NR</a:t>
            </a:r>
            <a:r>
              <a:rPr lang="zh-CN" altLang="en" b="0" i="0" dirty="0">
                <a:solidFill>
                  <a:srgbClr val="333333"/>
                </a:solidFill>
                <a:effectLst/>
                <a:latin typeface="PingFang SC" panose="020B0400000000000000" pitchFamily="34" charset="-122"/>
                <a:ea typeface="PingFang SC" panose="020B0400000000000000" pitchFamily="34" charset="-122"/>
              </a:rPr>
              <a:t>、</a:t>
            </a:r>
            <a:r>
              <a:rPr lang="en" altLang="zh-CN" b="0" i="0" dirty="0" err="1">
                <a:solidFill>
                  <a:srgbClr val="333333"/>
                </a:solidFill>
                <a:effectLst/>
                <a:latin typeface="PingFang SC" panose="020B0400000000000000" pitchFamily="34" charset="-122"/>
                <a:ea typeface="PingFang SC" panose="020B0400000000000000" pitchFamily="34" charset="-122"/>
              </a:rPr>
              <a:t>SwissProt</a:t>
            </a:r>
            <a:r>
              <a:rPr lang="zh-CN" altLang="en" b="0" i="0" dirty="0">
                <a:solidFill>
                  <a:srgbClr val="333333"/>
                </a:solidFill>
                <a:effectLst/>
                <a:latin typeface="PingFang SC" panose="020B0400000000000000" pitchFamily="34" charset="-122"/>
                <a:ea typeface="PingFang SC" panose="020B0400000000000000" pitchFamily="34" charset="-122"/>
              </a:rPr>
              <a:t>、</a:t>
            </a:r>
            <a:r>
              <a:rPr lang="en" altLang="zh-CN" b="0" i="0" dirty="0">
                <a:solidFill>
                  <a:srgbClr val="333333"/>
                </a:solidFill>
                <a:effectLst/>
                <a:latin typeface="PingFang SC" panose="020B0400000000000000" pitchFamily="34" charset="-122"/>
                <a:ea typeface="PingFang SC" panose="020B0400000000000000" pitchFamily="34" charset="-122"/>
              </a:rPr>
              <a:t>GO</a:t>
            </a:r>
            <a:r>
              <a:rPr lang="zh-CN" altLang="en" b="0" i="0" dirty="0">
                <a:solidFill>
                  <a:srgbClr val="333333"/>
                </a:solidFill>
                <a:effectLst/>
                <a:latin typeface="PingFang SC" panose="020B0400000000000000" pitchFamily="34" charset="-122"/>
                <a:ea typeface="PingFang SC" panose="020B0400000000000000" pitchFamily="34" charset="-122"/>
              </a:rPr>
              <a:t>、</a:t>
            </a:r>
            <a:r>
              <a:rPr lang="en" altLang="zh-CN" b="0" i="0" dirty="0">
                <a:solidFill>
                  <a:srgbClr val="333333"/>
                </a:solidFill>
                <a:effectLst/>
                <a:latin typeface="PingFang SC" panose="020B0400000000000000" pitchFamily="34" charset="-122"/>
                <a:ea typeface="PingFang SC" panose="020B0400000000000000" pitchFamily="34" charset="-122"/>
              </a:rPr>
              <a:t>KEGG</a:t>
            </a:r>
            <a:r>
              <a:rPr lang="zh-CN" altLang="en-US" b="0" i="0" dirty="0">
                <a:solidFill>
                  <a:srgbClr val="333333"/>
                </a:solidFill>
                <a:effectLst/>
                <a:latin typeface="PingFang SC" panose="020B0400000000000000" pitchFamily="34" charset="-122"/>
                <a:ea typeface="PingFang SC" panose="020B0400000000000000" pitchFamily="34" charset="-122"/>
              </a:rPr>
              <a:t>等主流数据库，完成菌株全基因组的编码基因预测，精准定位耐盐基因、相容性溶质合成通路、难降解污染物降解基因、功能代谢通路的完整序列与调控元件，明确菌株的功能边界。</a:t>
            </a:r>
          </a:p>
          <a:p>
            <a:pPr algn="l">
              <a:lnSpc>
                <a:spcPts val="2100"/>
              </a:lnSpc>
              <a:buFont typeface="Arial" panose="020B0604020202020204" pitchFamily="34" charset="0"/>
              <a:buChar char="•"/>
            </a:pPr>
            <a:r>
              <a:rPr lang="zh-CN" altLang="en-US" b="0" i="0" dirty="0">
                <a:solidFill>
                  <a:srgbClr val="333333"/>
                </a:solidFill>
                <a:effectLst/>
                <a:latin typeface="PingFang SC" panose="020B0400000000000000" pitchFamily="34" charset="-122"/>
                <a:ea typeface="PingFang SC" panose="020B0400000000000000" pitchFamily="34" charset="-122"/>
              </a:rPr>
              <a:t>‌</a:t>
            </a:r>
            <a:r>
              <a:rPr lang="zh-CN" altLang="en-US" b="1" i="0" dirty="0">
                <a:solidFill>
                  <a:srgbClr val="333333"/>
                </a:solidFill>
                <a:effectLst/>
                <a:latin typeface="PingFang SC" panose="020B0400000000000000" pitchFamily="34" charset="-122"/>
                <a:ea typeface="PingFang SC" panose="020B0400000000000000" pitchFamily="34" charset="-122"/>
              </a:rPr>
              <a:t>应用落地逻辑</a:t>
            </a:r>
            <a:r>
              <a:rPr lang="zh-CN" altLang="en-US" b="0" i="0" dirty="0">
                <a:solidFill>
                  <a:srgbClr val="333333"/>
                </a:solidFill>
                <a:effectLst/>
                <a:latin typeface="PingFang SC" panose="020B0400000000000000" pitchFamily="34" charset="-122"/>
                <a:ea typeface="PingFang SC" panose="020B0400000000000000" pitchFamily="34" charset="-122"/>
              </a:rPr>
              <a:t>‌：注释完成后可直接锁定菌株的专属应用方向：如果注释发现其携带完整的四氢嘧啶</a:t>
            </a:r>
            <a:r>
              <a:rPr lang="en-US" altLang="zh-CN" b="0" i="0" dirty="0">
                <a:solidFill>
                  <a:srgbClr val="333333"/>
                </a:solidFill>
                <a:effectLst/>
                <a:latin typeface="PingFang SC" panose="020B0400000000000000" pitchFamily="34" charset="-122"/>
                <a:ea typeface="PingFang SC" panose="020B0400000000000000" pitchFamily="34" charset="-122"/>
              </a:rPr>
              <a:t>/</a:t>
            </a:r>
            <a:r>
              <a:rPr lang="zh-CN" altLang="en-US" b="0" i="0" dirty="0">
                <a:solidFill>
                  <a:srgbClr val="333333"/>
                </a:solidFill>
                <a:effectLst/>
                <a:latin typeface="PingFang SC" panose="020B0400000000000000" pitchFamily="34" charset="-122"/>
                <a:ea typeface="PingFang SC" panose="020B0400000000000000" pitchFamily="34" charset="-122"/>
              </a:rPr>
              <a:t>甘氨酸甜菜碱合成通路</a:t>
            </a:r>
            <a:r>
              <a:rPr lang="en-US" altLang="zh-CN" b="0" i="0" dirty="0">
                <a:solidFill>
                  <a:srgbClr val="333333"/>
                </a:solidFill>
                <a:effectLst/>
                <a:latin typeface="PingFang SC" panose="020B0400000000000000" pitchFamily="34" charset="-122"/>
                <a:ea typeface="PingFang SC" panose="020B0400000000000000" pitchFamily="34" charset="-122"/>
              </a:rPr>
              <a:t>+</a:t>
            </a:r>
            <a:r>
              <a:rPr lang="zh-CN" altLang="en-US" b="0" i="0" dirty="0">
                <a:solidFill>
                  <a:srgbClr val="333333"/>
                </a:solidFill>
                <a:effectLst/>
                <a:latin typeface="PingFang SC" panose="020B0400000000000000" pitchFamily="34" charset="-122"/>
                <a:ea typeface="PingFang SC" panose="020B0400000000000000" pitchFamily="34" charset="-122"/>
              </a:rPr>
              <a:t>苯胺类降解基因，就可以直接用于高盐印染废水的苯胺降解处理；如果注释发现其携带</a:t>
            </a:r>
            <a:r>
              <a:rPr lang="en" altLang="zh-CN" b="0" i="0" dirty="0">
                <a:solidFill>
                  <a:srgbClr val="333333"/>
                </a:solidFill>
                <a:effectLst/>
                <a:latin typeface="PingFang SC" panose="020B0400000000000000" pitchFamily="34" charset="-122"/>
                <a:ea typeface="PingFang SC" panose="020B0400000000000000" pitchFamily="34" charset="-122"/>
              </a:rPr>
              <a:t>PHAs</a:t>
            </a:r>
            <a:r>
              <a:rPr lang="zh-CN" altLang="en" b="0" i="0" dirty="0">
                <a:solidFill>
                  <a:srgbClr val="333333"/>
                </a:solidFill>
                <a:effectLst/>
                <a:latin typeface="PingFang SC" panose="020B0400000000000000" pitchFamily="34" charset="-122"/>
                <a:ea typeface="PingFang SC" panose="020B0400000000000000" pitchFamily="34" charset="-122"/>
              </a:rPr>
              <a:t>（</a:t>
            </a:r>
            <a:r>
              <a:rPr lang="zh-CN" altLang="en-US" b="0" i="0" dirty="0">
                <a:solidFill>
                  <a:srgbClr val="333333"/>
                </a:solidFill>
                <a:effectLst/>
                <a:latin typeface="PingFang SC" panose="020B0400000000000000" pitchFamily="34" charset="-122"/>
                <a:ea typeface="PingFang SC" panose="020B0400000000000000" pitchFamily="34" charset="-122"/>
              </a:rPr>
              <a:t>聚羟基脂肪酸酯）完整合成通路，就可以定向用于高盐有机废水的同步污染物降解与可降解生物塑料合成，实现污染物到高值资源的直接转化。</a:t>
            </a:r>
          </a:p>
          <a:p>
            <a:pPr algn="l">
              <a:lnSpc>
                <a:spcPts val="2100"/>
              </a:lnSpc>
              <a:buFont typeface="Arial" panose="020B0604020202020204" pitchFamily="34" charset="0"/>
              <a:buChar char="•"/>
            </a:pPr>
            <a:r>
              <a:rPr lang="zh-CN" altLang="en-US" b="0" i="0" dirty="0">
                <a:solidFill>
                  <a:srgbClr val="333333"/>
                </a:solidFill>
                <a:effectLst/>
                <a:latin typeface="PingFang SC" panose="020B0400000000000000" pitchFamily="34" charset="-122"/>
                <a:ea typeface="PingFang SC" panose="020B0400000000000000" pitchFamily="34" charset="-122"/>
              </a:rPr>
              <a:t>‌</a:t>
            </a:r>
            <a:r>
              <a:rPr lang="zh-CN" altLang="en-US" b="1" i="0" dirty="0">
                <a:solidFill>
                  <a:srgbClr val="333333"/>
                </a:solidFill>
                <a:effectLst/>
                <a:latin typeface="PingFang SC" panose="020B0400000000000000" pitchFamily="34" charset="-122"/>
                <a:ea typeface="PingFang SC" panose="020B0400000000000000" pitchFamily="34" charset="-122"/>
              </a:rPr>
              <a:t>工程化优势</a:t>
            </a:r>
            <a:r>
              <a:rPr lang="zh-CN" altLang="en-US" b="0" i="0" dirty="0">
                <a:solidFill>
                  <a:srgbClr val="333333"/>
                </a:solidFill>
                <a:effectLst/>
                <a:latin typeface="PingFang SC" panose="020B0400000000000000" pitchFamily="34" charset="-122"/>
                <a:ea typeface="PingFang SC" panose="020B0400000000000000" pitchFamily="34" charset="-122"/>
              </a:rPr>
              <a:t>‌：纯菌株经过基因组注释后，所有功能元件完全明确，后续可直接通过基因编辑强化目标功能，避免传统粗放投加菌株的功能不确定性，大幅提升环境修复与资源化的效率稳定性。</a:t>
            </a:r>
          </a:p>
          <a:p>
            <a:pPr>
              <a:buNone/>
            </a:pPr>
            <a:br>
              <a:rPr lang="zh-CN" altLang="en-US" dirty="0"/>
            </a:br>
            <a:endParaRPr lang="zh-CN" altLang="en-US" dirty="0"/>
          </a:p>
          <a:p>
            <a:pPr algn="l">
              <a:lnSpc>
                <a:spcPts val="2250"/>
              </a:lnSpc>
              <a:buNone/>
            </a:pPr>
            <a:endParaRPr lang="zh-CN" altLang="en-US" b="0" i="0" dirty="0">
              <a:solidFill>
                <a:srgbClr val="333333"/>
              </a:solidFill>
              <a:effectLst/>
              <a:latin typeface="PingFang SC" panose="020B0400000000000000" pitchFamily="34" charset="-122"/>
              <a:ea typeface="PingFang SC" panose="020B0400000000000000" pitchFamily="34" charset="-122"/>
            </a:endParaRPr>
          </a:p>
        </p:txBody>
      </p:sp>
    </p:spTree>
    <p:extLst>
      <p:ext uri="{BB962C8B-B14F-4D97-AF65-F5344CB8AC3E}">
        <p14:creationId xmlns:p14="http://schemas.microsoft.com/office/powerpoint/2010/main" val="32415513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73708D7E-5C13-ADE4-499F-1C83E1B14228}"/>
              </a:ext>
            </a:extLst>
          </p:cNvPr>
          <p:cNvSpPr txBox="1"/>
          <p:nvPr/>
        </p:nvSpPr>
        <p:spPr>
          <a:xfrm>
            <a:off x="399392" y="113440"/>
            <a:ext cx="11655973" cy="6551922"/>
          </a:xfrm>
          <a:prstGeom prst="rect">
            <a:avLst/>
          </a:prstGeom>
          <a:noFill/>
        </p:spPr>
        <p:txBody>
          <a:bodyPr wrap="square">
            <a:spAutoFit/>
          </a:bodyPr>
          <a:lstStyle/>
          <a:p>
            <a:pPr algn="l">
              <a:lnSpc>
                <a:spcPts val="2250"/>
              </a:lnSpc>
              <a:buNone/>
            </a:pPr>
            <a:r>
              <a:rPr lang="en-US" altLang="zh-CN" sz="1600" b="1" i="0" dirty="0">
                <a:solidFill>
                  <a:srgbClr val="333333"/>
                </a:solidFill>
                <a:effectLst/>
                <a:latin typeface="PingFang SC" panose="020B0400000000000000" pitchFamily="34" charset="-122"/>
                <a:ea typeface="PingFang SC" panose="020B0400000000000000" pitchFamily="34" charset="-122"/>
              </a:rPr>
              <a:t>2. </a:t>
            </a:r>
            <a:r>
              <a:rPr lang="zh-CN" altLang="en-US" sz="1600" b="1" i="0" dirty="0">
                <a:solidFill>
                  <a:srgbClr val="333333"/>
                </a:solidFill>
                <a:effectLst/>
                <a:latin typeface="PingFang SC" panose="020B0400000000000000" pitchFamily="34" charset="-122"/>
                <a:ea typeface="PingFang SC" panose="020B0400000000000000" pitchFamily="34" charset="-122"/>
              </a:rPr>
              <a:t>西北盐湖底泥样本宏基因组物种</a:t>
            </a:r>
            <a:r>
              <a:rPr lang="en-US" altLang="zh-CN" sz="1600" b="1" i="0" dirty="0">
                <a:solidFill>
                  <a:srgbClr val="333333"/>
                </a:solidFill>
                <a:effectLst/>
                <a:latin typeface="PingFang SC" panose="020B0400000000000000" pitchFamily="34" charset="-122"/>
                <a:ea typeface="PingFang SC" panose="020B0400000000000000" pitchFamily="34" charset="-122"/>
              </a:rPr>
              <a:t>+</a:t>
            </a:r>
            <a:r>
              <a:rPr lang="zh-CN" altLang="en-US" sz="1600" b="1" i="0" dirty="0">
                <a:solidFill>
                  <a:srgbClr val="333333"/>
                </a:solidFill>
                <a:effectLst/>
                <a:latin typeface="PingFang SC" panose="020B0400000000000000" pitchFamily="34" charset="-122"/>
                <a:ea typeface="PingFang SC" panose="020B0400000000000000" pitchFamily="34" charset="-122"/>
              </a:rPr>
              <a:t>功能注释：原生样本直接资源化利用</a:t>
            </a:r>
          </a:p>
          <a:p>
            <a:pPr algn="l">
              <a:lnSpc>
                <a:spcPts val="2100"/>
              </a:lnSpc>
              <a:buNone/>
            </a:pPr>
            <a:r>
              <a:rPr lang="zh-CN" altLang="en-US" sz="1600" b="0" i="0" dirty="0">
                <a:solidFill>
                  <a:srgbClr val="333333"/>
                </a:solidFill>
                <a:effectLst/>
                <a:latin typeface="PingFang SC" panose="020B0400000000000000" pitchFamily="34" charset="-122"/>
                <a:ea typeface="PingFang SC" panose="020B0400000000000000" pitchFamily="34" charset="-122"/>
              </a:rPr>
              <a:t>无需分离纯化单菌株，直接对盐湖底泥的原位微生物群落进行全景解析，依托原生极端菌群的天然协同功能实现环境场景适配：</a:t>
            </a:r>
          </a:p>
          <a:p>
            <a:pPr algn="l">
              <a:lnSpc>
                <a:spcPts val="2100"/>
              </a:lnSpc>
              <a:buFont typeface="Arial" panose="020B0604020202020204" pitchFamily="34" charset="0"/>
              <a:buChar char="•"/>
            </a:pPr>
            <a:r>
              <a:rPr lang="zh-CN" altLang="en-US" sz="1600" b="0" i="0" dirty="0">
                <a:solidFill>
                  <a:srgbClr val="333333"/>
                </a:solidFill>
                <a:effectLst/>
                <a:latin typeface="PingFang SC" panose="020B0400000000000000" pitchFamily="34" charset="-122"/>
                <a:ea typeface="PingFang SC" panose="020B0400000000000000" pitchFamily="34" charset="-122"/>
              </a:rPr>
              <a:t>‌</a:t>
            </a:r>
            <a:r>
              <a:rPr lang="zh-CN" altLang="en-US" sz="1600" b="1" i="0" dirty="0">
                <a:solidFill>
                  <a:srgbClr val="333333"/>
                </a:solidFill>
                <a:effectLst/>
                <a:latin typeface="PingFang SC" panose="020B0400000000000000" pitchFamily="34" charset="-122"/>
                <a:ea typeface="PingFang SC" panose="020B0400000000000000" pitchFamily="34" charset="-122"/>
              </a:rPr>
              <a:t>物种注释维度</a:t>
            </a:r>
            <a:r>
              <a:rPr lang="zh-CN" altLang="en-US" sz="1600" b="0" i="0" dirty="0">
                <a:solidFill>
                  <a:srgbClr val="333333"/>
                </a:solidFill>
                <a:effectLst/>
                <a:latin typeface="PingFang SC" panose="020B0400000000000000" pitchFamily="34" charset="-122"/>
                <a:ea typeface="PingFang SC" panose="020B0400000000000000" pitchFamily="34" charset="-122"/>
              </a:rPr>
              <a:t>‌：通过</a:t>
            </a:r>
            <a:r>
              <a:rPr lang="en-US" altLang="zh-CN" sz="1600" b="0" i="0" dirty="0">
                <a:solidFill>
                  <a:srgbClr val="333333"/>
                </a:solidFill>
                <a:effectLst/>
                <a:latin typeface="PingFang SC" panose="020B0400000000000000" pitchFamily="34" charset="-122"/>
                <a:ea typeface="PingFang SC" panose="020B0400000000000000" pitchFamily="34" charset="-122"/>
              </a:rPr>
              <a:t>16</a:t>
            </a:r>
            <a:r>
              <a:rPr lang="en" altLang="zh-CN" sz="1600" b="0" i="0" dirty="0">
                <a:solidFill>
                  <a:srgbClr val="333333"/>
                </a:solidFill>
                <a:effectLst/>
                <a:latin typeface="PingFang SC" panose="020B0400000000000000" pitchFamily="34" charset="-122"/>
                <a:ea typeface="PingFang SC" panose="020B0400000000000000" pitchFamily="34" charset="-122"/>
              </a:rPr>
              <a:t>S rRNA/</a:t>
            </a:r>
            <a:r>
              <a:rPr lang="zh-CN" altLang="en-US" sz="1600" b="0" i="0" dirty="0">
                <a:solidFill>
                  <a:srgbClr val="333333"/>
                </a:solidFill>
                <a:effectLst/>
                <a:latin typeface="PingFang SC" panose="020B0400000000000000" pitchFamily="34" charset="-122"/>
                <a:ea typeface="PingFang SC" panose="020B0400000000000000" pitchFamily="34" charset="-122"/>
              </a:rPr>
              <a:t>宏基因组测序，精准解析底泥中耐盐菌的群落组成，明确盐单胞菌属、假单胞菌属、嗜盐古菌等核心功能类群的丰度与占比，确认样本中天然存在的耐盐功能菌群结构，这类原生菌群的耐盐能力普遍可达</a:t>
            </a:r>
            <a:r>
              <a:rPr lang="en-US" altLang="zh-CN" sz="1600" b="0" i="0" dirty="0">
                <a:solidFill>
                  <a:srgbClr val="333333"/>
                </a:solidFill>
                <a:effectLst/>
                <a:latin typeface="PingFang SC" panose="020B0400000000000000" pitchFamily="34" charset="-122"/>
                <a:ea typeface="PingFang SC" panose="020B0400000000000000" pitchFamily="34" charset="-122"/>
              </a:rPr>
              <a:t>5%-20% </a:t>
            </a:r>
            <a:r>
              <a:rPr lang="en" altLang="zh-CN" sz="1600" b="0" i="0" dirty="0">
                <a:solidFill>
                  <a:srgbClr val="333333"/>
                </a:solidFill>
                <a:effectLst/>
                <a:latin typeface="PingFang SC" panose="020B0400000000000000" pitchFamily="34" charset="-122"/>
                <a:ea typeface="PingFang SC" panose="020B0400000000000000" pitchFamily="34" charset="-122"/>
              </a:rPr>
              <a:t>NaCl</a:t>
            </a:r>
            <a:r>
              <a:rPr lang="zh-CN" altLang="en-US" sz="1600" b="0" i="0" dirty="0">
                <a:solidFill>
                  <a:srgbClr val="333333"/>
                </a:solidFill>
                <a:effectLst/>
                <a:latin typeface="PingFang SC" panose="020B0400000000000000" pitchFamily="34" charset="-122"/>
                <a:ea typeface="PingFang SC" panose="020B0400000000000000" pitchFamily="34" charset="-122"/>
              </a:rPr>
              <a:t>浓度，远高于普通活性污泥菌群。</a:t>
            </a:r>
          </a:p>
          <a:p>
            <a:pPr algn="l">
              <a:lnSpc>
                <a:spcPts val="2100"/>
              </a:lnSpc>
              <a:buFont typeface="Arial" panose="020B0604020202020204" pitchFamily="34" charset="0"/>
              <a:buChar char="•"/>
            </a:pPr>
            <a:r>
              <a:rPr lang="zh-CN" altLang="en-US" sz="1600" b="0" i="0" dirty="0">
                <a:solidFill>
                  <a:srgbClr val="333333"/>
                </a:solidFill>
                <a:effectLst/>
                <a:latin typeface="PingFang SC" panose="020B0400000000000000" pitchFamily="34" charset="-122"/>
                <a:ea typeface="PingFang SC" panose="020B0400000000000000" pitchFamily="34" charset="-122"/>
              </a:rPr>
              <a:t>‌</a:t>
            </a:r>
            <a:r>
              <a:rPr lang="zh-CN" altLang="en-US" sz="1600" b="1" i="0" dirty="0">
                <a:solidFill>
                  <a:srgbClr val="333333"/>
                </a:solidFill>
                <a:effectLst/>
                <a:latin typeface="PingFang SC" panose="020B0400000000000000" pitchFamily="34" charset="-122"/>
                <a:ea typeface="PingFang SC" panose="020B0400000000000000" pitchFamily="34" charset="-122"/>
              </a:rPr>
              <a:t>功能注释维度</a:t>
            </a:r>
            <a:r>
              <a:rPr lang="zh-CN" altLang="en-US" sz="1600" b="0" i="0" dirty="0">
                <a:solidFill>
                  <a:srgbClr val="333333"/>
                </a:solidFill>
                <a:effectLst/>
                <a:latin typeface="PingFang SC" panose="020B0400000000000000" pitchFamily="34" charset="-122"/>
                <a:ea typeface="PingFang SC" panose="020B0400000000000000" pitchFamily="34" charset="-122"/>
              </a:rPr>
              <a:t>‌：通过宏基因组功能注释，全景解析整个群落的相容性溶质合成通路库、污染物降解基因集、碳氮代谢网络，明确样本中天然具备的完整功能互补关系</a:t>
            </a:r>
            <a:r>
              <a:rPr lang="en-US" altLang="zh-CN" sz="1600" b="0" i="0" dirty="0">
                <a:solidFill>
                  <a:srgbClr val="333333"/>
                </a:solidFill>
                <a:effectLst/>
                <a:latin typeface="PingFang SC" panose="020B0400000000000000" pitchFamily="34" charset="-122"/>
                <a:ea typeface="PingFang SC" panose="020B0400000000000000" pitchFamily="34" charset="-122"/>
              </a:rPr>
              <a:t>——</a:t>
            </a:r>
            <a:r>
              <a:rPr lang="zh-CN" altLang="en-US" sz="1600" b="0" i="0" dirty="0">
                <a:solidFill>
                  <a:srgbClr val="333333"/>
                </a:solidFill>
                <a:effectLst/>
                <a:latin typeface="PingFang SC" panose="020B0400000000000000" pitchFamily="34" charset="-122"/>
                <a:ea typeface="PingFang SC" panose="020B0400000000000000" pitchFamily="34" charset="-122"/>
              </a:rPr>
              <a:t>比如部分菌群负责合成相容性溶质提供广谱抗逆性，部分菌群负责降解难降解有机污染物，部分菌群负责驱动厌氧发酵产甲烷</a:t>
            </a:r>
            <a:r>
              <a:rPr lang="en-US" altLang="zh-CN" sz="1600" b="0" i="0" dirty="0">
                <a:solidFill>
                  <a:srgbClr val="333333"/>
                </a:solidFill>
                <a:effectLst/>
                <a:latin typeface="PingFang SC" panose="020B0400000000000000" pitchFamily="34" charset="-122"/>
                <a:ea typeface="PingFang SC" panose="020B0400000000000000" pitchFamily="34" charset="-122"/>
              </a:rPr>
              <a:t>/</a:t>
            </a:r>
            <a:r>
              <a:rPr lang="zh-CN" altLang="en-US" sz="1600" b="0" i="0" dirty="0">
                <a:solidFill>
                  <a:srgbClr val="333333"/>
                </a:solidFill>
                <a:effectLst/>
                <a:latin typeface="PingFang SC" panose="020B0400000000000000" pitchFamily="34" charset="-122"/>
                <a:ea typeface="PingFang SC" panose="020B0400000000000000" pitchFamily="34" charset="-122"/>
              </a:rPr>
              <a:t>产酸，形成天然的功能协同体系。</a:t>
            </a:r>
          </a:p>
          <a:p>
            <a:pPr algn="l">
              <a:lnSpc>
                <a:spcPts val="2100"/>
              </a:lnSpc>
              <a:buFont typeface="Arial" panose="020B0604020202020204" pitchFamily="34" charset="0"/>
              <a:buChar char="•"/>
            </a:pPr>
            <a:r>
              <a:rPr lang="zh-CN" altLang="en-US" sz="1600" b="0" i="0" dirty="0">
                <a:solidFill>
                  <a:srgbClr val="333333"/>
                </a:solidFill>
                <a:effectLst/>
                <a:latin typeface="PingFang SC" panose="020B0400000000000000" pitchFamily="34" charset="-122"/>
                <a:ea typeface="PingFang SC" panose="020B0400000000000000" pitchFamily="34" charset="-122"/>
              </a:rPr>
              <a:t>‌</a:t>
            </a:r>
            <a:r>
              <a:rPr lang="zh-CN" altLang="en-US" sz="1600" b="1" i="0" dirty="0">
                <a:solidFill>
                  <a:srgbClr val="333333"/>
                </a:solidFill>
                <a:effectLst/>
                <a:latin typeface="PingFang SC" panose="020B0400000000000000" pitchFamily="34" charset="-122"/>
                <a:ea typeface="PingFang SC" panose="020B0400000000000000" pitchFamily="34" charset="-122"/>
              </a:rPr>
              <a:t>直接应用方式</a:t>
            </a:r>
            <a:r>
              <a:rPr lang="zh-CN" altLang="en-US" sz="1600" b="0" i="0" dirty="0">
                <a:solidFill>
                  <a:srgbClr val="333333"/>
                </a:solidFill>
                <a:effectLst/>
                <a:latin typeface="PingFang SC" panose="020B0400000000000000" pitchFamily="34" charset="-122"/>
                <a:ea typeface="PingFang SC" panose="020B0400000000000000" pitchFamily="34" charset="-122"/>
              </a:rPr>
              <a:t>‌：无需额外人工构建群落，直接将该盐湖底泥样本作为“天然功能菌剂”投加到高盐工业废水处理系统、盐碱污染场地中，依托原生菌群的长期共进化协同关系，快速在高盐胁迫环境下定植，同步完成污染物降解与资源化回收，省去传统菌株分离、驯化、复配的漫长周期。</a:t>
            </a:r>
          </a:p>
          <a:p>
            <a:pPr>
              <a:buNone/>
            </a:pPr>
            <a:br>
              <a:rPr lang="zh-CN" altLang="en-US" sz="1600" dirty="0"/>
            </a:br>
            <a:endParaRPr lang="zh-CN" altLang="en-US" sz="1600" dirty="0"/>
          </a:p>
          <a:p>
            <a:pPr algn="l">
              <a:lnSpc>
                <a:spcPts val="2250"/>
              </a:lnSpc>
              <a:buNone/>
            </a:pPr>
            <a:r>
              <a:rPr lang="en-US" altLang="zh-CN" sz="1600" b="1" i="0" dirty="0">
                <a:solidFill>
                  <a:srgbClr val="333333"/>
                </a:solidFill>
                <a:effectLst/>
                <a:latin typeface="PingFang SC" panose="020B0400000000000000" pitchFamily="34" charset="-122"/>
                <a:ea typeface="PingFang SC" panose="020B0400000000000000" pitchFamily="34" charset="-122"/>
              </a:rPr>
              <a:t>3. </a:t>
            </a:r>
            <a:r>
              <a:rPr lang="zh-CN" altLang="en-US" sz="1600" b="1" i="0" dirty="0">
                <a:solidFill>
                  <a:srgbClr val="333333"/>
                </a:solidFill>
                <a:effectLst/>
                <a:latin typeface="PingFang SC" panose="020B0400000000000000" pitchFamily="34" charset="-122"/>
                <a:ea typeface="PingFang SC" panose="020B0400000000000000" pitchFamily="34" charset="-122"/>
              </a:rPr>
              <a:t>盐湖底泥菌群注释强化人工工程体系：高效胁迫适配的生物强化路径</a:t>
            </a:r>
          </a:p>
          <a:p>
            <a:pPr algn="l">
              <a:lnSpc>
                <a:spcPts val="2100"/>
              </a:lnSpc>
              <a:buNone/>
            </a:pPr>
            <a:r>
              <a:rPr lang="zh-CN" altLang="en-US" sz="1600" b="0" i="0" dirty="0">
                <a:solidFill>
                  <a:srgbClr val="333333"/>
                </a:solidFill>
                <a:effectLst/>
                <a:latin typeface="PingFang SC" panose="020B0400000000000000" pitchFamily="34" charset="-122"/>
                <a:ea typeface="PingFang SC" panose="020B0400000000000000" pitchFamily="34" charset="-122"/>
              </a:rPr>
              <a:t>这是你研究中最核心的应用方向，通过注释结果定向补全现有人工生物处理体系的功能短板，突破常规系统在非生物胁迫下的运行瓶颈：</a:t>
            </a:r>
          </a:p>
          <a:p>
            <a:pPr algn="l">
              <a:lnSpc>
                <a:spcPts val="2100"/>
              </a:lnSpc>
              <a:buFont typeface="Arial" panose="020B0604020202020204" pitchFamily="34" charset="0"/>
              <a:buChar char="•"/>
            </a:pPr>
            <a:r>
              <a:rPr lang="zh-CN" altLang="en-US" sz="1600" b="0" i="0" dirty="0">
                <a:solidFill>
                  <a:srgbClr val="333333"/>
                </a:solidFill>
                <a:effectLst/>
                <a:latin typeface="PingFang SC" panose="020B0400000000000000" pitchFamily="34" charset="-122"/>
                <a:ea typeface="PingFang SC" panose="020B0400000000000000" pitchFamily="34" charset="-122"/>
              </a:rPr>
              <a:t>‌</a:t>
            </a:r>
            <a:r>
              <a:rPr lang="zh-CN" altLang="en-US" sz="1600" b="1" i="0" dirty="0">
                <a:solidFill>
                  <a:srgbClr val="333333"/>
                </a:solidFill>
                <a:effectLst/>
                <a:latin typeface="PingFang SC" panose="020B0400000000000000" pitchFamily="34" charset="-122"/>
                <a:ea typeface="PingFang SC" panose="020B0400000000000000" pitchFamily="34" charset="-122"/>
              </a:rPr>
              <a:t>现有体系短板定位</a:t>
            </a:r>
            <a:r>
              <a:rPr lang="zh-CN" altLang="en-US" sz="1600" b="0" i="0" dirty="0">
                <a:solidFill>
                  <a:srgbClr val="333333"/>
                </a:solidFill>
                <a:effectLst/>
                <a:latin typeface="PingFang SC" panose="020B0400000000000000" pitchFamily="34" charset="-122"/>
                <a:ea typeface="PingFang SC" panose="020B0400000000000000" pitchFamily="34" charset="-122"/>
              </a:rPr>
              <a:t>‌：常规人工</a:t>
            </a:r>
            <a:r>
              <a:rPr lang="en" altLang="zh-CN" sz="1600" b="0" i="0" dirty="0">
                <a:solidFill>
                  <a:srgbClr val="333333"/>
                </a:solidFill>
                <a:effectLst/>
                <a:latin typeface="PingFang SC" panose="020B0400000000000000" pitchFamily="34" charset="-122"/>
                <a:ea typeface="PingFang SC" panose="020B0400000000000000" pitchFamily="34" charset="-122"/>
              </a:rPr>
              <a:t>Anammox</a:t>
            </a:r>
            <a:r>
              <a:rPr lang="zh-CN" altLang="en-US" sz="1600" b="0" i="0" dirty="0">
                <a:solidFill>
                  <a:srgbClr val="333333"/>
                </a:solidFill>
                <a:effectLst/>
                <a:latin typeface="PingFang SC" panose="020B0400000000000000" pitchFamily="34" charset="-122"/>
                <a:ea typeface="PingFang SC" panose="020B0400000000000000" pitchFamily="34" charset="-122"/>
              </a:rPr>
              <a:t>反应器、高盐废水生物处理系统、厌氧发酵产沼气系统的核心缺陷是缺乏长期极端环境筛选出的抗逆功能元件，在盐度冲击、酸碱波动时，菌群无法自主合成足够的相容性溶质维持代谢活性，直接导致脱氮效率、产气量大幅下降。</a:t>
            </a:r>
          </a:p>
          <a:p>
            <a:pPr algn="l">
              <a:lnSpc>
                <a:spcPts val="2100"/>
              </a:lnSpc>
              <a:buFont typeface="Arial" panose="020B0604020202020204" pitchFamily="34" charset="0"/>
              <a:buChar char="•"/>
            </a:pPr>
            <a:r>
              <a:rPr lang="zh-CN" altLang="en-US" sz="1600" b="0" i="0" dirty="0">
                <a:solidFill>
                  <a:srgbClr val="333333"/>
                </a:solidFill>
                <a:effectLst/>
                <a:latin typeface="PingFang SC" panose="020B0400000000000000" pitchFamily="34" charset="-122"/>
                <a:ea typeface="PingFang SC" panose="020B0400000000000000" pitchFamily="34" charset="-122"/>
              </a:rPr>
              <a:t>‌</a:t>
            </a:r>
            <a:r>
              <a:rPr lang="zh-CN" altLang="en-US" sz="1600" b="1" i="0" dirty="0">
                <a:solidFill>
                  <a:srgbClr val="333333"/>
                </a:solidFill>
                <a:effectLst/>
                <a:latin typeface="PingFang SC" panose="020B0400000000000000" pitchFamily="34" charset="-122"/>
                <a:ea typeface="PingFang SC" panose="020B0400000000000000" pitchFamily="34" charset="-122"/>
              </a:rPr>
              <a:t>注释结果的强化逻辑</a:t>
            </a:r>
            <a:r>
              <a:rPr lang="zh-CN" altLang="en-US" sz="1600" b="0" i="0" dirty="0">
                <a:solidFill>
                  <a:srgbClr val="333333"/>
                </a:solidFill>
                <a:effectLst/>
                <a:latin typeface="PingFang SC" panose="020B0400000000000000" pitchFamily="34" charset="-122"/>
                <a:ea typeface="PingFang SC" panose="020B0400000000000000" pitchFamily="34" charset="-122"/>
              </a:rPr>
              <a:t>‌：基于盐湖底泥的物种与功能注释结果，定向筛选出样本中携带高活性相容性溶质合成通路的功能菌群，将其作为生物强化剂投加到现有人工体系中；同时依托注释得到的功能互作网络，精准匹配强化菌群与原有功能菌群（如</a:t>
            </a:r>
            <a:r>
              <a:rPr lang="en" altLang="zh-CN" sz="1600" b="0" i="0" dirty="0">
                <a:solidFill>
                  <a:srgbClr val="333333"/>
                </a:solidFill>
                <a:effectLst/>
                <a:latin typeface="PingFang SC" panose="020B0400000000000000" pitchFamily="34" charset="-122"/>
                <a:ea typeface="PingFang SC" panose="020B0400000000000000" pitchFamily="34" charset="-122"/>
              </a:rPr>
              <a:t>Anammox</a:t>
            </a:r>
            <a:r>
              <a:rPr lang="zh-CN" altLang="en-US" sz="1600" b="0" i="0" dirty="0">
                <a:solidFill>
                  <a:srgbClr val="333333"/>
                </a:solidFill>
                <a:effectLst/>
                <a:latin typeface="PingFang SC" panose="020B0400000000000000" pitchFamily="34" charset="-122"/>
                <a:ea typeface="PingFang SC" panose="020B0400000000000000" pitchFamily="34" charset="-122"/>
              </a:rPr>
              <a:t>菌、产甲烷菌）的协同关系，避免无效菌群竞争。</a:t>
            </a:r>
          </a:p>
          <a:p>
            <a:pPr algn="l">
              <a:lnSpc>
                <a:spcPts val="2100"/>
              </a:lnSpc>
              <a:buFont typeface="Arial" panose="020B0604020202020204" pitchFamily="34" charset="0"/>
              <a:buChar char="•"/>
            </a:pPr>
            <a:r>
              <a:rPr lang="zh-CN" altLang="en-US" sz="1600" b="0" i="0" dirty="0">
                <a:solidFill>
                  <a:srgbClr val="333333"/>
                </a:solidFill>
                <a:effectLst/>
                <a:latin typeface="PingFang SC" panose="020B0400000000000000" pitchFamily="34" charset="-122"/>
                <a:ea typeface="PingFang SC" panose="020B0400000000000000" pitchFamily="34" charset="-122"/>
              </a:rPr>
              <a:t>‌</a:t>
            </a:r>
            <a:r>
              <a:rPr lang="zh-CN" altLang="en-US" sz="1600" b="1" i="0" dirty="0">
                <a:solidFill>
                  <a:srgbClr val="333333"/>
                </a:solidFill>
                <a:effectLst/>
                <a:latin typeface="PingFang SC" panose="020B0400000000000000" pitchFamily="34" charset="-122"/>
                <a:ea typeface="PingFang SC" panose="020B0400000000000000" pitchFamily="34" charset="-122"/>
              </a:rPr>
              <a:t>最终工程效果</a:t>
            </a:r>
            <a:r>
              <a:rPr lang="zh-CN" altLang="en-US" sz="1600" b="0" i="0" dirty="0">
                <a:solidFill>
                  <a:srgbClr val="333333"/>
                </a:solidFill>
                <a:effectLst/>
                <a:latin typeface="PingFang SC" panose="020B0400000000000000" pitchFamily="34" charset="-122"/>
                <a:ea typeface="PingFang SC" panose="020B0400000000000000" pitchFamily="34" charset="-122"/>
              </a:rPr>
              <a:t>‌：强化后的人工体系可在</a:t>
            </a:r>
            <a:r>
              <a:rPr lang="en-US" altLang="zh-CN" sz="1600" b="0" i="0" dirty="0">
                <a:solidFill>
                  <a:srgbClr val="333333"/>
                </a:solidFill>
                <a:effectLst/>
                <a:latin typeface="PingFang SC" panose="020B0400000000000000" pitchFamily="34" charset="-122"/>
                <a:ea typeface="PingFang SC" panose="020B0400000000000000" pitchFamily="34" charset="-122"/>
              </a:rPr>
              <a:t>3%-15%</a:t>
            </a:r>
            <a:r>
              <a:rPr lang="zh-CN" altLang="en-US" sz="1600" b="0" i="0" dirty="0">
                <a:solidFill>
                  <a:srgbClr val="333333"/>
                </a:solidFill>
                <a:effectLst/>
                <a:latin typeface="PingFang SC" panose="020B0400000000000000" pitchFamily="34" charset="-122"/>
                <a:ea typeface="PingFang SC" panose="020B0400000000000000" pitchFamily="34" charset="-122"/>
              </a:rPr>
              <a:t>的高盐浓度下稳定运行，抗盐度冲击能力提升</a:t>
            </a:r>
            <a:r>
              <a:rPr lang="en-US" altLang="zh-CN" sz="1600" b="0" i="0" dirty="0">
                <a:solidFill>
                  <a:srgbClr val="333333"/>
                </a:solidFill>
                <a:effectLst/>
                <a:latin typeface="PingFang SC" panose="020B0400000000000000" pitchFamily="34" charset="-122"/>
                <a:ea typeface="PingFang SC" panose="020B0400000000000000" pitchFamily="34" charset="-122"/>
              </a:rPr>
              <a:t>3-5</a:t>
            </a:r>
            <a:r>
              <a:rPr lang="zh-CN" altLang="en-US" sz="1600" b="0" i="0" dirty="0">
                <a:solidFill>
                  <a:srgbClr val="333333"/>
                </a:solidFill>
                <a:effectLst/>
                <a:latin typeface="PingFang SC" panose="020B0400000000000000" pitchFamily="34" charset="-122"/>
                <a:ea typeface="PingFang SC" panose="020B0400000000000000" pitchFamily="34" charset="-122"/>
              </a:rPr>
              <a:t>倍，同步实现高盐含氮废水高效脱氮、高盐有机固废厌氧发酵产沼气效率提升</a:t>
            </a:r>
            <a:r>
              <a:rPr lang="en-US" altLang="zh-CN" sz="1600" b="0" i="0" dirty="0">
                <a:solidFill>
                  <a:srgbClr val="333333"/>
                </a:solidFill>
                <a:effectLst/>
                <a:latin typeface="PingFang SC" panose="020B0400000000000000" pitchFamily="34" charset="-122"/>
                <a:ea typeface="PingFang SC" panose="020B0400000000000000" pitchFamily="34" charset="-122"/>
              </a:rPr>
              <a:t>40%</a:t>
            </a:r>
            <a:r>
              <a:rPr lang="zh-CN" altLang="en-US" sz="1600" b="0" i="0" dirty="0">
                <a:solidFill>
                  <a:srgbClr val="333333"/>
                </a:solidFill>
                <a:effectLst/>
                <a:latin typeface="PingFang SC" panose="020B0400000000000000" pitchFamily="34" charset="-122"/>
                <a:ea typeface="PingFang SC" panose="020B0400000000000000" pitchFamily="34" charset="-122"/>
              </a:rPr>
              <a:t>以上，完全解决常规人工生物处理系统在极端胁迫下运行失稳的行业痛点</a:t>
            </a:r>
            <a:endParaRPr lang="zh-CN" altLang="en-US" sz="1600" dirty="0"/>
          </a:p>
        </p:txBody>
      </p:sp>
    </p:spTree>
    <p:extLst>
      <p:ext uri="{BB962C8B-B14F-4D97-AF65-F5344CB8AC3E}">
        <p14:creationId xmlns:p14="http://schemas.microsoft.com/office/powerpoint/2010/main" val="94214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D62E3D24-CE08-7171-FFA9-C757C72CB0C3}"/>
              </a:ext>
            </a:extLst>
          </p:cNvPr>
          <p:cNvSpPr txBox="1"/>
          <p:nvPr/>
        </p:nvSpPr>
        <p:spPr>
          <a:xfrm>
            <a:off x="210207" y="260159"/>
            <a:ext cx="11571890" cy="1200329"/>
          </a:xfrm>
          <a:prstGeom prst="rect">
            <a:avLst/>
          </a:prstGeom>
          <a:noFill/>
        </p:spPr>
        <p:txBody>
          <a:bodyPr wrap="square">
            <a:spAutoFit/>
          </a:bodyPr>
          <a:lstStyle/>
          <a:p>
            <a:r>
              <a:rPr lang="en-US" altLang="zh-CN" dirty="0">
                <a:solidFill>
                  <a:srgbClr val="202126"/>
                </a:solidFill>
                <a:effectLst/>
                <a:latin typeface="Courier" panose="02070309020205020404" pitchFamily="49" charset="0"/>
              </a:rPr>
              <a:t>1.</a:t>
            </a:r>
            <a:r>
              <a:rPr lang="zh-CN" altLang="en-US" dirty="0">
                <a:solidFill>
                  <a:srgbClr val="202126"/>
                </a:solidFill>
                <a:effectLst/>
                <a:latin typeface="Courier" panose="02070309020205020404" pitchFamily="49" charset="0"/>
              </a:rPr>
              <a:t>下载文献</a:t>
            </a:r>
            <a:r>
              <a:rPr lang="zh-CN" altLang="en-US" dirty="0">
                <a:solidFill>
                  <a:srgbClr val="202126"/>
                </a:solidFill>
                <a:latin typeface="Courier" panose="02070309020205020404" pitchFamily="49" charset="0"/>
              </a:rPr>
              <a:t>和专利（关于相容性溶质</a:t>
            </a:r>
            <a:r>
              <a:rPr lang="en" altLang="zh-CN" dirty="0">
                <a:solidFill>
                  <a:srgbClr val="202126"/>
                </a:solidFill>
                <a:latin typeface="Courier" panose="02070309020205020404" pitchFamily="49" charset="0"/>
              </a:rPr>
              <a:t>-</a:t>
            </a:r>
            <a:r>
              <a:rPr lang="zh-CN" altLang="en-US" dirty="0">
                <a:solidFill>
                  <a:srgbClr val="000000"/>
                </a:solidFill>
                <a:latin typeface="Helvetica" pitchFamily="2" charset="0"/>
              </a:rPr>
              <a:t>环境修复与资源回收），</a:t>
            </a:r>
            <a:r>
              <a:rPr lang="zh-CN" altLang="en-US" dirty="0">
                <a:solidFill>
                  <a:srgbClr val="202126"/>
                </a:solidFill>
                <a:effectLst/>
                <a:latin typeface="Courier" panose="02070309020205020404" pitchFamily="49" charset="0"/>
              </a:rPr>
              <a:t>政策（</a:t>
            </a:r>
            <a:r>
              <a:rPr lang="zh-CN" altLang="en-US" dirty="0">
                <a:solidFill>
                  <a:srgbClr val="000000"/>
                </a:solidFill>
                <a:latin typeface="Helvetica" pitchFamily="2" charset="0"/>
              </a:rPr>
              <a:t>环境修复与资源回收</a:t>
            </a:r>
            <a:r>
              <a:rPr lang="zh-CN" altLang="en-US" dirty="0">
                <a:solidFill>
                  <a:srgbClr val="202126"/>
                </a:solidFill>
                <a:effectLst/>
                <a:latin typeface="Courier" panose="02070309020205020404" pitchFamily="49" charset="0"/>
              </a:rPr>
              <a:t>），</a:t>
            </a:r>
            <a:endParaRPr lang="zh-CN" altLang="en-US" dirty="0">
              <a:solidFill>
                <a:srgbClr val="000000"/>
              </a:solidFill>
              <a:latin typeface="Helvetica" pitchFamily="2" charset="0"/>
            </a:endParaRPr>
          </a:p>
          <a:p>
            <a:pPr>
              <a:buNone/>
            </a:pPr>
            <a:endParaRPr lang="en-US" altLang="zh-CN" dirty="0">
              <a:solidFill>
                <a:srgbClr val="202126"/>
              </a:solidFill>
              <a:effectLst/>
              <a:latin typeface="Courier" panose="02070309020205020404" pitchFamily="49" charset="0"/>
            </a:endParaRPr>
          </a:p>
          <a:p>
            <a:pPr>
              <a:buNone/>
            </a:pPr>
            <a:r>
              <a:rPr lang="en-US" altLang="zh-CN" dirty="0">
                <a:solidFill>
                  <a:srgbClr val="202126"/>
                </a:solidFill>
                <a:latin typeface="Courier" panose="02070309020205020404" pitchFamily="49" charset="0"/>
              </a:rPr>
              <a:t>2.</a:t>
            </a:r>
            <a:endParaRPr lang="zh-CN" altLang="en-US" dirty="0">
              <a:solidFill>
                <a:srgbClr val="202126"/>
              </a:solidFill>
              <a:effectLst/>
              <a:latin typeface="Courier" panose="02070309020205020404" pitchFamily="49" charset="0"/>
            </a:endParaRPr>
          </a:p>
          <a:p>
            <a:pPr>
              <a:buNone/>
            </a:pPr>
            <a:r>
              <a:rPr lang="en" altLang="zh-CN" dirty="0">
                <a:solidFill>
                  <a:srgbClr val="202126"/>
                </a:solidFill>
                <a:effectLst/>
                <a:latin typeface="Courier" panose="02070309020205020404" pitchFamily="49" charset="0"/>
              </a:rPr>
              <a:t>Agent-</a:t>
            </a:r>
            <a:r>
              <a:rPr lang="zh-CN" altLang="en-US" dirty="0">
                <a:solidFill>
                  <a:srgbClr val="000000"/>
                </a:solidFill>
                <a:effectLst/>
                <a:latin typeface="Helvetica" pitchFamily="2" charset="0"/>
              </a:rPr>
              <a:t>环境修复与资源回收</a:t>
            </a:r>
            <a:r>
              <a:rPr lang="zh-CN" altLang="en-US" dirty="0">
                <a:solidFill>
                  <a:srgbClr val="000000"/>
                </a:solidFill>
                <a:effectLst/>
                <a:latin typeface="Songti SC" panose="02010600040101010101" pitchFamily="2" charset="-122"/>
                <a:ea typeface="Songti SC" panose="02010600040101010101" pitchFamily="2" charset="-122"/>
              </a:rPr>
              <a:t> </a:t>
            </a:r>
            <a:endParaRPr lang="zh-CN" altLang="en-US" dirty="0">
              <a:solidFill>
                <a:srgbClr val="000000"/>
              </a:solidFill>
              <a:effectLst/>
              <a:latin typeface="Helvetica" pitchFamily="2" charset="0"/>
            </a:endParaRPr>
          </a:p>
        </p:txBody>
      </p:sp>
    </p:spTree>
    <p:extLst>
      <p:ext uri="{BB962C8B-B14F-4D97-AF65-F5344CB8AC3E}">
        <p14:creationId xmlns:p14="http://schemas.microsoft.com/office/powerpoint/2010/main" val="3422877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89C479BB-CD41-33CC-642A-534D730F12B4}"/>
              </a:ext>
            </a:extLst>
          </p:cNvPr>
          <p:cNvSpPr txBox="1"/>
          <p:nvPr/>
        </p:nvSpPr>
        <p:spPr>
          <a:xfrm>
            <a:off x="353085" y="407406"/>
            <a:ext cx="5223850" cy="1754326"/>
          </a:xfrm>
          <a:prstGeom prst="rect">
            <a:avLst/>
          </a:prstGeom>
          <a:noFill/>
        </p:spPr>
        <p:txBody>
          <a:bodyPr wrap="square" rtlCol="0">
            <a:spAutoFit/>
          </a:bodyPr>
          <a:lstStyle/>
          <a:p>
            <a:pPr marL="342900" indent="-342900">
              <a:buAutoNum type="arabicPeriod"/>
            </a:pPr>
            <a:r>
              <a:rPr kumimoji="1" lang="en-US" altLang="zh-CN" dirty="0"/>
              <a:t>Bench</a:t>
            </a:r>
            <a:r>
              <a:rPr kumimoji="1" lang="zh-CN" altLang="en-US" dirty="0"/>
              <a:t> </a:t>
            </a:r>
            <a:r>
              <a:rPr kumimoji="1" lang="en-US" altLang="zh-CN" dirty="0"/>
              <a:t>(intern)</a:t>
            </a:r>
            <a:r>
              <a:rPr kumimoji="1" lang="zh-CN" altLang="en-US" dirty="0"/>
              <a:t> </a:t>
            </a:r>
            <a:r>
              <a:rPr kumimoji="1" lang="en-US" altLang="zh-CN" dirty="0"/>
              <a:t>//</a:t>
            </a:r>
            <a:r>
              <a:rPr kumimoji="1" lang="en-US" altLang="zh-CN" dirty="0" err="1"/>
              <a:t>zhaorui</a:t>
            </a:r>
            <a:r>
              <a:rPr kumimoji="1" lang="zh-CN" altLang="en-US" dirty="0"/>
              <a:t> </a:t>
            </a:r>
            <a:r>
              <a:rPr kumimoji="1" lang="en-US" altLang="zh-CN" dirty="0" err="1"/>
              <a:t>yujun</a:t>
            </a:r>
            <a:r>
              <a:rPr kumimoji="1" lang="zh-CN" altLang="en-US" dirty="0"/>
              <a:t> </a:t>
            </a:r>
            <a:r>
              <a:rPr kumimoji="1" lang="en-US" altLang="zh-CN" dirty="0"/>
              <a:t>lead</a:t>
            </a:r>
          </a:p>
          <a:p>
            <a:pPr marL="342900" indent="-342900">
              <a:buAutoNum type="arabicPeriod"/>
            </a:pPr>
            <a:r>
              <a:rPr kumimoji="1" lang="en-US" altLang="zh-CN" dirty="0"/>
              <a:t>Agent</a:t>
            </a:r>
            <a:r>
              <a:rPr kumimoji="1" lang="zh-CN" altLang="en-US" dirty="0"/>
              <a:t>系统 </a:t>
            </a:r>
            <a:r>
              <a:rPr kumimoji="1" lang="en-US" altLang="zh-CN" dirty="0"/>
              <a:t>(</a:t>
            </a:r>
            <a:r>
              <a:rPr kumimoji="1" lang="en-US" altLang="zh-CN" dirty="0" err="1"/>
              <a:t>zhaorui</a:t>
            </a:r>
            <a:r>
              <a:rPr kumimoji="1" lang="en-US" altLang="zh-CN" dirty="0"/>
              <a:t>,</a:t>
            </a:r>
            <a:r>
              <a:rPr kumimoji="1" lang="zh-CN" altLang="en-US" dirty="0"/>
              <a:t> </a:t>
            </a:r>
            <a:r>
              <a:rPr kumimoji="1" lang="en-US" altLang="zh-CN" dirty="0" err="1"/>
              <a:t>yujun</a:t>
            </a:r>
            <a:r>
              <a:rPr kumimoji="1" lang="en-US" altLang="zh-CN" dirty="0"/>
              <a:t>)</a:t>
            </a:r>
          </a:p>
          <a:p>
            <a:pPr marL="342900" indent="-342900">
              <a:buFontTx/>
              <a:buAutoNum type="arabicPeriod"/>
            </a:pPr>
            <a:r>
              <a:rPr kumimoji="1" lang="zh-CN" altLang="en-US" dirty="0"/>
              <a:t>评测  </a:t>
            </a:r>
            <a:r>
              <a:rPr kumimoji="1" lang="en-US" altLang="zh-CN" dirty="0"/>
              <a:t>(</a:t>
            </a:r>
            <a:r>
              <a:rPr kumimoji="1" lang="en-US" altLang="zh-CN" dirty="0" err="1"/>
              <a:t>yujun</a:t>
            </a:r>
            <a:r>
              <a:rPr kumimoji="1" lang="en-US" altLang="zh-CN" dirty="0"/>
              <a:t>,</a:t>
            </a:r>
            <a:r>
              <a:rPr kumimoji="1" lang="zh-CN" altLang="en-US" dirty="0"/>
              <a:t> </a:t>
            </a:r>
            <a:r>
              <a:rPr kumimoji="1" lang="en-US" altLang="zh-CN" dirty="0" err="1"/>
              <a:t>zhaorui</a:t>
            </a:r>
            <a:r>
              <a:rPr kumimoji="1" lang="en-US" altLang="zh-CN" dirty="0"/>
              <a:t>)</a:t>
            </a:r>
          </a:p>
          <a:p>
            <a:pPr marL="342900" indent="-342900">
              <a:buAutoNum type="arabicPeriod"/>
            </a:pPr>
            <a:r>
              <a:rPr kumimoji="1" lang="en-US" altLang="zh-CN" dirty="0"/>
              <a:t>Website</a:t>
            </a:r>
            <a:r>
              <a:rPr kumimoji="1" lang="zh-CN" altLang="en-US" dirty="0"/>
              <a:t> </a:t>
            </a:r>
            <a:r>
              <a:rPr kumimoji="1" lang="en-US" altLang="zh-CN" dirty="0"/>
              <a:t>(intern)</a:t>
            </a:r>
          </a:p>
          <a:p>
            <a:pPr marL="342900" indent="-342900">
              <a:buAutoNum type="arabicPeriod"/>
            </a:pPr>
            <a:r>
              <a:rPr kumimoji="1" lang="en-US" altLang="zh-CN" dirty="0"/>
              <a:t>WRITING</a:t>
            </a:r>
            <a:r>
              <a:rPr kumimoji="1" lang="zh-CN" altLang="en-US" dirty="0"/>
              <a:t> </a:t>
            </a:r>
            <a:r>
              <a:rPr kumimoji="1" lang="en-US" altLang="zh-CN" dirty="0"/>
              <a:t>(</a:t>
            </a:r>
            <a:r>
              <a:rPr kumimoji="1" lang="en-US" altLang="zh-CN" dirty="0" err="1"/>
              <a:t>zhaorui</a:t>
            </a:r>
            <a:r>
              <a:rPr kumimoji="1" lang="en-US" altLang="zh-CN" dirty="0"/>
              <a:t>)</a:t>
            </a:r>
          </a:p>
          <a:p>
            <a:pPr marL="342900" indent="-342900">
              <a:buAutoNum type="arabicPeriod"/>
            </a:pPr>
            <a:r>
              <a:rPr kumimoji="1" lang="en-US" altLang="zh-CN" dirty="0"/>
              <a:t>Fig</a:t>
            </a:r>
            <a:r>
              <a:rPr kumimoji="1" lang="zh-CN" altLang="en-US" dirty="0"/>
              <a:t> </a:t>
            </a:r>
            <a:r>
              <a:rPr kumimoji="1" lang="en-US" altLang="zh-CN" dirty="0"/>
              <a:t>(</a:t>
            </a:r>
            <a:r>
              <a:rPr kumimoji="1" lang="en-US" altLang="zh-CN" dirty="0" err="1"/>
              <a:t>zhaorui</a:t>
            </a:r>
            <a:r>
              <a:rPr kumimoji="1" lang="en-US" altLang="zh-CN" dirty="0"/>
              <a:t>)</a:t>
            </a:r>
          </a:p>
        </p:txBody>
      </p:sp>
    </p:spTree>
    <p:extLst>
      <p:ext uri="{BB962C8B-B14F-4D97-AF65-F5344CB8AC3E}">
        <p14:creationId xmlns:p14="http://schemas.microsoft.com/office/powerpoint/2010/main" val="82890503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294</TotalTime>
  <Words>1448</Words>
  <Application>Microsoft Macintosh PowerPoint</Application>
  <PresentationFormat>宽屏</PresentationFormat>
  <Paragraphs>106</Paragraphs>
  <Slides>9</Slides>
  <Notes>5</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9</vt:i4>
      </vt:variant>
    </vt:vector>
  </HeadingPairs>
  <TitlesOfParts>
    <vt:vector size="16" baseType="lpstr">
      <vt:lpstr>PingFang SC</vt:lpstr>
      <vt:lpstr>Songti SC</vt:lpstr>
      <vt:lpstr>Arial</vt:lpstr>
      <vt:lpstr>Calibri</vt:lpstr>
      <vt:lpstr>Courier</vt:lpstr>
      <vt:lpstr>Helvetica</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Xuejiao Qiao</cp:lastModifiedBy>
  <cp:revision>5</cp:revision>
  <dcterms:created xsi:type="dcterms:W3CDTF">2013-01-27T09:14:16Z</dcterms:created>
  <dcterms:modified xsi:type="dcterms:W3CDTF">2026-09-16T12:20:05Z</dcterms:modified>
  <cp:category/>
</cp:coreProperties>
</file>