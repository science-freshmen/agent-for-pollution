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2" r:id="rId7"/>
    <p:sldId id="263" r:id="rId8"/>
    <p:sldId id="261" r:id="rId9"/>
    <p:sldId id="264" r:id="rId10"/>
    <p:sldId id="265" r:id="rId11"/>
    <p:sldId id="267"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项目意义" id="{2A70A532-2B70-A640-990D-91C3075A9373}">
          <p14:sldIdLst>
            <p14:sldId id="256"/>
            <p14:sldId id="257"/>
            <p14:sldId id="258"/>
            <p14:sldId id="259"/>
            <p14:sldId id="260"/>
          </p14:sldIdLst>
        </p14:section>
        <p14:section name="Abstract and introduction" id="{B7038C64-41BD-3949-8CC3-B82C43A0B0AE}">
          <p14:sldIdLst>
            <p14:sldId id="262"/>
            <p14:sldId id="263"/>
          </p14:sldIdLst>
        </p14:section>
        <p14:section name="agent调用软件" id="{EA6937BE-AEBB-1040-B7AF-933F9BB0939D}">
          <p14:sldIdLst>
            <p14:sldId id="261"/>
          </p14:sldIdLst>
        </p14:section>
        <p14:section name="bench问题" id="{C6FAD59A-A0C4-404E-917D-2F40883C1CB9}">
          <p14:sldIdLst>
            <p14:sldId id="264"/>
            <p14:sldId id="265"/>
            <p14:sldId id="267"/>
            <p14:sldId id="26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3"/>
    <p:restoredTop sz="94652"/>
  </p:normalViewPr>
  <p:slideViewPr>
    <p:cSldViewPr snapToGrid="0" snapToObjects="1">
      <p:cViewPr varScale="1">
        <p:scale>
          <a:sx n="143" d="100"/>
          <a:sy n="143" d="100"/>
        </p:scale>
        <p:origin x="216" y="6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193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开场30秒：本课题的落点是废水生物脱氮。相容性溶质是微生物天然抗逆策略，但产溶质的菌在废水脱氮中还没被定向用起来；我们构建了领域智能体SoluteAgent，把零散文献变成可交互的强化决策系统，并在anammox盐度体系做了验证。全程约5分钟。</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indent="304800" algn="just">
              <a:lnSpc>
                <a:spcPct val="150000"/>
              </a:lnSpc>
              <a:buNone/>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相容性溶质是极端微生物经长期适应性进化形成的核心普适性抗逆策略。这类小分子有机渗透物可在不干扰胞内正常代谢的前提下高浓度积累，既能通过离子</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溶质协同作用快速平衡胞内外渗透压，又能稳定蛋白质、核酸与细胞膜的水合壳，实现广谱生物结构保护。且该保护效应大多不依赖特定胁迫类型，单一溶质常同时赋予微生物耐盐、耐温、耐</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pH</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、耐干燥、抗辐射与抗压力的交叉保护能力。在高盐、极端温度与</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pH</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频繁波动的自然极端生境中，常驻微生物正是依托该机制建立了覆盖渗透调节、分子稳定与交叉保护的完整抗逆功能体系。目前这类资源已在食品、化妆品及合成生物学等领域获得广泛应用，但在废水脱氮场景中尚未得到定向开发与工程化利用。</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落点收在废水脱氮工程。典型系统是高盐、制药难降解工业废水的生物脱氮：人工菌群没经过极端环境选择，一遇盐度冲击、酸碱波动、极端温度就失稳。实践上只有单点实证——比如投加海洋耐盐菌提升反硝化效率，没有统一平台支撑从情景诊断到菌株筛选再到调控预评估的全流程，文献和组学数据复用不起来。核心缺口就是从场景到可投加方案之间缺一条贯通证据链的智能化路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先看总结：Agent已经能在环境工程、微生物、化学多个领域指导实质突破。但和我们的落点最相关的废水处理领域</a:t>
            </a:r>
            <a:r>
              <a:rPr dirty="0"/>
              <a:t>，</a:t>
            </a:r>
            <a:r>
              <a:rPr lang="zh-CN" altLang="en-US" dirty="0"/>
              <a:t>目前的研究进展是</a:t>
            </a:r>
            <a:r>
              <a:rPr dirty="0"/>
              <a:t>它让多个专职Agent分工整合仪表、化验报告等数据做工艺诊断与运行调控，用污泥膨胀诊断做了案例展示。缺陷有两个：一是只管反应器运行，不挖微生物资源；二是没有从胁迫场景到菌株筛选再到强化方案的链路，更没面向废水生物脱氮。SoluteAgent正好填补这个缺陷。</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uteAgent定位是虚拟生物强化专家：底座是4300余篇按胁迫分类的文献库、极端微生物组数据和定量互作模型，以智能体可调用的知识形态开放。工程师用自然语言描述盐度、pH或温度工况，系统解析为功能需求，检索整合证据、经互作模型检验迭代，输出经排序的菌株和预评估性能。验证在盐度胁迫的anammox体系：脱氮性能维持在X%（对照Y%），沿性能→群落→分子互作因果链逐层解析，预测与实测相符，还筛选出某菌株组合在X% NaCl冲击下维持脱氮。占位符数字等实验定稿后替换。</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Tree>
    <p:extLst>
      <p:ext uri="{BB962C8B-B14F-4D97-AF65-F5344CB8AC3E}">
        <p14:creationId xmlns:p14="http://schemas.microsoft.com/office/powerpoint/2010/main" val="3124352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Tree>
    <p:extLst>
      <p:ext uri="{BB962C8B-B14F-4D97-AF65-F5344CB8AC3E}">
        <p14:creationId xmlns:p14="http://schemas.microsoft.com/office/powerpoint/2010/main" val="200160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Rectangle 2"/>
          <p:cNvSpPr/>
          <p:nvPr/>
        </p:nvSpPr>
        <p:spPr>
          <a:xfrm>
            <a:off x="0" y="0"/>
            <a:ext cx="164592" cy="685800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4" name="TextBox 3"/>
          <p:cNvSpPr txBox="1"/>
          <p:nvPr/>
        </p:nvSpPr>
        <p:spPr>
          <a:xfrm>
            <a:off x="777240" y="960120"/>
            <a:ext cx="10607040" cy="365760"/>
          </a:xfrm>
          <a:prstGeom prst="rect">
            <a:avLst/>
          </a:prstGeom>
          <a:noFill/>
        </p:spPr>
        <p:txBody>
          <a:bodyPr wrap="square" lIns="0" tIns="0" rIns="0" bIns="0" anchor="t">
            <a:spAutoFit/>
          </a:bodyPr>
          <a:lstStyle/>
          <a:p>
            <a:pPr algn="l">
              <a:lnSpc>
                <a:spcPct val="112000"/>
              </a:lnSpc>
              <a:spcAft>
                <a:spcPts val="600"/>
              </a:spcAft>
            </a:pPr>
            <a:r>
              <a:rPr sz="1300" b="1">
                <a:solidFill>
                  <a:srgbClr val="0E6E6B"/>
                </a:solidFill>
                <a:latin typeface="Arial"/>
                <a:ea typeface="微软雅黑"/>
              </a:rPr>
              <a:t>研究背景与总体设计 · 组会汇报</a:t>
            </a:r>
          </a:p>
        </p:txBody>
      </p:sp>
      <p:sp>
        <p:nvSpPr>
          <p:cNvPr id="5" name="TextBox 4"/>
          <p:cNvSpPr txBox="1"/>
          <p:nvPr/>
        </p:nvSpPr>
        <p:spPr>
          <a:xfrm>
            <a:off x="777240" y="1572768"/>
            <a:ext cx="10881360" cy="2103120"/>
          </a:xfrm>
          <a:prstGeom prst="rect">
            <a:avLst/>
          </a:prstGeom>
          <a:noFill/>
        </p:spPr>
        <p:txBody>
          <a:bodyPr wrap="square" lIns="0" tIns="0" rIns="0" bIns="0" anchor="t">
            <a:spAutoFit/>
          </a:bodyPr>
          <a:lstStyle/>
          <a:p>
            <a:pPr algn="l">
              <a:lnSpc>
                <a:spcPct val="112000"/>
              </a:lnSpc>
              <a:spcAft>
                <a:spcPts val="1000"/>
              </a:spcAft>
            </a:pPr>
            <a:r>
              <a:rPr sz="3200" b="1">
                <a:solidFill>
                  <a:srgbClr val="212B2B"/>
                </a:solidFill>
                <a:latin typeface="Arial"/>
                <a:ea typeface="微软雅黑"/>
              </a:rPr>
              <a:t>相容性溶质功能微生物的资源挖掘</a:t>
            </a:r>
          </a:p>
          <a:p>
            <a:pPr algn="l">
              <a:lnSpc>
                <a:spcPct val="112000"/>
              </a:lnSpc>
              <a:spcAft>
                <a:spcPts val="1000"/>
              </a:spcAft>
            </a:pPr>
            <a:r>
              <a:rPr sz="3200" b="1">
                <a:solidFill>
                  <a:srgbClr val="212B2B"/>
                </a:solidFill>
                <a:latin typeface="Arial"/>
                <a:ea typeface="微软雅黑"/>
              </a:rPr>
              <a:t>与废水生物脱氮应用强化</a:t>
            </a:r>
          </a:p>
          <a:p>
            <a:pPr algn="l">
              <a:lnSpc>
                <a:spcPct val="112000"/>
              </a:lnSpc>
              <a:spcAft>
                <a:spcPts val="1000"/>
              </a:spcAft>
            </a:pPr>
            <a:r>
              <a:rPr sz="2400" b="1">
                <a:solidFill>
                  <a:srgbClr val="0A4F4D"/>
                </a:solidFill>
                <a:latin typeface="Arial"/>
                <a:ea typeface="微软雅黑"/>
              </a:rPr>
              <a:t>——领域智能体 [SoluteAgent]</a:t>
            </a:r>
          </a:p>
        </p:txBody>
      </p:sp>
      <p:sp>
        <p:nvSpPr>
          <p:cNvPr id="6" name="Rectangle 5"/>
          <p:cNvSpPr/>
          <p:nvPr/>
        </p:nvSpPr>
        <p:spPr>
          <a:xfrm>
            <a:off x="804672" y="4160520"/>
            <a:ext cx="1920240" cy="41148"/>
          </a:xfrm>
          <a:prstGeom prst="rect">
            <a:avLst/>
          </a:prstGeom>
          <a:solidFill>
            <a:srgbClr val="C9D8D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7" name="TextBox 6"/>
          <p:cNvSpPr txBox="1"/>
          <p:nvPr/>
        </p:nvSpPr>
        <p:spPr>
          <a:xfrm>
            <a:off x="777240" y="4407408"/>
            <a:ext cx="10881360" cy="822960"/>
          </a:xfrm>
          <a:prstGeom prst="rect">
            <a:avLst/>
          </a:prstGeom>
          <a:noFill/>
        </p:spPr>
        <p:txBody>
          <a:bodyPr wrap="square" lIns="0" tIns="0" rIns="0" bIns="0" anchor="t">
            <a:spAutoFit/>
          </a:bodyPr>
          <a:lstStyle/>
          <a:p>
            <a:pPr algn="l">
              <a:lnSpc>
                <a:spcPct val="112000"/>
              </a:lnSpc>
              <a:spcAft>
                <a:spcPts val="400"/>
              </a:spcAft>
            </a:pPr>
            <a:r>
              <a:rPr sz="1400" b="0">
                <a:solidFill>
                  <a:srgbClr val="5A6B6A"/>
                </a:solidFill>
                <a:latin typeface="Arial"/>
                <a:ea typeface="微软雅黑"/>
              </a:rPr>
              <a:t>将碎片化的相容性溶质抗逆文献转化为可交互的生物强化决策系统：</a:t>
            </a:r>
          </a:p>
          <a:p>
            <a:pPr algn="l">
              <a:lnSpc>
                <a:spcPct val="112000"/>
              </a:lnSpc>
              <a:spcAft>
                <a:spcPts val="400"/>
              </a:spcAft>
            </a:pPr>
            <a:r>
              <a:rPr sz="1400" b="0">
                <a:solidFill>
                  <a:srgbClr val="5A6B6A"/>
                </a:solidFill>
                <a:latin typeface="Arial"/>
                <a:ea typeface="微软雅黑"/>
              </a:rPr>
              <a:t>自然语言描述工况 → 经排序的候选菌株 + 预评估性能 → 可部署方案</a:t>
            </a:r>
          </a:p>
        </p:txBody>
      </p:sp>
      <p:sp>
        <p:nvSpPr>
          <p:cNvPr id="8" name="Rectangle 7"/>
          <p:cNvSpPr/>
          <p:nvPr/>
        </p:nvSpPr>
        <p:spPr>
          <a:xfrm>
            <a:off x="777240" y="5897880"/>
            <a:ext cx="10634472" cy="914"/>
          </a:xfrm>
          <a:prstGeom prst="rect">
            <a:avLst/>
          </a:prstGeom>
          <a:noFill/>
          <a:ln w="12700">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9" name="TextBox 8"/>
          <p:cNvSpPr txBox="1"/>
          <p:nvPr/>
        </p:nvSpPr>
        <p:spPr>
          <a:xfrm>
            <a:off x="777240" y="6053328"/>
            <a:ext cx="10607040" cy="365760"/>
          </a:xfrm>
          <a:prstGeom prst="rect">
            <a:avLst/>
          </a:prstGeom>
          <a:noFill/>
        </p:spPr>
        <p:txBody>
          <a:bodyPr wrap="square" lIns="0" tIns="0" rIns="0" bIns="0" anchor="t">
            <a:spAutoFit/>
          </a:bodyPr>
          <a:lstStyle/>
          <a:p>
            <a:pPr algn="l">
              <a:lnSpc>
                <a:spcPct val="112000"/>
              </a:lnSpc>
              <a:spcAft>
                <a:spcPts val="600"/>
              </a:spcAft>
            </a:pPr>
            <a:r>
              <a:rPr sz="1200" b="0">
                <a:solidFill>
                  <a:srgbClr val="8A9998"/>
                </a:solidFill>
                <a:latin typeface="Arial"/>
                <a:ea typeface="微软雅黑"/>
              </a:rPr>
              <a:t>汇报人：________    ｜    2026年9月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相容性溶质：小分子、广谱保护、交叉抗逆，但废水脱氮尚未定向开发</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TextBox 4"/>
          <p:cNvSpPr txBox="1"/>
          <p:nvPr/>
        </p:nvSpPr>
        <p:spPr>
          <a:xfrm>
            <a:off x="548640" y="1481328"/>
            <a:ext cx="6583680" cy="2286000"/>
          </a:xfrm>
          <a:prstGeom prst="rect">
            <a:avLst/>
          </a:prstGeom>
          <a:noFill/>
        </p:spPr>
        <p:txBody>
          <a:bodyPr wrap="square" lIns="0" tIns="0" rIns="0" bIns="0" anchor="t">
            <a:spAutoFit/>
          </a:bodyPr>
          <a:lstStyle/>
          <a:p>
            <a:pPr algn="l">
              <a:lnSpc>
                <a:spcPct val="112000"/>
              </a:lnSpc>
              <a:spcAft>
                <a:spcPts val="800"/>
              </a:spcAft>
            </a:pPr>
            <a:r>
              <a:rPr sz="1300" b="1">
                <a:solidFill>
                  <a:srgbClr val="0E6E6B"/>
                </a:solidFill>
                <a:latin typeface="Arial"/>
                <a:ea typeface="微软雅黑"/>
              </a:rPr>
              <a:t>作用机制</a:t>
            </a:r>
          </a:p>
          <a:p>
            <a:pPr algn="l">
              <a:lnSpc>
                <a:spcPct val="112000"/>
              </a:lnSpc>
              <a:spcAft>
                <a:spcPts val="800"/>
              </a:spcAft>
            </a:pPr>
            <a:r>
              <a:rPr sz="1350" b="0">
                <a:solidFill>
                  <a:srgbClr val="212B2B"/>
                </a:solidFill>
                <a:latin typeface="Arial"/>
                <a:ea typeface="微软雅黑"/>
              </a:rPr>
              <a:t>· 小分子有机渗透物，高浓度积累而不干扰胞内正常代谢</a:t>
            </a:r>
          </a:p>
          <a:p>
            <a:pPr algn="l">
              <a:lnSpc>
                <a:spcPct val="112000"/>
              </a:lnSpc>
              <a:spcAft>
                <a:spcPts val="800"/>
              </a:spcAft>
            </a:pPr>
            <a:r>
              <a:rPr sz="1350" b="0">
                <a:solidFill>
                  <a:srgbClr val="212B2B"/>
                </a:solidFill>
                <a:latin typeface="Arial"/>
                <a:ea typeface="微软雅黑"/>
              </a:rPr>
              <a:t>· 离子-溶质协同，快速平衡胞内外渗透压</a:t>
            </a:r>
          </a:p>
          <a:p>
            <a:pPr algn="l">
              <a:lnSpc>
                <a:spcPct val="112000"/>
              </a:lnSpc>
              <a:spcAft>
                <a:spcPts val="800"/>
              </a:spcAft>
            </a:pPr>
            <a:r>
              <a:rPr sz="1350" b="0">
                <a:solidFill>
                  <a:srgbClr val="212B2B"/>
                </a:solidFill>
                <a:latin typeface="Arial"/>
                <a:ea typeface="微软雅黑"/>
              </a:rPr>
              <a:t>· 稳定蛋白质、核酸与细胞膜的水合壳，实现广谱结构保护</a:t>
            </a:r>
          </a:p>
        </p:txBody>
      </p:sp>
      <p:sp>
        <p:nvSpPr>
          <p:cNvPr id="6" name="TextBox 5"/>
          <p:cNvSpPr txBox="1"/>
          <p:nvPr/>
        </p:nvSpPr>
        <p:spPr>
          <a:xfrm>
            <a:off x="548640" y="3703320"/>
            <a:ext cx="6583680" cy="320040"/>
          </a:xfrm>
          <a:prstGeom prst="rect">
            <a:avLst/>
          </a:prstGeom>
          <a:noFill/>
        </p:spPr>
        <p:txBody>
          <a:bodyPr wrap="square" lIns="0" tIns="0" rIns="0" bIns="0" anchor="t">
            <a:spAutoFit/>
          </a:bodyPr>
          <a:lstStyle/>
          <a:p>
            <a:pPr algn="l">
              <a:lnSpc>
                <a:spcPct val="112000"/>
              </a:lnSpc>
              <a:spcAft>
                <a:spcPts val="600"/>
              </a:spcAft>
            </a:pPr>
            <a:r>
              <a:rPr sz="1250" b="0">
                <a:solidFill>
                  <a:srgbClr val="5A6B6A"/>
                </a:solidFill>
                <a:latin typeface="Arial"/>
                <a:ea typeface="微软雅黑"/>
              </a:rPr>
              <a:t>单一溶质常同时赋予交叉保护：</a:t>
            </a:r>
          </a:p>
        </p:txBody>
      </p:sp>
      <p:sp>
        <p:nvSpPr>
          <p:cNvPr id="7" name="Rectangle 6"/>
          <p:cNvSpPr/>
          <p:nvPr/>
        </p:nvSpPr>
        <p:spPr>
          <a:xfrm>
            <a:off x="548640"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耐盐</a:t>
            </a:r>
          </a:p>
        </p:txBody>
      </p:sp>
      <p:sp>
        <p:nvSpPr>
          <p:cNvPr id="8" name="Rectangle 7"/>
          <p:cNvSpPr/>
          <p:nvPr/>
        </p:nvSpPr>
        <p:spPr>
          <a:xfrm>
            <a:off x="1609344"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耐温</a:t>
            </a:r>
          </a:p>
        </p:txBody>
      </p:sp>
      <p:sp>
        <p:nvSpPr>
          <p:cNvPr id="9" name="Rectangle 8"/>
          <p:cNvSpPr/>
          <p:nvPr/>
        </p:nvSpPr>
        <p:spPr>
          <a:xfrm>
            <a:off x="2670048"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耐pH</a:t>
            </a:r>
          </a:p>
        </p:txBody>
      </p:sp>
      <p:sp>
        <p:nvSpPr>
          <p:cNvPr id="10" name="Rectangle 9"/>
          <p:cNvSpPr/>
          <p:nvPr/>
        </p:nvSpPr>
        <p:spPr>
          <a:xfrm>
            <a:off x="3730752"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耐干燥</a:t>
            </a:r>
          </a:p>
        </p:txBody>
      </p:sp>
      <p:sp>
        <p:nvSpPr>
          <p:cNvPr id="11" name="Rectangle 10"/>
          <p:cNvSpPr/>
          <p:nvPr/>
        </p:nvSpPr>
        <p:spPr>
          <a:xfrm>
            <a:off x="4791456"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抗辐射</a:t>
            </a:r>
          </a:p>
        </p:txBody>
      </p:sp>
      <p:sp>
        <p:nvSpPr>
          <p:cNvPr id="12" name="Rectangle 11"/>
          <p:cNvSpPr/>
          <p:nvPr/>
        </p:nvSpPr>
        <p:spPr>
          <a:xfrm>
            <a:off x="5852160" y="4041648"/>
            <a:ext cx="932688" cy="38404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0A4F4D"/>
                </a:solidFill>
                <a:latin typeface="Arial"/>
                <a:ea typeface="微软雅黑"/>
              </a:rPr>
              <a:t>抗压力</a:t>
            </a:r>
          </a:p>
        </p:txBody>
      </p:sp>
      <p:sp>
        <p:nvSpPr>
          <p:cNvPr id="13" name="Rectangle 12"/>
          <p:cNvSpPr/>
          <p:nvPr/>
        </p:nvSpPr>
        <p:spPr>
          <a:xfrm>
            <a:off x="7635240" y="1481328"/>
            <a:ext cx="4005072" cy="2944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600"/>
              </a:spcAft>
            </a:pPr>
            <a:r>
              <a:rPr sz="1300" b="1">
                <a:solidFill>
                  <a:srgbClr val="0A4F4D"/>
                </a:solidFill>
                <a:latin typeface="Arial"/>
                <a:ea typeface="微软雅黑"/>
              </a:rPr>
              <a:t>自然极端生境中的完整抗逆体系</a:t>
            </a:r>
          </a:p>
          <a:p>
            <a:pPr algn="l">
              <a:lnSpc>
                <a:spcPct val="110000"/>
              </a:lnSpc>
              <a:spcAft>
                <a:spcPts val="600"/>
              </a:spcAft>
            </a:pPr>
            <a:r>
              <a:rPr sz="1250" b="0">
                <a:solidFill>
                  <a:srgbClr val="212B2B"/>
                </a:solidFill>
                <a:latin typeface="Arial"/>
                <a:ea typeface="微软雅黑"/>
              </a:rPr>
              <a:t>在高盐、极端温度与pH频繁波动的生境中，</a:t>
            </a:r>
          </a:p>
          <a:p>
            <a:pPr algn="l">
              <a:lnSpc>
                <a:spcPct val="110000"/>
              </a:lnSpc>
              <a:spcAft>
                <a:spcPts val="600"/>
              </a:spcAft>
            </a:pPr>
            <a:r>
              <a:rPr sz="1250" b="0">
                <a:solidFill>
                  <a:srgbClr val="212B2B"/>
                </a:solidFill>
                <a:latin typeface="Arial"/>
                <a:ea typeface="微软雅黑"/>
              </a:rPr>
              <a:t>常驻微生物正是依托相容性溶质建立了覆盖</a:t>
            </a:r>
          </a:p>
          <a:p>
            <a:pPr algn="l">
              <a:lnSpc>
                <a:spcPct val="110000"/>
              </a:lnSpc>
              <a:spcAft>
                <a:spcPts val="600"/>
              </a:spcAft>
            </a:pPr>
            <a:r>
              <a:rPr sz="1250" b="1">
                <a:solidFill>
                  <a:srgbClr val="0A4F4D"/>
                </a:solidFill>
                <a:latin typeface="Arial"/>
                <a:ea typeface="微软雅黑"/>
              </a:rPr>
              <a:t>渗透调节、分子稳定与交叉保护的完整功能体系。</a:t>
            </a:r>
          </a:p>
        </p:txBody>
      </p:sp>
      <p:sp>
        <p:nvSpPr>
          <p:cNvPr id="14" name="Rectangle 13"/>
          <p:cNvSpPr/>
          <p:nvPr/>
        </p:nvSpPr>
        <p:spPr>
          <a:xfrm>
            <a:off x="548640" y="5074920"/>
            <a:ext cx="5440680" cy="1234440"/>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200"/>
              </a:spcAft>
            </a:pPr>
            <a:r>
              <a:rPr sz="1300" b="1">
                <a:solidFill>
                  <a:srgbClr val="5A6B6A"/>
                </a:solidFill>
                <a:latin typeface="Arial"/>
                <a:ea typeface="微软雅黑"/>
              </a:rPr>
              <a:t>已在食品、化妆品、合成生物学等领域应用</a:t>
            </a:r>
          </a:p>
          <a:p>
            <a:pPr algn="l">
              <a:lnSpc>
                <a:spcPct val="110000"/>
              </a:lnSpc>
              <a:spcAft>
                <a:spcPts val="200"/>
              </a:spcAft>
            </a:pPr>
            <a:r>
              <a:rPr sz="1150" b="0">
                <a:solidFill>
                  <a:srgbClr val="5A6B6A"/>
                </a:solidFill>
                <a:latin typeface="Arial"/>
                <a:ea typeface="微软雅黑"/>
              </a:rPr>
              <a:t>应用成熟，但场景与微生物资源挖掘无关</a:t>
            </a:r>
          </a:p>
        </p:txBody>
      </p:sp>
      <p:sp>
        <p:nvSpPr>
          <p:cNvPr id="15" name="Rectangle 14"/>
          <p:cNvSpPr/>
          <p:nvPr/>
        </p:nvSpPr>
        <p:spPr>
          <a:xfrm>
            <a:off x="6172200" y="5074920"/>
            <a:ext cx="5468112" cy="1234440"/>
          </a:xfrm>
          <a:prstGeom prst="rect">
            <a:avLst/>
          </a:prstGeom>
          <a:solidFill>
            <a:srgbClr val="FAEF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200"/>
              </a:spcAft>
            </a:pPr>
            <a:r>
              <a:rPr sz="1300" b="1">
                <a:solidFill>
                  <a:srgbClr val="B4560E"/>
                </a:solidFill>
                <a:latin typeface="Arial"/>
                <a:ea typeface="微软雅黑"/>
              </a:rPr>
              <a:t>废水脱氮场景：尚未定向开发与工程化利用</a:t>
            </a:r>
          </a:p>
          <a:p>
            <a:pPr algn="l">
              <a:lnSpc>
                <a:spcPct val="110000"/>
              </a:lnSpc>
              <a:spcAft>
                <a:spcPts val="200"/>
              </a:spcAft>
            </a:pPr>
            <a:r>
              <a:rPr sz="1150" b="0">
                <a:solidFill>
                  <a:srgbClr val="212B2B"/>
                </a:solidFill>
                <a:latin typeface="Arial"/>
                <a:ea typeface="微软雅黑"/>
              </a:rPr>
              <a:t>天然抗逆资源难以落地——本研究的出发点</a:t>
            </a:r>
          </a:p>
        </p:txBody>
      </p:sp>
      <p:sp>
        <p:nvSpPr>
          <p:cNvPr id="16" name="TextBox 15"/>
          <p:cNvSpPr txBox="1"/>
          <p:nvPr/>
        </p:nvSpPr>
        <p:spPr>
          <a:xfrm>
            <a:off x="548640" y="6419088"/>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来源：Introduction 第一段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废水脱氮工程需要抗逆菌群，但强化实践停留在单点实证、平台缺位</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Rectangle 4"/>
          <p:cNvSpPr/>
          <p:nvPr/>
        </p:nvSpPr>
        <p:spPr>
          <a:xfrm>
            <a:off x="548640" y="1517904"/>
            <a:ext cx="11091672" cy="1371600"/>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400"/>
              </a:spcAft>
            </a:pPr>
            <a:r>
              <a:rPr sz="1400" b="1">
                <a:solidFill>
                  <a:srgbClr val="0A4F4D"/>
                </a:solidFill>
                <a:latin typeface="Arial"/>
                <a:ea typeface="微软雅黑"/>
              </a:rPr>
              <a:t>定向引入产相容性溶质功能微生物，是突破人工功能群落抗逆性不足瓶颈的重要途径</a:t>
            </a:r>
          </a:p>
          <a:p>
            <a:pPr algn="l">
              <a:lnSpc>
                <a:spcPct val="110000"/>
              </a:lnSpc>
              <a:spcAft>
                <a:spcPts val="400"/>
              </a:spcAft>
            </a:pPr>
            <a:r>
              <a:rPr sz="1200" b="0">
                <a:solidFill>
                  <a:srgbClr val="5A6B6A"/>
                </a:solidFill>
                <a:latin typeface="Arial"/>
                <a:ea typeface="微软雅黑"/>
              </a:rPr>
              <a:t>典型系统：高盐 / 制药难降解工业废水生物处理脱氮 —— 工程菌群未经极端环境长期定向选择，无法自主形成高效的相容性溶质合成与调控通路</a:t>
            </a:r>
          </a:p>
        </p:txBody>
      </p:sp>
      <p:sp>
        <p:nvSpPr>
          <p:cNvPr id="6" name="TextBox 5"/>
          <p:cNvSpPr txBox="1"/>
          <p:nvPr/>
        </p:nvSpPr>
        <p:spPr>
          <a:xfrm>
            <a:off x="548640" y="3154680"/>
            <a:ext cx="3291840" cy="320040"/>
          </a:xfrm>
          <a:prstGeom prst="rect">
            <a:avLst/>
          </a:prstGeom>
          <a:noFill/>
        </p:spPr>
        <p:txBody>
          <a:bodyPr wrap="square" lIns="0" tIns="0" rIns="0" bIns="0" anchor="t">
            <a:spAutoFit/>
          </a:bodyPr>
          <a:lstStyle/>
          <a:p>
            <a:pPr algn="l">
              <a:lnSpc>
                <a:spcPct val="112000"/>
              </a:lnSpc>
              <a:spcAft>
                <a:spcPts val="600"/>
              </a:spcAft>
            </a:pPr>
            <a:r>
              <a:rPr sz="1250" b="0">
                <a:solidFill>
                  <a:srgbClr val="5A6B6A"/>
                </a:solidFill>
                <a:latin typeface="Arial"/>
                <a:ea typeface="微软雅黑"/>
              </a:rPr>
              <a:t>遭遇非生物胁迫时：</a:t>
            </a:r>
          </a:p>
        </p:txBody>
      </p:sp>
      <p:sp>
        <p:nvSpPr>
          <p:cNvPr id="7" name="Rectangle 6"/>
          <p:cNvSpPr/>
          <p:nvPr/>
        </p:nvSpPr>
        <p:spPr>
          <a:xfrm>
            <a:off x="2788920" y="3090672"/>
            <a:ext cx="1143000" cy="384048"/>
          </a:xfrm>
          <a:prstGeom prst="rect">
            <a:avLst/>
          </a:prstGeom>
          <a:solidFill>
            <a:srgbClr val="FAEF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B4560E"/>
                </a:solidFill>
                <a:latin typeface="Arial"/>
                <a:ea typeface="微软雅黑"/>
              </a:rPr>
              <a:t>盐度冲击</a:t>
            </a:r>
          </a:p>
        </p:txBody>
      </p:sp>
      <p:sp>
        <p:nvSpPr>
          <p:cNvPr id="8" name="Rectangle 7"/>
          <p:cNvSpPr/>
          <p:nvPr/>
        </p:nvSpPr>
        <p:spPr>
          <a:xfrm>
            <a:off x="4078224" y="3090672"/>
            <a:ext cx="1143000" cy="384048"/>
          </a:xfrm>
          <a:prstGeom prst="rect">
            <a:avLst/>
          </a:prstGeom>
          <a:solidFill>
            <a:srgbClr val="FAEF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B4560E"/>
                </a:solidFill>
                <a:latin typeface="Arial"/>
                <a:ea typeface="微软雅黑"/>
              </a:rPr>
              <a:t>酸碱波动</a:t>
            </a:r>
          </a:p>
        </p:txBody>
      </p:sp>
      <p:sp>
        <p:nvSpPr>
          <p:cNvPr id="9" name="Rectangle 8"/>
          <p:cNvSpPr/>
          <p:nvPr/>
        </p:nvSpPr>
        <p:spPr>
          <a:xfrm>
            <a:off x="5367528" y="3090672"/>
            <a:ext cx="1143000" cy="384048"/>
          </a:xfrm>
          <a:prstGeom prst="rect">
            <a:avLst/>
          </a:prstGeom>
          <a:solidFill>
            <a:srgbClr val="FAEF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B4560E"/>
                </a:solidFill>
                <a:latin typeface="Arial"/>
                <a:ea typeface="微软雅黑"/>
              </a:rPr>
              <a:t>极端温度</a:t>
            </a:r>
          </a:p>
        </p:txBody>
      </p:sp>
      <p:sp>
        <p:nvSpPr>
          <p:cNvPr id="10" name="Rectangle 9"/>
          <p:cNvSpPr/>
          <p:nvPr/>
        </p:nvSpPr>
        <p:spPr>
          <a:xfrm>
            <a:off x="6537960" y="3035808"/>
            <a:ext cx="510235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200"/>
              </a:spcAft>
            </a:pPr>
            <a:r>
              <a:rPr sz="1300" b="1">
                <a:solidFill>
                  <a:srgbClr val="212B2B"/>
                </a:solidFill>
                <a:latin typeface="Arial"/>
                <a:ea typeface="微软雅黑"/>
              </a:rPr>
              <a:t>→ 运行稳定性与处理效率大幅下降</a:t>
            </a:r>
          </a:p>
        </p:txBody>
      </p:sp>
      <p:sp>
        <p:nvSpPr>
          <p:cNvPr id="11" name="Rectangle 10"/>
          <p:cNvSpPr/>
          <p:nvPr/>
        </p:nvSpPr>
        <p:spPr>
          <a:xfrm>
            <a:off x="548640" y="3886200"/>
            <a:ext cx="11091672" cy="1691640"/>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500"/>
              </a:spcAft>
            </a:pPr>
            <a:r>
              <a:rPr sz="1350" b="1">
                <a:solidFill>
                  <a:srgbClr val="212B2B"/>
                </a:solidFill>
                <a:latin typeface="Arial"/>
                <a:ea typeface="微软雅黑"/>
              </a:rPr>
              <a:t>现状缺陷：工程应用停留在单点实证探索阶段</a:t>
            </a:r>
            <a:r>
              <a:rPr sz="1200" b="0">
                <a:solidFill>
                  <a:srgbClr val="5A6B6A"/>
                </a:solidFill>
                <a:latin typeface="Arial"/>
                <a:ea typeface="微软雅黑"/>
              </a:rPr>
              <a:t>（如投加海洋耐盐菌提升反硝化效率）</a:t>
            </a:r>
          </a:p>
          <a:p>
            <a:pPr algn="l">
              <a:lnSpc>
                <a:spcPct val="110000"/>
              </a:lnSpc>
              <a:spcAft>
                <a:spcPts val="500"/>
              </a:spcAft>
            </a:pPr>
            <a:r>
              <a:rPr sz="1250" b="0">
                <a:solidFill>
                  <a:srgbClr val="212B2B"/>
                </a:solidFill>
                <a:latin typeface="Arial"/>
                <a:ea typeface="微软雅黑"/>
              </a:rPr>
              <a:t>尚未形成统一的方法与公共平台，支撑“胁迫情景诊断 — 目标功能菌株定向筛选 — 调控策略绩效预评估”全流程</a:t>
            </a:r>
          </a:p>
          <a:p>
            <a:pPr algn="l">
              <a:lnSpc>
                <a:spcPct val="110000"/>
              </a:lnSpc>
              <a:spcAft>
                <a:spcPts val="500"/>
              </a:spcAft>
            </a:pPr>
            <a:r>
              <a:rPr sz="1200" b="0">
                <a:solidFill>
                  <a:srgbClr val="5A6B6A"/>
                </a:solidFill>
                <a:latin typeface="Arial"/>
                <a:ea typeface="微软雅黑"/>
              </a:rPr>
              <a:t>零散文献数据、极端微生物组信息与实证结果无法高效复用，制约天然抗逆资源的大规模转化</a:t>
            </a:r>
          </a:p>
        </p:txBody>
      </p:sp>
      <p:sp>
        <p:nvSpPr>
          <p:cNvPr id="12" name="Rectangle 11"/>
          <p:cNvSpPr/>
          <p:nvPr/>
        </p:nvSpPr>
        <p:spPr>
          <a:xfrm>
            <a:off x="548640" y="5870448"/>
            <a:ext cx="110916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300" b="1">
                <a:solidFill>
                  <a:srgbClr val="0A4F4D"/>
                </a:solidFill>
                <a:latin typeface="Arial"/>
                <a:ea typeface="微软雅黑"/>
              </a:rPr>
              <a:t>核心缺口：从“胁迫场景”到“可投加的菌株与方案”之间，缺少一条贯通证据链的智能化路径</a:t>
            </a:r>
          </a:p>
        </p:txBody>
      </p:sp>
      <p:sp>
        <p:nvSpPr>
          <p:cNvPr id="13" name="TextBox 12"/>
          <p:cNvSpPr txBox="1"/>
          <p:nvPr/>
        </p:nvSpPr>
        <p:spPr>
          <a:xfrm>
            <a:off x="548640" y="6419088"/>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来源：Introduction 第二段</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Agent已能指导多领域突破，但废水脱氮的功能菌强化仍无覆盖</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TextBox 4"/>
          <p:cNvSpPr txBox="1"/>
          <p:nvPr/>
        </p:nvSpPr>
        <p:spPr>
          <a:xfrm>
            <a:off x="548640" y="1417320"/>
            <a:ext cx="11064240" cy="457200"/>
          </a:xfrm>
          <a:prstGeom prst="rect">
            <a:avLst/>
          </a:prstGeom>
          <a:noFill/>
        </p:spPr>
        <p:txBody>
          <a:bodyPr wrap="square" lIns="0" tIns="0" rIns="0" bIns="0" anchor="t">
            <a:spAutoFit/>
          </a:bodyPr>
          <a:lstStyle/>
          <a:p>
            <a:pPr algn="l">
              <a:lnSpc>
                <a:spcPct val="112000"/>
              </a:lnSpc>
              <a:spcAft>
                <a:spcPts val="600"/>
              </a:spcAft>
            </a:pPr>
            <a:r>
              <a:rPr sz="1250" b="0">
                <a:solidFill>
                  <a:srgbClr val="212B2B"/>
                </a:solidFill>
                <a:latin typeface="Arial"/>
                <a:ea typeface="微软雅黑"/>
              </a:rPr>
              <a:t>领域Agent集成结构化知识库、专业工具与定量分析模型，打通文献—数据库—实验经验的信息壁垒</a:t>
            </a:r>
          </a:p>
        </p:txBody>
      </p:sp>
      <p:sp>
        <p:nvSpPr>
          <p:cNvPr id="6" name="Rectangle 5"/>
          <p:cNvSpPr/>
          <p:nvPr/>
        </p:nvSpPr>
        <p:spPr>
          <a:xfrm>
            <a:off x="548640" y="1938528"/>
            <a:ext cx="11091672" cy="914400"/>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300" b="1">
                <a:solidFill>
                  <a:srgbClr val="0A4F4D"/>
                </a:solidFill>
                <a:latin typeface="Arial"/>
                <a:ea typeface="微软雅黑"/>
              </a:rPr>
              <a:t>已指导多领域实质突破：</a:t>
            </a:r>
            <a:r>
              <a:rPr sz="1200" b="0">
                <a:solidFill>
                  <a:srgbClr val="212B2B"/>
                </a:solidFill>
                <a:latin typeface="Arial"/>
                <a:ea typeface="微软雅黑"/>
              </a:rPr>
              <a:t>环境工程·复杂系统运行决策（Rothfarb et al., 2025）｜微生物·基因编辑实验设计与蛋白质功能预测（Qu et al., 2024; Zhapa-Camacho et al., 2025）｜化学·自主有机合成与化学实验（Bran et al., 2024; Boiko et al., 2023）</a:t>
            </a:r>
          </a:p>
        </p:txBody>
      </p:sp>
      <p:sp>
        <p:nvSpPr>
          <p:cNvPr id="7" name="Rectangle 6"/>
          <p:cNvSpPr/>
          <p:nvPr/>
        </p:nvSpPr>
        <p:spPr>
          <a:xfrm>
            <a:off x="548640" y="3072384"/>
            <a:ext cx="7223760" cy="1691640"/>
          </a:xfrm>
          <a:prstGeom prst="rect">
            <a:avLst/>
          </a:prstGeom>
          <a:solidFill>
            <a:srgbClr val="FFFFFF"/>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400"/>
              </a:spcAft>
            </a:pPr>
            <a:r>
              <a:rPr sz="1300" b="1">
                <a:solidFill>
                  <a:srgbClr val="0A4F4D"/>
                </a:solidFill>
                <a:latin typeface="Arial"/>
                <a:ea typeface="微软雅黑"/>
              </a:rPr>
              <a:t>废水处理领域进展（与本研究最相关）</a:t>
            </a:r>
          </a:p>
          <a:p>
            <a:pPr algn="l">
              <a:lnSpc>
                <a:spcPct val="110000"/>
              </a:lnSpc>
              <a:spcAft>
                <a:spcPts val="400"/>
              </a:spcAft>
            </a:pPr>
            <a:r>
              <a:rPr sz="1150" b="0">
                <a:solidFill>
                  <a:srgbClr val="212B2B"/>
                </a:solidFill>
                <a:latin typeface="Arial"/>
                <a:ea typeface="微软雅黑"/>
              </a:rPr>
              <a:t>多智能体LLM框架用于工艺诊断与运行调控：多个专职Agent分工整合仪表数据、化验报告与运行记录，协同给出调控建议；以污泥膨胀诊断为例，展示优于传统活性污泥模型与机器学习方法的应用潜力</a:t>
            </a:r>
          </a:p>
          <a:p>
            <a:pPr algn="l">
              <a:lnSpc>
                <a:spcPct val="110000"/>
              </a:lnSpc>
              <a:spcAft>
                <a:spcPts val="400"/>
              </a:spcAft>
            </a:pPr>
            <a:r>
              <a:rPr sz="1000" b="0">
                <a:solidFill>
                  <a:srgbClr val="8A9998"/>
                </a:solidFill>
                <a:latin typeface="Arial"/>
                <a:ea typeface="微软雅黑"/>
              </a:rPr>
              <a:t>Rothfarb et al., 2025（展望性设计）</a:t>
            </a:r>
          </a:p>
        </p:txBody>
      </p:sp>
      <p:sp>
        <p:nvSpPr>
          <p:cNvPr id="8" name="Rectangle 7"/>
          <p:cNvSpPr/>
          <p:nvPr/>
        </p:nvSpPr>
        <p:spPr>
          <a:xfrm>
            <a:off x="7909560" y="3072384"/>
            <a:ext cx="3730752" cy="1691640"/>
          </a:xfrm>
          <a:prstGeom prst="rect">
            <a:avLst/>
          </a:prstGeom>
          <a:solidFill>
            <a:srgbClr val="FAEF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400"/>
              </a:spcAft>
            </a:pPr>
            <a:r>
              <a:rPr sz="1300" b="1">
                <a:solidFill>
                  <a:srgbClr val="B4560E"/>
                </a:solidFill>
                <a:latin typeface="Arial"/>
                <a:ea typeface="微软雅黑"/>
              </a:rPr>
              <a:t>缺陷</a:t>
            </a:r>
          </a:p>
          <a:p>
            <a:pPr algn="l">
              <a:lnSpc>
                <a:spcPct val="110000"/>
              </a:lnSpc>
              <a:spcAft>
                <a:spcPts val="400"/>
              </a:spcAft>
            </a:pPr>
            <a:r>
              <a:rPr sz="1150" b="0">
                <a:solidFill>
                  <a:srgbClr val="212B2B"/>
                </a:solidFill>
                <a:latin typeface="Arial"/>
                <a:ea typeface="微软雅黑"/>
              </a:rPr>
              <a:t>① 只做反应器运行层面决策，不挖掘微生物功能资源；</a:t>
            </a:r>
          </a:p>
          <a:p>
            <a:pPr algn="l">
              <a:lnSpc>
                <a:spcPct val="110000"/>
              </a:lnSpc>
              <a:spcAft>
                <a:spcPts val="400"/>
              </a:spcAft>
            </a:pPr>
            <a:r>
              <a:rPr sz="1150" b="0">
                <a:solidFill>
                  <a:srgbClr val="212B2B"/>
                </a:solidFill>
                <a:latin typeface="Arial"/>
                <a:ea typeface="微软雅黑"/>
              </a:rPr>
              <a:t>② 没有“胁迫场景→菌株级筛选→生物强化方案”链路，未面向废水生物脱氮</a:t>
            </a:r>
          </a:p>
        </p:txBody>
      </p:sp>
      <p:sp>
        <p:nvSpPr>
          <p:cNvPr id="9" name="Rectangle 8"/>
          <p:cNvSpPr/>
          <p:nvPr/>
        </p:nvSpPr>
        <p:spPr>
          <a:xfrm>
            <a:off x="548640" y="5001768"/>
            <a:ext cx="11091672"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300"/>
              </a:spcAft>
            </a:pPr>
            <a:r>
              <a:rPr sz="1300" b="1">
                <a:solidFill>
                  <a:srgbClr val="212B2B"/>
                </a:solidFill>
                <a:latin typeface="Arial"/>
                <a:ea typeface="微软雅黑"/>
              </a:rPr>
              <a:t>尚无Agent能从胁迫场景出发，贯通“文献证据检索 → 产相容性溶质功能菌定向筛选 → 调控策略性能预评估”</a:t>
            </a:r>
          </a:p>
          <a:p>
            <a:pPr algn="l">
              <a:lnSpc>
                <a:spcPct val="110000"/>
              </a:lnSpc>
              <a:spcAft>
                <a:spcPts val="300"/>
              </a:spcAft>
            </a:pPr>
            <a:r>
              <a:rPr sz="1300" b="1">
                <a:solidFill>
                  <a:srgbClr val="0A4F4D"/>
                </a:solidFill>
                <a:latin typeface="Arial"/>
                <a:ea typeface="微软雅黑"/>
              </a:rPr>
              <a:t>→ [SoluteAgent] 恰好填补这一缺陷</a:t>
            </a:r>
          </a:p>
        </p:txBody>
      </p:sp>
      <p:sp>
        <p:nvSpPr>
          <p:cNvPr id="10" name="TextBox 9"/>
          <p:cNvSpPr txBox="1"/>
          <p:nvPr/>
        </p:nvSpPr>
        <p:spPr>
          <a:xfrm>
            <a:off x="548640" y="5989320"/>
            <a:ext cx="11064240" cy="365760"/>
          </a:xfrm>
          <a:prstGeom prst="rect">
            <a:avLst/>
          </a:prstGeom>
          <a:noFill/>
        </p:spPr>
        <p:txBody>
          <a:bodyPr wrap="square" lIns="0" tIns="0" rIns="0" bIns="0" anchor="t">
            <a:spAutoFit/>
          </a:bodyPr>
          <a:lstStyle/>
          <a:p>
            <a:pPr algn="l">
              <a:lnSpc>
                <a:spcPct val="112000"/>
              </a:lnSpc>
              <a:spcAft>
                <a:spcPts val="600"/>
              </a:spcAft>
            </a:pPr>
            <a:r>
              <a:rPr sz="950" b="0">
                <a:solidFill>
                  <a:srgbClr val="8A9998"/>
                </a:solidFill>
                <a:latin typeface="Arial"/>
                <a:ea typeface="微软雅黑"/>
              </a:rPr>
              <a:t>上述文献均经Crossref核验；与废水生物脱氮功能菌强化直接相关的Agent应用尚无已发表工作</a:t>
            </a:r>
          </a:p>
        </p:txBody>
      </p:sp>
      <p:sp>
        <p:nvSpPr>
          <p:cNvPr id="11" name="TextBox 10"/>
          <p:cNvSpPr txBox="1"/>
          <p:nvPr/>
        </p:nvSpPr>
        <p:spPr>
          <a:xfrm>
            <a:off x="548640" y="6419088"/>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来源：Introduction 第三段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3" name="TextBox 2"/>
          <p:cNvSpPr txBox="1"/>
          <p:nvPr/>
        </p:nvSpPr>
        <p:spPr>
          <a:xfrm>
            <a:off x="548640" y="347472"/>
            <a:ext cx="11091672" cy="868680"/>
          </a:xfrm>
          <a:prstGeom prst="rect">
            <a:avLst/>
          </a:prstGeom>
          <a:noFill/>
        </p:spPr>
        <p:txBody>
          <a:bodyPr wrap="square" lIns="0" tIns="0" rIns="0" bIns="0" anchor="t">
            <a:spAutoFit/>
          </a:bodyPr>
          <a:lstStyle/>
          <a:p>
            <a:pPr algn="l">
              <a:lnSpc>
                <a:spcPct val="105000"/>
              </a:lnSpc>
              <a:spcAft>
                <a:spcPts val="600"/>
              </a:spcAft>
            </a:pPr>
            <a:r>
              <a:rPr sz="2300" b="1">
                <a:solidFill>
                  <a:srgbClr val="212B2B"/>
                </a:solidFill>
                <a:latin typeface="Arial"/>
                <a:ea typeface="微软雅黑"/>
              </a:rPr>
              <a:t>[SoluteAgent]：虚拟生物强化专家，贯通“场景需求→菌株方案→实证验证”</a:t>
            </a:r>
          </a:p>
        </p:txBody>
      </p:sp>
      <p:sp>
        <p:nvSpPr>
          <p:cNvPr id="4" name="Rectangle 3"/>
          <p:cNvSpPr/>
          <p:nvPr/>
        </p:nvSpPr>
        <p:spPr>
          <a:xfrm>
            <a:off x="566928" y="1152144"/>
            <a:ext cx="502920" cy="4572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5" name="TextBox 4"/>
          <p:cNvSpPr txBox="1"/>
          <p:nvPr/>
        </p:nvSpPr>
        <p:spPr>
          <a:xfrm>
            <a:off x="548640" y="1389888"/>
            <a:ext cx="2743200" cy="274320"/>
          </a:xfrm>
          <a:prstGeom prst="rect">
            <a:avLst/>
          </a:prstGeom>
          <a:noFill/>
        </p:spPr>
        <p:txBody>
          <a:bodyPr wrap="square" lIns="0" tIns="0" rIns="0" bIns="0" anchor="t">
            <a:spAutoFit/>
          </a:bodyPr>
          <a:lstStyle/>
          <a:p>
            <a:pPr algn="l">
              <a:lnSpc>
                <a:spcPct val="112000"/>
              </a:lnSpc>
              <a:spcAft>
                <a:spcPts val="600"/>
              </a:spcAft>
            </a:pPr>
            <a:r>
              <a:rPr sz="1200" b="1">
                <a:solidFill>
                  <a:srgbClr val="0E6E6B"/>
                </a:solidFill>
                <a:latin typeface="Arial"/>
                <a:ea typeface="微软雅黑"/>
              </a:rPr>
              <a:t>系统底座（可调用知识）</a:t>
            </a:r>
          </a:p>
        </p:txBody>
      </p:sp>
      <p:sp>
        <p:nvSpPr>
          <p:cNvPr id="6" name="Rectangle 5"/>
          <p:cNvSpPr/>
          <p:nvPr/>
        </p:nvSpPr>
        <p:spPr>
          <a:xfrm>
            <a:off x="548640" y="1700784"/>
            <a:ext cx="3017520" cy="74980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050" b="0">
                <a:solidFill>
                  <a:srgbClr val="212B2B"/>
                </a:solidFill>
                <a:latin typeface="Arial"/>
                <a:ea typeface="微软雅黑"/>
              </a:rPr>
              <a:t>4300余篇相容性溶质文献知识库（按胁迫类型分类）</a:t>
            </a:r>
          </a:p>
        </p:txBody>
      </p:sp>
      <p:sp>
        <p:nvSpPr>
          <p:cNvPr id="7" name="Rectangle 6"/>
          <p:cNvSpPr/>
          <p:nvPr/>
        </p:nvSpPr>
        <p:spPr>
          <a:xfrm>
            <a:off x="548640" y="2569464"/>
            <a:ext cx="3017520" cy="74980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050" b="0">
                <a:solidFill>
                  <a:srgbClr val="212B2B"/>
                </a:solidFill>
                <a:latin typeface="Arial"/>
                <a:ea typeface="微软雅黑"/>
              </a:rPr>
              <a:t>极端环境微生物组数据集</a:t>
            </a:r>
          </a:p>
        </p:txBody>
      </p:sp>
      <p:sp>
        <p:nvSpPr>
          <p:cNvPr id="8" name="Rectangle 7"/>
          <p:cNvSpPr/>
          <p:nvPr/>
        </p:nvSpPr>
        <p:spPr>
          <a:xfrm>
            <a:off x="548640" y="3438144"/>
            <a:ext cx="3017520" cy="749808"/>
          </a:xfrm>
          <a:prstGeom prst="rect">
            <a:avLst/>
          </a:prstGeom>
          <a:solidFill>
            <a:srgbClr val="EAF2F1"/>
          </a:solidFill>
          <a:ln w="9525">
            <a:solidFill>
              <a:srgbClr val="C9D8D6"/>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lnSpc>
                <a:spcPct val="110000"/>
              </a:lnSpc>
              <a:spcAft>
                <a:spcPts val="0"/>
              </a:spcAft>
            </a:pPr>
            <a:r>
              <a:rPr sz="1050" b="0">
                <a:solidFill>
                  <a:srgbClr val="212B2B"/>
                </a:solidFill>
                <a:latin typeface="Arial"/>
                <a:ea typeface="微软雅黑"/>
              </a:rPr>
              <a:t>定量功能互作分析模型</a:t>
            </a:r>
          </a:p>
        </p:txBody>
      </p:sp>
      <p:sp>
        <p:nvSpPr>
          <p:cNvPr id="9" name="Right Arrow 8"/>
          <p:cNvSpPr/>
          <p:nvPr/>
        </p:nvSpPr>
        <p:spPr>
          <a:xfrm>
            <a:off x="3630168" y="2944368"/>
            <a:ext cx="457200" cy="310896"/>
          </a:xfrm>
          <a:prstGeom prst="rightArrow">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10" name="Rectangle 9"/>
          <p:cNvSpPr/>
          <p:nvPr/>
        </p:nvSpPr>
        <p:spPr>
          <a:xfrm>
            <a:off x="4151376" y="1700784"/>
            <a:ext cx="3291840" cy="2834640"/>
          </a:xfrm>
          <a:prstGeom prst="rect">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300"/>
              </a:spcAft>
            </a:pPr>
            <a:r>
              <a:rPr sz="1400" b="1">
                <a:solidFill>
                  <a:srgbClr val="FFFFFF"/>
                </a:solidFill>
                <a:latin typeface="Arial"/>
                <a:ea typeface="微软雅黑"/>
              </a:rPr>
              <a:t>[SoluteAgent] 虚拟生物强化专家</a:t>
            </a:r>
          </a:p>
          <a:p>
            <a:pPr algn="ctr">
              <a:lnSpc>
                <a:spcPct val="110000"/>
              </a:lnSpc>
              <a:spcAft>
                <a:spcPts val="300"/>
              </a:spcAft>
            </a:pPr>
            <a:r>
              <a:rPr sz="1150" b="0">
                <a:solidFill>
                  <a:srgbClr val="FFFFFF"/>
                </a:solidFill>
                <a:latin typeface="Arial"/>
                <a:ea typeface="微软雅黑"/>
              </a:rPr>
              <a:t>自然语言描述盐度/pH/温度工况</a:t>
            </a:r>
          </a:p>
          <a:p>
            <a:pPr algn="ctr">
              <a:lnSpc>
                <a:spcPct val="110000"/>
              </a:lnSpc>
              <a:spcAft>
                <a:spcPts val="300"/>
              </a:spcAft>
            </a:pPr>
            <a:r>
              <a:rPr sz="1150" b="0">
                <a:solidFill>
                  <a:srgbClr val="FFFFFF"/>
                </a:solidFill>
                <a:latin typeface="Arial"/>
                <a:ea typeface="微软雅黑"/>
              </a:rPr>
              <a:t>↓ 解析为功能需求</a:t>
            </a:r>
          </a:p>
          <a:p>
            <a:pPr algn="ctr">
              <a:lnSpc>
                <a:spcPct val="110000"/>
              </a:lnSpc>
              <a:spcAft>
                <a:spcPts val="300"/>
              </a:spcAft>
            </a:pPr>
            <a:r>
              <a:rPr sz="1150" b="0">
                <a:solidFill>
                  <a:srgbClr val="FFFFFF"/>
                </a:solidFill>
                <a:latin typeface="Arial"/>
                <a:ea typeface="微软雅黑"/>
              </a:rPr>
              <a:t>检索整合文献证据</a:t>
            </a:r>
          </a:p>
          <a:p>
            <a:pPr algn="ctr">
              <a:lnSpc>
                <a:spcPct val="110000"/>
              </a:lnSpc>
              <a:spcAft>
                <a:spcPts val="300"/>
              </a:spcAft>
            </a:pPr>
            <a:r>
              <a:rPr sz="1150" b="0">
                <a:solidFill>
                  <a:srgbClr val="FFFFFF"/>
                </a:solidFill>
                <a:latin typeface="Arial"/>
                <a:ea typeface="微软雅黑"/>
              </a:rPr>
              <a:t>互作模型检验·迭代优化</a:t>
            </a:r>
          </a:p>
          <a:p>
            <a:pPr algn="ctr">
              <a:lnSpc>
                <a:spcPct val="110000"/>
              </a:lnSpc>
              <a:spcAft>
                <a:spcPts val="300"/>
              </a:spcAft>
            </a:pPr>
            <a:r>
              <a:rPr sz="1150" b="0">
                <a:solidFill>
                  <a:srgbClr val="FFFFFF"/>
                </a:solidFill>
                <a:latin typeface="Arial"/>
                <a:ea typeface="微软雅黑"/>
              </a:rPr>
              <a:t>↓ 输出</a:t>
            </a:r>
          </a:p>
          <a:p>
            <a:pPr algn="ctr">
              <a:lnSpc>
                <a:spcPct val="110000"/>
              </a:lnSpc>
              <a:spcAft>
                <a:spcPts val="300"/>
              </a:spcAft>
            </a:pPr>
            <a:r>
              <a:rPr sz="1200" b="1">
                <a:solidFill>
                  <a:srgbClr val="FFFFFF"/>
                </a:solidFill>
                <a:latin typeface="Arial"/>
                <a:ea typeface="微软雅黑"/>
              </a:rPr>
              <a:t>经排序的菌株 + 预评估性能</a:t>
            </a:r>
          </a:p>
        </p:txBody>
      </p:sp>
      <p:sp>
        <p:nvSpPr>
          <p:cNvPr id="11" name="Right Arrow 10"/>
          <p:cNvSpPr/>
          <p:nvPr/>
        </p:nvSpPr>
        <p:spPr>
          <a:xfrm>
            <a:off x="7488936" y="2944368"/>
            <a:ext cx="457200" cy="310896"/>
          </a:xfrm>
          <a:prstGeom prst="rightArrow">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12" name="TextBox 11"/>
          <p:cNvSpPr txBox="1"/>
          <p:nvPr/>
        </p:nvSpPr>
        <p:spPr>
          <a:xfrm>
            <a:off x="8065008" y="1389888"/>
            <a:ext cx="3566160" cy="274320"/>
          </a:xfrm>
          <a:prstGeom prst="rect">
            <a:avLst/>
          </a:prstGeom>
          <a:noFill/>
        </p:spPr>
        <p:txBody>
          <a:bodyPr wrap="square" lIns="0" tIns="0" rIns="0" bIns="0" anchor="t">
            <a:spAutoFit/>
          </a:bodyPr>
          <a:lstStyle/>
          <a:p>
            <a:pPr algn="l">
              <a:lnSpc>
                <a:spcPct val="112000"/>
              </a:lnSpc>
              <a:spcAft>
                <a:spcPts val="600"/>
              </a:spcAft>
            </a:pPr>
            <a:r>
              <a:rPr sz="1200" b="1">
                <a:solidFill>
                  <a:srgbClr val="0E6E6B"/>
                </a:solidFill>
                <a:latin typeface="Arial"/>
                <a:ea typeface="微软雅黑"/>
              </a:rPr>
              <a:t>输出：可部署的生物强化方案</a:t>
            </a:r>
          </a:p>
        </p:txBody>
      </p:sp>
      <p:sp>
        <p:nvSpPr>
          <p:cNvPr id="13" name="Rectangle 12"/>
          <p:cNvSpPr/>
          <p:nvPr/>
        </p:nvSpPr>
        <p:spPr>
          <a:xfrm>
            <a:off x="8065008" y="1700784"/>
            <a:ext cx="3566160" cy="749808"/>
          </a:xfrm>
          <a:prstGeom prst="rect">
            <a:avLst/>
          </a:prstGeom>
          <a:solidFill>
            <a:srgbClr val="FFFFFF"/>
          </a:solidFill>
          <a:ln w="9525">
            <a:solidFill>
              <a:srgbClr val="0E6E6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00" b="1">
                <a:solidFill>
                  <a:srgbClr val="0A4F4D"/>
                </a:solidFill>
                <a:latin typeface="Arial"/>
                <a:ea typeface="微软雅黑"/>
              </a:rPr>
              <a:t>目标功能菌株智能筛选</a:t>
            </a:r>
          </a:p>
        </p:txBody>
      </p:sp>
      <p:sp>
        <p:nvSpPr>
          <p:cNvPr id="14" name="Rectangle 13"/>
          <p:cNvSpPr/>
          <p:nvPr/>
        </p:nvSpPr>
        <p:spPr>
          <a:xfrm>
            <a:off x="8065008" y="2569464"/>
            <a:ext cx="3566160" cy="749808"/>
          </a:xfrm>
          <a:prstGeom prst="rect">
            <a:avLst/>
          </a:prstGeom>
          <a:solidFill>
            <a:srgbClr val="FFFFFF"/>
          </a:solidFill>
          <a:ln w="9525">
            <a:solidFill>
              <a:srgbClr val="0E6E6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00" b="1">
                <a:solidFill>
                  <a:srgbClr val="0A4F4D"/>
                </a:solidFill>
                <a:latin typeface="Arial"/>
                <a:ea typeface="微软雅黑"/>
              </a:rPr>
              <a:t>调控策略性能预评估</a:t>
            </a:r>
          </a:p>
        </p:txBody>
      </p:sp>
      <p:sp>
        <p:nvSpPr>
          <p:cNvPr id="15" name="Rectangle 14"/>
          <p:cNvSpPr/>
          <p:nvPr/>
        </p:nvSpPr>
        <p:spPr>
          <a:xfrm>
            <a:off x="8065008" y="3438144"/>
            <a:ext cx="3566160" cy="749808"/>
          </a:xfrm>
          <a:prstGeom prst="rect">
            <a:avLst/>
          </a:prstGeom>
          <a:solidFill>
            <a:srgbClr val="FFFFFF"/>
          </a:solidFill>
          <a:ln w="9525">
            <a:solidFill>
              <a:srgbClr val="0E6E6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00" b="1">
                <a:solidFill>
                  <a:srgbClr val="0A4F4D"/>
                </a:solidFill>
                <a:latin typeface="Arial"/>
                <a:ea typeface="微软雅黑"/>
              </a:rPr>
              <a:t>生物强化投加方案</a:t>
            </a:r>
          </a:p>
        </p:txBody>
      </p:sp>
      <p:sp>
        <p:nvSpPr>
          <p:cNvPr id="16" name="Down Arrow 15"/>
          <p:cNvSpPr/>
          <p:nvPr/>
        </p:nvSpPr>
        <p:spPr>
          <a:xfrm>
            <a:off x="9692640" y="4315968"/>
            <a:ext cx="310896" cy="365760"/>
          </a:xfrm>
          <a:prstGeom prst="downArrow">
            <a:avLst/>
          </a:prstGeom>
          <a:solidFill>
            <a:srgbClr val="0E6E6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endParaRPr/>
          </a:p>
        </p:txBody>
      </p:sp>
      <p:sp>
        <p:nvSpPr>
          <p:cNvPr id="17" name="Rectangle 16"/>
          <p:cNvSpPr/>
          <p:nvPr/>
        </p:nvSpPr>
        <p:spPr>
          <a:xfrm>
            <a:off x="548640" y="4700016"/>
            <a:ext cx="11091672" cy="1170432"/>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nSpc>
                <a:spcPct val="110000"/>
              </a:lnSpc>
              <a:spcAft>
                <a:spcPts val="400"/>
              </a:spcAft>
            </a:pPr>
            <a:r>
              <a:rPr sz="1300" b="1" dirty="0" err="1">
                <a:solidFill>
                  <a:srgbClr val="0A4F4D"/>
                </a:solidFill>
                <a:latin typeface="Arial"/>
                <a:ea typeface="微软雅黑"/>
              </a:rPr>
              <a:t>实证验证：盐度胁迫</a:t>
            </a:r>
            <a:r>
              <a:rPr sz="1300" b="1" dirty="0">
                <a:solidFill>
                  <a:srgbClr val="0A4F4D"/>
                </a:solidFill>
                <a:latin typeface="Arial"/>
                <a:ea typeface="微软雅黑"/>
              </a:rPr>
              <a:t> anammox </a:t>
            </a:r>
            <a:r>
              <a:rPr sz="1300" b="1" dirty="0" err="1">
                <a:solidFill>
                  <a:srgbClr val="0A4F4D"/>
                </a:solidFill>
                <a:latin typeface="Arial"/>
                <a:ea typeface="微软雅黑"/>
              </a:rPr>
              <a:t>体系</a:t>
            </a:r>
            <a:r>
              <a:rPr sz="1150" b="0" dirty="0">
                <a:solidFill>
                  <a:srgbClr val="212B2B"/>
                </a:solidFill>
                <a:latin typeface="Arial"/>
                <a:ea typeface="微软雅黑"/>
              </a:rPr>
              <a:t>　</a:t>
            </a:r>
            <a:r>
              <a:rPr lang="zh-CN" altLang="en-US" sz="1150" b="0" dirty="0">
                <a:solidFill>
                  <a:srgbClr val="212B2B"/>
                </a:solidFill>
                <a:latin typeface="Arial"/>
                <a:ea typeface="微软雅黑"/>
              </a:rPr>
              <a:t>智能体设计的生物强化方案将体系的耐盐阈值突破至</a:t>
            </a:r>
            <a:r>
              <a:rPr lang="en-US" altLang="zh-CN" sz="1150" b="0" dirty="0">
                <a:solidFill>
                  <a:srgbClr val="212B2B"/>
                </a:solidFill>
                <a:latin typeface="Arial"/>
                <a:ea typeface="微软雅黑"/>
              </a:rPr>
              <a:t>4%</a:t>
            </a:r>
            <a:r>
              <a:rPr lang="zh-CN" altLang="en-US" sz="1150" b="0" dirty="0">
                <a:solidFill>
                  <a:srgbClr val="212B2B"/>
                </a:solidFill>
                <a:latin typeface="Arial"/>
                <a:ea typeface="微软雅黑"/>
              </a:rPr>
              <a:t>，驯化周期缩短一半，且维持</a:t>
            </a:r>
            <a:r>
              <a:rPr lang="en-US" altLang="zh-CN" sz="1150" b="0" dirty="0">
                <a:solidFill>
                  <a:srgbClr val="212B2B"/>
                </a:solidFill>
                <a:latin typeface="Arial"/>
                <a:ea typeface="微软雅黑"/>
              </a:rPr>
              <a:t>80%</a:t>
            </a:r>
            <a:r>
              <a:rPr lang="zh-CN" altLang="en-US" sz="1150" b="0" dirty="0">
                <a:solidFill>
                  <a:srgbClr val="212B2B"/>
                </a:solidFill>
                <a:latin typeface="Arial"/>
                <a:ea typeface="微软雅黑"/>
              </a:rPr>
              <a:t>脱氮效率， </a:t>
            </a:r>
            <a:r>
              <a:rPr sz="1150" b="0" dirty="0">
                <a:solidFill>
                  <a:srgbClr val="212B2B"/>
                </a:solidFill>
                <a:latin typeface="Arial"/>
                <a:ea typeface="微软雅黑"/>
              </a:rPr>
              <a:t>；</a:t>
            </a:r>
            <a:r>
              <a:rPr sz="1150" b="0" dirty="0" err="1">
                <a:solidFill>
                  <a:srgbClr val="212B2B"/>
                </a:solidFill>
                <a:latin typeface="Arial"/>
                <a:ea typeface="微软雅黑"/>
              </a:rPr>
              <a:t>沿“体系性能→群落演替→溶质介导分子互作”因果链逐层定量解析</a:t>
            </a:r>
            <a:endParaRPr sz="1150" b="0" dirty="0">
              <a:solidFill>
                <a:srgbClr val="212B2B"/>
              </a:solidFill>
              <a:latin typeface="Arial"/>
              <a:ea typeface="微软雅黑"/>
            </a:endParaRPr>
          </a:p>
          <a:p>
            <a:pPr>
              <a:lnSpc>
                <a:spcPct val="110000"/>
              </a:lnSpc>
              <a:spcAft>
                <a:spcPts val="400"/>
              </a:spcAft>
            </a:pPr>
            <a:r>
              <a:rPr sz="1150" b="0" dirty="0" err="1">
                <a:solidFill>
                  <a:srgbClr val="212B2B"/>
                </a:solidFill>
                <a:latin typeface="Arial"/>
                <a:ea typeface="微软雅黑"/>
              </a:rPr>
              <a:t>智能体预测与实测响应相符，可复现留出文献中的菌株</a:t>
            </a:r>
            <a:r>
              <a:rPr sz="1150" b="0" dirty="0">
                <a:solidFill>
                  <a:srgbClr val="212B2B"/>
                </a:solidFill>
                <a:latin typeface="Arial"/>
                <a:ea typeface="微软雅黑"/>
              </a:rPr>
              <a:t>—</a:t>
            </a:r>
            <a:r>
              <a:rPr sz="1150" b="0" dirty="0" err="1">
                <a:solidFill>
                  <a:srgbClr val="212B2B"/>
                </a:solidFill>
                <a:latin typeface="Arial"/>
                <a:ea typeface="微软雅黑"/>
              </a:rPr>
              <a:t>溶质关系</a:t>
            </a:r>
            <a:r>
              <a:rPr sz="1150" b="0" dirty="0">
                <a:solidFill>
                  <a:srgbClr val="212B2B"/>
                </a:solidFill>
                <a:latin typeface="Arial"/>
                <a:ea typeface="微软雅黑"/>
              </a:rPr>
              <a:t>；</a:t>
            </a:r>
            <a:r>
              <a:rPr lang="en" altLang="zh-CN" sz="1150" b="0" dirty="0">
                <a:solidFill>
                  <a:srgbClr val="212B2B"/>
                </a:solidFill>
                <a:latin typeface="Arial"/>
                <a:ea typeface="微软雅黑"/>
              </a:rPr>
              <a:t>BAC1</a:t>
            </a:r>
            <a:r>
              <a:rPr lang="zh-CN" altLang="en-US" sz="1150" b="0" dirty="0">
                <a:solidFill>
                  <a:srgbClr val="212B2B"/>
                </a:solidFill>
                <a:latin typeface="Arial"/>
                <a:ea typeface="微软雅黑"/>
              </a:rPr>
              <a:t>和</a:t>
            </a:r>
            <a:r>
              <a:rPr lang="en" altLang="zh-CN" sz="1150" b="0" dirty="0">
                <a:solidFill>
                  <a:srgbClr val="212B2B"/>
                </a:solidFill>
                <a:latin typeface="Arial"/>
                <a:ea typeface="微软雅黑"/>
              </a:rPr>
              <a:t>BDE3</a:t>
            </a:r>
            <a:r>
              <a:rPr lang="zh-CN" altLang="en-US" sz="1150" b="0" dirty="0">
                <a:solidFill>
                  <a:srgbClr val="212B2B"/>
                </a:solidFill>
                <a:latin typeface="Arial"/>
                <a:ea typeface="微软雅黑"/>
              </a:rPr>
              <a:t>在</a:t>
            </a:r>
            <a:r>
              <a:rPr lang="en-US" altLang="zh-CN" sz="1150" b="0" dirty="0">
                <a:solidFill>
                  <a:srgbClr val="212B2B"/>
                </a:solidFill>
                <a:latin typeface="Arial"/>
                <a:ea typeface="微软雅黑"/>
              </a:rPr>
              <a:t>[4% </a:t>
            </a:r>
            <a:r>
              <a:rPr lang="en" altLang="zh-CN" sz="1150" b="0" dirty="0">
                <a:solidFill>
                  <a:srgbClr val="212B2B"/>
                </a:solidFill>
                <a:latin typeface="Arial"/>
                <a:ea typeface="微软雅黑"/>
              </a:rPr>
              <a:t>NaCl</a:t>
            </a:r>
            <a:r>
              <a:rPr lang="zh-CN" altLang="en-US" sz="1150" b="0" dirty="0">
                <a:solidFill>
                  <a:srgbClr val="212B2B"/>
                </a:solidFill>
                <a:latin typeface="Arial"/>
                <a:ea typeface="微软雅黑"/>
              </a:rPr>
              <a:t>冲击</a:t>
            </a:r>
            <a:r>
              <a:rPr lang="en-US" altLang="zh-CN" sz="1150" b="0" dirty="0">
                <a:solidFill>
                  <a:srgbClr val="212B2B"/>
                </a:solidFill>
                <a:latin typeface="Arial"/>
                <a:ea typeface="微软雅黑"/>
              </a:rPr>
              <a:t>]</a:t>
            </a:r>
            <a:r>
              <a:rPr sz="1150" b="0" dirty="0" err="1">
                <a:solidFill>
                  <a:srgbClr val="212B2B"/>
                </a:solidFill>
                <a:latin typeface="Arial"/>
                <a:ea typeface="微软雅黑"/>
              </a:rPr>
              <a:t>下维持脱氮功能</a:t>
            </a:r>
            <a:endParaRPr sz="1150" b="0" dirty="0">
              <a:solidFill>
                <a:srgbClr val="212B2B"/>
              </a:solidFill>
              <a:latin typeface="Arial"/>
              <a:ea typeface="微软雅黑"/>
            </a:endParaRPr>
          </a:p>
        </p:txBody>
      </p:sp>
      <p:sp>
        <p:nvSpPr>
          <p:cNvPr id="18" name="Rectangle 17"/>
          <p:cNvSpPr/>
          <p:nvPr/>
        </p:nvSpPr>
        <p:spPr>
          <a:xfrm>
            <a:off x="548640" y="5998464"/>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lnSpc>
                <a:spcPct val="110000"/>
              </a:lnSpc>
              <a:spcAft>
                <a:spcPts val="200"/>
              </a:spcAft>
            </a:pPr>
            <a:r>
              <a:rPr sz="1250" b="1">
                <a:solidFill>
                  <a:srgbClr val="212B2B"/>
                </a:solidFill>
                <a:latin typeface="Arial"/>
                <a:ea typeface="微软雅黑"/>
              </a:rPr>
              <a:t>将碎片化的进化抗逆文献转化为可交互的决策系统：知识驱动生物强化的新范式，从已发表科学到工程部署的可复用路径</a:t>
            </a:r>
          </a:p>
        </p:txBody>
      </p:sp>
      <p:sp>
        <p:nvSpPr>
          <p:cNvPr id="19" name="TextBox 18"/>
          <p:cNvSpPr txBox="1"/>
          <p:nvPr/>
        </p:nvSpPr>
        <p:spPr>
          <a:xfrm>
            <a:off x="548640" y="6528816"/>
            <a:ext cx="11064240" cy="274320"/>
          </a:xfrm>
          <a:prstGeom prst="rect">
            <a:avLst/>
          </a:prstGeom>
          <a:noFill/>
        </p:spPr>
        <p:txBody>
          <a:bodyPr wrap="square" lIns="0" tIns="0" rIns="0" bIns="0" anchor="t">
            <a:spAutoFit/>
          </a:bodyPr>
          <a:lstStyle/>
          <a:p>
            <a:pPr algn="l">
              <a:lnSpc>
                <a:spcPct val="112000"/>
              </a:lnSpc>
              <a:spcAft>
                <a:spcPts val="600"/>
              </a:spcAft>
            </a:pPr>
            <a:r>
              <a:rPr sz="900" b="0">
                <a:solidFill>
                  <a:srgbClr val="8A9998"/>
                </a:solidFill>
                <a:latin typeface="Arial"/>
                <a:ea typeface="微软雅黑"/>
              </a:rPr>
              <a:t>来源：Introduction 第四段 ｜ [X%]等占位符待实验数据确定后替换</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8178820-08CE-9A7F-4A21-D89F9C47627F}"/>
              </a:ext>
            </a:extLst>
          </p:cNvPr>
          <p:cNvSpPr txBox="1"/>
          <p:nvPr/>
        </p:nvSpPr>
        <p:spPr>
          <a:xfrm>
            <a:off x="246529" y="219588"/>
            <a:ext cx="11698941" cy="5856668"/>
          </a:xfrm>
          <a:prstGeom prst="rect">
            <a:avLst/>
          </a:prstGeom>
          <a:noFill/>
        </p:spPr>
        <p:txBody>
          <a:bodyPr wrap="square">
            <a:spAutoFit/>
          </a:bodyPr>
          <a:lstStyle/>
          <a:p>
            <a:pPr algn="just">
              <a:lnSpc>
                <a:spcPct val="150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Abstract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5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工程功能微生物群落的非生物抗逆性不足，长期制约着高盐难降解工业废水生物脱氮等体系在盐度冲击、酸碱波动与极端温度等非生物胁迫下的稳定运行。相容性溶质赋予微生物广谱交叉抗逆能力，但具备光谱相容性溶质合成的功能微生物在废水脱氮场景中尚未得到定向开发与工程化利用，且该领域缺乏贯通“胁迫情景诊断—目标功能菌株定向筛选—调控策略性能预评估”全流程的统一方法与平台。为此，本研究提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SoluteAgent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——一个面向相容性溶质功能微生物资源挖掘与难降解工业废水生物脱氮应用强化的领域智能</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Agent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，它将碎片化的相容性溶质抗逆文献转化为可交互的生物强化决策系统：以</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4300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余篇按胁迫类型分类的相容性溶质文献知识库和极端环境微生物组数据集为核心底座，集成定量功能互作分析模型，以智能体可调用的知识形态开放而非静态文本，将工程师以自然语言描述的盐度、</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pH</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或温度工况解析为功能需求，检索整合证据并经互作模型检验迭代，输出经排序的候选强化方案与预评估的性能。在盐度胁迫的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anammox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体系中，智能体设计的生物强化方案将体系的耐盐阈值突破至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，驯化周期缩短一半，且维持</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80%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脱氮效率，并沿“体系性能→群落演替→溶质介导的分子互作”因果链逐层定量解析至机制层面。智能体的预测与实测响应相符，还筛选出</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BAC1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BDE3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 NaCl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冲击</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下维持脱氮功能。本研究将碎片化的进化抗逆文献转化为可交互的决策系统，建立了知识驱动生物强化的新范式，为复杂胁迫环境下废水生物脱氮体系的性能强化提供一条从已发表科学到工程部署的可复用路径。</a:t>
            </a:r>
          </a:p>
        </p:txBody>
      </p:sp>
    </p:spTree>
    <p:extLst>
      <p:ext uri="{BB962C8B-B14F-4D97-AF65-F5344CB8AC3E}">
        <p14:creationId xmlns:p14="http://schemas.microsoft.com/office/powerpoint/2010/main" val="3617546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CF9A9EB-9898-C82A-C8D4-9D70EBAFF3BF}"/>
              </a:ext>
            </a:extLst>
          </p:cNvPr>
          <p:cNvSpPr txBox="1"/>
          <p:nvPr/>
        </p:nvSpPr>
        <p:spPr>
          <a:xfrm>
            <a:off x="147918" y="74652"/>
            <a:ext cx="11645153" cy="6708696"/>
          </a:xfrm>
          <a:prstGeom prst="rect">
            <a:avLst/>
          </a:prstGeom>
          <a:noFill/>
        </p:spPr>
        <p:txBody>
          <a:bodyPr wrap="square">
            <a:spAutoFit/>
          </a:bodyPr>
          <a:lstStyle/>
          <a:p>
            <a:pPr algn="just">
              <a:lnSpc>
                <a:spcPct val="150000"/>
              </a:lnSpc>
              <a:buNone/>
            </a:pP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Introduction</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304800" algn="just">
              <a:lnSpc>
                <a:spcPct val="150000"/>
              </a:lnSpc>
              <a:buNone/>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相容性溶质是极端微生物经长期适应性进化形成的核心普适性抗逆策略。这类小分子有机渗透物可在不干扰胞内正常代谢的前提下高浓度积累，既能通过离子</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溶质协同作用快速平衡胞内外渗透压，又能稳定蛋白质、核酸与细胞膜的水合壳，实现广谱生物结构保护。且该保护效应大多不依赖特定胁迫类型，单一溶质常同时赋予微生物耐盐、耐温、耐</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pH</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、耐干燥、抗辐射与抗压力的交叉保护能力。在高盐、极端温度与</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pH</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频繁波动的自然极端生境中，常驻微生物正是依托该机制建立了覆盖渗透调节、分子稳定与交叉保护的完整抗逆功能体系。目前这类资源已在食品、化妆品及合成生物学等领域获得广泛应用，但在废水脱氮场景中尚未得到定向开发与工程化利用。</a:t>
            </a:r>
          </a:p>
          <a:p>
            <a:pPr indent="304800" algn="just">
              <a:lnSpc>
                <a:spcPct val="150000"/>
              </a:lnSpc>
              <a:buNone/>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在废水脱氮工程中定向引入产相容性溶质功能微生物，是突破人工功能群落环境抗逆性不足瓶颈的重要途径。当前已构建的工程微生物群落大多未经过极端环境下的长期定向选择，无法自主形成高效的相容性溶质合成与调控通路，直接导致高盐</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制药难降解工业废水生物处理脱氮等典型系统，在遭遇盐度冲击、酸碱波动、极端温度等非生物胁迫时，运行稳定性与处理效率大幅下降。目前该领域的工程应用总体仍停留在单点实证探索阶段，常见实践包括利用海洋耐盐菌提升产甲烷量或反硝化效率，尚未形成统一的方法与公共平台支撑“胁迫情景诊断</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目标功能菌株定向筛选</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调控策略绩效预评估”全流程，大量零散文献数据、极端微生物组信息与实证结果无法实现高效复用，严重制约了这类天然抗逆资源的大规模转化与实际落地。</a:t>
            </a:r>
          </a:p>
          <a:p>
            <a:pPr indent="304800" algn="just">
              <a:lnSpc>
                <a:spcPct val="150000"/>
              </a:lnSpc>
              <a:buNone/>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面向特定领域的智能</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Agent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有望突破这一长期存在的技术空白。与通用大语言模型的泛化输出不同，领域</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Agent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通过集成结构化知识库、专业工具与定量分析模型，打通文献、公共数据库与实验经验之间的信息壁垒，目前已在环境生物技术相关领域展现出支撑实质性研究突破的能力，相关技术可行性与应用潜力已得到系列研究证实。现有环境智能体的研究进展已覆盖两个核心方向：一类聚焦废水处理系统的工艺诊断与运行调控优化，可整合仪表数据、化验报告等非结构化运行信息输出针对性调控建议（</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Rothfarb</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et al., 2025</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但这类工作始终集中在反应器运行层面的决策支持，未延伸至微生物抗逆功能资源的系统性挖掘环节；另一类面向微生物资源开发与功能调控，已在基因编辑实验设计、蛋白功能预测、合成路径自主规划等场景中实现落地，展现出专业知识集成、多步逻辑推理与方案自动优化的显著优势。但整体来看，两类技术的应用边界尚未打通，也未延伸至难降解工业废水生物脱氮体系的功能微生物强化场景，现有研究均无法从具体胁迫工况出发，贯通文献证据检索、抗逆微生物定向筛选与调控策略性能预评估的全链条流程。</a:t>
            </a:r>
          </a:p>
          <a:p>
            <a:pPr indent="304800" algn="just">
              <a:lnSpc>
                <a:spcPct val="150000"/>
              </a:lnSpc>
              <a:buNone/>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在此，我们提出</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SoluteAgent</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一个面向相容性溶质功能微生物资源挖掘与难降解工业废水生物脱氮应用强化的领域智能体，它将相容性溶质抗逆领域的碎片化文献转化为可交互的生物强化决策系统。传统生物强化要求工程师自行挖掘零散文献、以试错方式筛选菌株与投加方案，是该类资源落地的主要障碍；</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SoluteAgent</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以“虚拟生物强化专家”应对这一挑战：将按胁迫类型分类的文献知识库、极端微生物组数据与定量功能互作模型以智能体可调用的知识形态开放，把工程师以自然语言描述的盐度、</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pH</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或温度工况解析为功能需求，检索整合证据并经互作模型检验迭代，输出经排序的菌株与预评估的性能。我们在盐度胁迫的</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anammox</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体系中验证了其有效性：智能体设计的生物强化方案将脱氮性能维持在</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（对照组</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，并沿“体系性能→群落演替→</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溶质介导的分子互作</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”的因果链逐层解析至机制层面；其预测与实测响应相符，可复现留出文献中的菌株—溶质关系，并筛选出</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某菌株</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组合</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[X% NaCl</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冲击</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下维持脱氮功能。</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SoluteAgent</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由此建立了知识驱动生物强化的新范式，提供了一条从已发表科学到工程部署的可复用路径。</a:t>
            </a:r>
            <a:endParaRPr lang="zh-CN" altLang="en-US" sz="1200" dirty="0"/>
          </a:p>
        </p:txBody>
      </p:sp>
    </p:spTree>
    <p:extLst>
      <p:ext uri="{BB962C8B-B14F-4D97-AF65-F5344CB8AC3E}">
        <p14:creationId xmlns:p14="http://schemas.microsoft.com/office/powerpoint/2010/main" val="364771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1894BE-9E13-431A-30C3-0F5B48B41A1D}"/>
              </a:ext>
            </a:extLst>
          </p:cNvPr>
          <p:cNvSpPr txBox="1"/>
          <p:nvPr/>
        </p:nvSpPr>
        <p:spPr>
          <a:xfrm>
            <a:off x="493987" y="178445"/>
            <a:ext cx="10878206" cy="3888244"/>
          </a:xfrm>
          <a:prstGeom prst="rect">
            <a:avLst/>
          </a:prstGeom>
          <a:noFill/>
        </p:spPr>
        <p:txBody>
          <a:bodyPr wrap="square">
            <a:spAutoFit/>
          </a:bodyPr>
          <a:lstStyle/>
          <a:p>
            <a:pPr>
              <a:lnSpc>
                <a:spcPct val="200000"/>
              </a:lnSpc>
            </a:pPr>
            <a:r>
              <a:rPr kumimoji="1" lang="en-US" altLang="zh-CN" b="1" dirty="0"/>
              <a:t>agent</a:t>
            </a:r>
            <a:r>
              <a:rPr kumimoji="1" lang="zh-CN" altLang="en-US" b="1" dirty="0"/>
              <a:t>在</a:t>
            </a:r>
            <a:r>
              <a:rPr kumimoji="1" lang="en-US" altLang="zh-CN" b="1" dirty="0"/>
              <a:t>diagnose</a:t>
            </a:r>
            <a:r>
              <a:rPr kumimoji="1" lang="zh-CN" altLang="en-US" b="1" dirty="0"/>
              <a:t>部分需要调用的软件</a:t>
            </a:r>
            <a:endParaRPr kumimoji="1" lang="en-US" altLang="zh-CN" b="1" dirty="0"/>
          </a:p>
          <a:p>
            <a:pPr>
              <a:lnSpc>
                <a:spcPct val="200000"/>
              </a:lnSpc>
            </a:pPr>
            <a:r>
              <a:rPr kumimoji="1" lang="en-US" altLang="zh-CN" b="1" dirty="0"/>
              <a:t>①</a:t>
            </a:r>
            <a:r>
              <a:rPr kumimoji="1" lang="zh-CN" altLang="en-US" b="1" dirty="0"/>
              <a:t>若用户提交主要的微生物基因组文件（</a:t>
            </a:r>
            <a:r>
              <a:rPr kumimoji="1" lang="en-US" altLang="zh-CN" b="1" dirty="0"/>
              <a:t>MAG</a:t>
            </a:r>
            <a:r>
              <a:rPr kumimoji="1" lang="zh-CN" altLang="en-US" b="1" dirty="0"/>
              <a:t>）：</a:t>
            </a:r>
            <a:r>
              <a:rPr kumimoji="1" lang="zh-CN" altLang="en-US" dirty="0"/>
              <a:t>物种注释</a:t>
            </a:r>
            <a:r>
              <a:rPr kumimoji="1" lang="en-US" altLang="zh-CN" dirty="0" err="1"/>
              <a:t>gtdb-tk</a:t>
            </a:r>
            <a:r>
              <a:rPr kumimoji="1" lang="zh-CN" altLang="en-US" dirty="0"/>
              <a:t>、</a:t>
            </a:r>
            <a:r>
              <a:rPr kumimoji="1" lang="en-US" altLang="zh-CN" dirty="0"/>
              <a:t>prodigal</a:t>
            </a:r>
            <a:r>
              <a:rPr kumimoji="1" lang="zh-CN" altLang="en-US" dirty="0"/>
              <a:t>基因注释、</a:t>
            </a:r>
            <a:r>
              <a:rPr kumimoji="1" lang="en-US" altLang="zh-CN" dirty="0"/>
              <a:t>diamond</a:t>
            </a:r>
            <a:r>
              <a:rPr kumimoji="1" lang="zh-CN" altLang="en-US" dirty="0"/>
              <a:t>比对</a:t>
            </a:r>
            <a:r>
              <a:rPr kumimoji="1" lang="en-US" altLang="zh-CN" dirty="0" err="1"/>
              <a:t>kegg</a:t>
            </a:r>
            <a:r>
              <a:rPr kumimoji="1" lang="zh-CN" altLang="en-US" dirty="0"/>
              <a:t>库、基于</a:t>
            </a:r>
            <a:r>
              <a:rPr kumimoji="1" lang="en-US" altLang="zh-CN" dirty="0" err="1"/>
              <a:t>kegg</a:t>
            </a:r>
            <a:r>
              <a:rPr kumimoji="1" lang="zh-CN" altLang="en-US" dirty="0"/>
              <a:t>结果的</a:t>
            </a:r>
            <a:r>
              <a:rPr kumimoji="1" lang="en-US" altLang="zh-CN" dirty="0"/>
              <a:t>module</a:t>
            </a:r>
            <a:r>
              <a:rPr kumimoji="1" lang="zh-CN" altLang="en-US" dirty="0"/>
              <a:t>分析、</a:t>
            </a:r>
            <a:r>
              <a:rPr kumimoji="1" lang="en-US" altLang="zh-CN" dirty="0" err="1"/>
              <a:t>blastp</a:t>
            </a:r>
            <a:r>
              <a:rPr kumimoji="1" lang="zh-CN" altLang="en-US" dirty="0"/>
              <a:t>比对</a:t>
            </a:r>
            <a:r>
              <a:rPr kumimoji="1" lang="en-US" altLang="zh-CN" dirty="0"/>
              <a:t>CompSul</a:t>
            </a:r>
            <a:r>
              <a:rPr kumimoji="1" lang="zh-CN" altLang="en-US" dirty="0"/>
              <a:t>库、</a:t>
            </a:r>
            <a:r>
              <a:rPr kumimoji="1" lang="en-US" altLang="zh-CN" dirty="0" err="1"/>
              <a:t>Cazyme</a:t>
            </a:r>
            <a:r>
              <a:rPr kumimoji="1" lang="zh-CN" altLang="en-US" dirty="0"/>
              <a:t>比对</a:t>
            </a:r>
            <a:endParaRPr kumimoji="1" lang="en-US" altLang="zh-CN" dirty="0"/>
          </a:p>
          <a:p>
            <a:pPr>
              <a:lnSpc>
                <a:spcPct val="200000"/>
              </a:lnSpc>
            </a:pPr>
            <a:r>
              <a:rPr kumimoji="1" lang="en-US" altLang="zh-CN" b="1" dirty="0"/>
              <a:t>②</a:t>
            </a:r>
            <a:r>
              <a:rPr kumimoji="1" lang="zh-CN" altLang="en-US" b="1" dirty="0"/>
              <a:t>若用户提交反应体系宏基因组测序后的组装后数据（</a:t>
            </a:r>
            <a:r>
              <a:rPr kumimoji="1" lang="en-US" altLang="zh-CN" b="1" dirty="0"/>
              <a:t>contigs</a:t>
            </a:r>
            <a:r>
              <a:rPr kumimoji="1" lang="zh-CN" altLang="en-US" b="1" dirty="0"/>
              <a:t>）：</a:t>
            </a:r>
            <a:r>
              <a:rPr lang="zh-CN" altLang="en-US" dirty="0"/>
              <a:t>物种注释</a:t>
            </a:r>
            <a:r>
              <a:rPr lang="en" altLang="zh-CN" dirty="0" err="1"/>
              <a:t>CAT_pack</a:t>
            </a:r>
            <a:r>
              <a:rPr kumimoji="1" lang="zh-CN" altLang="en-US" dirty="0"/>
              <a:t> 、</a:t>
            </a:r>
            <a:r>
              <a:rPr kumimoji="1" lang="en-US" altLang="zh-CN" dirty="0"/>
              <a:t>prodigal</a:t>
            </a:r>
            <a:r>
              <a:rPr kumimoji="1" lang="zh-CN" altLang="en-US" dirty="0"/>
              <a:t>基因注释、</a:t>
            </a:r>
            <a:r>
              <a:rPr kumimoji="1" lang="en-US" altLang="zh-CN" dirty="0"/>
              <a:t>diamond</a:t>
            </a:r>
            <a:r>
              <a:rPr kumimoji="1" lang="zh-CN" altLang="en-US" dirty="0"/>
              <a:t>比对</a:t>
            </a:r>
            <a:r>
              <a:rPr kumimoji="1" lang="en-US" altLang="zh-CN" dirty="0" err="1"/>
              <a:t>kegg</a:t>
            </a:r>
            <a:r>
              <a:rPr kumimoji="1" lang="zh-CN" altLang="en-US" dirty="0"/>
              <a:t>库</a:t>
            </a:r>
            <a:endParaRPr kumimoji="1" lang="en-US" altLang="zh-CN" dirty="0"/>
          </a:p>
          <a:p>
            <a:pPr>
              <a:lnSpc>
                <a:spcPct val="200000"/>
              </a:lnSpc>
            </a:pPr>
            <a:r>
              <a:rPr kumimoji="1" lang="en-US" altLang="zh-CN" dirty="0"/>
              <a:t>③</a:t>
            </a:r>
            <a:r>
              <a:rPr kumimoji="1" lang="zh-CN" altLang="en-US" b="1" dirty="0"/>
              <a:t>若用户提交反应体系</a:t>
            </a:r>
            <a:r>
              <a:rPr kumimoji="1" lang="en-US" altLang="zh-CN" b="1" dirty="0"/>
              <a:t>16S</a:t>
            </a:r>
            <a:r>
              <a:rPr kumimoji="1" lang="zh-CN" altLang="en-US" b="1" dirty="0"/>
              <a:t> </a:t>
            </a:r>
            <a:r>
              <a:rPr kumimoji="1" lang="en-US" altLang="zh-CN" b="1" dirty="0"/>
              <a:t>rRNA</a:t>
            </a:r>
            <a:r>
              <a:rPr kumimoji="1" lang="zh-CN" altLang="en-US" b="1" dirty="0"/>
              <a:t>原始数据（</a:t>
            </a:r>
            <a:r>
              <a:rPr kumimoji="1" lang="en-US" altLang="zh-CN" b="1" dirty="0" err="1"/>
              <a:t>fq</a:t>
            </a:r>
            <a:r>
              <a:rPr kumimoji="1" lang="zh-CN" altLang="en-US" b="1" dirty="0"/>
              <a:t>）：</a:t>
            </a:r>
            <a:r>
              <a:rPr kumimoji="1" lang="en-US" altLang="zh-CN" dirty="0"/>
              <a:t>qiime2</a:t>
            </a:r>
            <a:r>
              <a:rPr kumimoji="1" lang="zh-CN" altLang="en-US" dirty="0"/>
              <a:t>、</a:t>
            </a:r>
            <a:r>
              <a:rPr kumimoji="1" lang="en" altLang="zh-CN" dirty="0"/>
              <a:t> PICRUSt2</a:t>
            </a:r>
          </a:p>
          <a:p>
            <a:pPr>
              <a:lnSpc>
                <a:spcPct val="200000"/>
              </a:lnSpc>
            </a:pPr>
            <a:r>
              <a:rPr kumimoji="1" lang="en" altLang="zh-CN" dirty="0"/>
              <a:t>④</a:t>
            </a:r>
            <a:r>
              <a:rPr kumimoji="1" lang="zh-CN" altLang="en" dirty="0"/>
              <a:t>用户</a:t>
            </a:r>
            <a:r>
              <a:rPr kumimoji="1" lang="zh-CN" altLang="en-US" dirty="0"/>
              <a:t>提交分析结果，包括反应体系微生物种类、丰度及功能的结果总结，直接跳到</a:t>
            </a:r>
            <a:r>
              <a:rPr kumimoji="1" lang="en-US" altLang="zh-CN" dirty="0"/>
              <a:t>diagnose</a:t>
            </a:r>
          </a:p>
        </p:txBody>
      </p:sp>
    </p:spTree>
    <p:extLst>
      <p:ext uri="{BB962C8B-B14F-4D97-AF65-F5344CB8AC3E}">
        <p14:creationId xmlns:p14="http://schemas.microsoft.com/office/powerpoint/2010/main" val="1780167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9C4A1BD8-47CF-CEC1-402A-BC57FD333118}"/>
              </a:ext>
            </a:extLst>
          </p:cNvPr>
          <p:cNvGraphicFramePr>
            <a:graphicFrameLocks noGrp="1"/>
          </p:cNvGraphicFramePr>
          <p:nvPr>
            <p:extLst>
              <p:ext uri="{D42A27DB-BD31-4B8C-83A1-F6EECF244321}">
                <p14:modId xmlns:p14="http://schemas.microsoft.com/office/powerpoint/2010/main" val="358058407"/>
              </p:ext>
            </p:extLst>
          </p:nvPr>
        </p:nvGraphicFramePr>
        <p:xfrm>
          <a:off x="457200" y="149890"/>
          <a:ext cx="11376212" cy="6558346"/>
        </p:xfrm>
        <a:graphic>
          <a:graphicData uri="http://schemas.openxmlformats.org/drawingml/2006/table">
            <a:tbl>
              <a:tblPr>
                <a:tableStyleId>{5C22544A-7EE6-4342-B048-85BDC9FD1C3A}</a:tableStyleId>
              </a:tblPr>
              <a:tblGrid>
                <a:gridCol w="2199001">
                  <a:extLst>
                    <a:ext uri="{9D8B030D-6E8A-4147-A177-3AD203B41FA5}">
                      <a16:colId xmlns:a16="http://schemas.microsoft.com/office/drawing/2014/main" val="3948714145"/>
                    </a:ext>
                  </a:extLst>
                </a:gridCol>
                <a:gridCol w="1406829">
                  <a:extLst>
                    <a:ext uri="{9D8B030D-6E8A-4147-A177-3AD203B41FA5}">
                      <a16:colId xmlns:a16="http://schemas.microsoft.com/office/drawing/2014/main" val="1664718716"/>
                    </a:ext>
                  </a:extLst>
                </a:gridCol>
                <a:gridCol w="1313040">
                  <a:extLst>
                    <a:ext uri="{9D8B030D-6E8A-4147-A177-3AD203B41FA5}">
                      <a16:colId xmlns:a16="http://schemas.microsoft.com/office/drawing/2014/main" val="2733587631"/>
                    </a:ext>
                  </a:extLst>
                </a:gridCol>
                <a:gridCol w="6457342">
                  <a:extLst>
                    <a:ext uri="{9D8B030D-6E8A-4147-A177-3AD203B41FA5}">
                      <a16:colId xmlns:a16="http://schemas.microsoft.com/office/drawing/2014/main" val="3943464030"/>
                    </a:ext>
                  </a:extLst>
                </a:gridCol>
              </a:tblGrid>
              <a:tr h="238405">
                <a:tc>
                  <a:txBody>
                    <a:bodyPr/>
                    <a:lstStyle/>
                    <a:p>
                      <a:pPr algn="l" fontAlgn="b">
                        <a:buNone/>
                      </a:pPr>
                      <a:r>
                        <a:rPr lang="zh-CN" altLang="en-US" sz="1000" u="none" strike="noStrike">
                          <a:effectLst/>
                        </a:rPr>
                        <a:t>难度等级</a:t>
                      </a:r>
                      <a:endParaRPr lang="zh-CN" altLang="en-US" sz="1000" b="0" i="0" u="none" strike="noStrike">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a:effectLst/>
                        </a:rPr>
                        <a:t>测试维度</a:t>
                      </a:r>
                      <a:endParaRPr lang="zh-CN" altLang="en-US" sz="1000" b="0" i="0" u="none" strike="noStrike">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分类</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a:effectLst/>
                        </a:rPr>
                        <a:t>具体测试问题</a:t>
                      </a:r>
                      <a:endParaRPr lang="zh-CN" altLang="en-US" sz="1000" b="0" i="0" u="none" strike="noStrike">
                        <a:solidFill>
                          <a:srgbClr val="000000"/>
                        </a:solidFill>
                        <a:effectLst/>
                        <a:latin typeface="Calibri" panose="020F0502020204030204" pitchFamily="34" charset="0"/>
                      </a:endParaRPr>
                    </a:p>
                  </a:txBody>
                  <a:tcPr marL="8945" marR="8945" marT="8945" marB="0" anchor="b"/>
                </a:tc>
                <a:extLst>
                  <a:ext uri="{0D108BD9-81ED-4DB2-BD59-A6C34878D82A}">
                    <a16:rowId xmlns:a16="http://schemas.microsoft.com/office/drawing/2014/main" val="3529457846"/>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sz="1000" u="none" strike="noStrike" dirty="0" err="1">
                          <a:effectLst/>
                        </a:rPr>
                        <a:t>相容性溶质</a:t>
                      </a:r>
                      <a:endParaRPr lang="e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列出甘氨酸甜菜碱、四氢嘧啶、海藻糖在不同盐度下的典型微生物胞内积累浓度范围</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extLst>
                  <a:ext uri="{0D108BD9-81ED-4DB2-BD59-A6C34878D82A}">
                    <a16:rowId xmlns:a16="http://schemas.microsoft.com/office/drawing/2014/main" val="4171925419"/>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altLang="zh-CN" sz="1000" u="none" strike="noStrike" dirty="0" err="1">
                          <a:effectLst/>
                        </a:rPr>
                        <a:t>相容性溶质</a:t>
                      </a:r>
                      <a:endParaRPr lang="en" altLang="zh-C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对比甘氨酸甜菜碱、四氢嘧啶、海藻糖三类溶质在</a:t>
                      </a:r>
                      <a:r>
                        <a:rPr lang="en-US" altLang="zh-CN" sz="1000" u="none" strike="noStrike" dirty="0">
                          <a:effectLst/>
                        </a:rPr>
                        <a:t>1%~10%</a:t>
                      </a:r>
                      <a:r>
                        <a:rPr lang="zh-CN" altLang="en-US" sz="1000" u="none" strike="noStrike" dirty="0">
                          <a:effectLst/>
                        </a:rPr>
                        <a:t>盐度区间内的胞内积累效率随盐度升高的变化趋势差异</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extLst>
                  <a:ext uri="{0D108BD9-81ED-4DB2-BD59-A6C34878D82A}">
                    <a16:rowId xmlns:a16="http://schemas.microsoft.com/office/drawing/2014/main" val="1738808"/>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sz="1000" b="0" i="0" u="none" strike="noStrike" dirty="0" err="1">
                          <a:solidFill>
                            <a:srgbClr val="000000"/>
                          </a:solidFill>
                          <a:effectLst/>
                          <a:latin typeface="Calibri" panose="020F0502020204030204" pitchFamily="34" charset="0"/>
                        </a:rPr>
                        <a:t>相容性溶质</a:t>
                      </a:r>
                      <a:endParaRPr lang="e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b="0" i="0" u="none" strike="noStrike" dirty="0">
                          <a:solidFill>
                            <a:srgbClr val="000000"/>
                          </a:solidFill>
                          <a:effectLst/>
                          <a:latin typeface="Calibri" panose="020F0502020204030204" pitchFamily="34" charset="0"/>
                        </a:rPr>
                        <a:t>列举</a:t>
                      </a:r>
                      <a:r>
                        <a:rPr lang="en-US" altLang="zh-CN" sz="1000" b="0" i="0" u="none" strike="noStrike" dirty="0">
                          <a:solidFill>
                            <a:srgbClr val="000000"/>
                          </a:solidFill>
                          <a:effectLst/>
                          <a:latin typeface="Calibri" panose="020F0502020204030204" pitchFamily="34" charset="0"/>
                        </a:rPr>
                        <a:t>5</a:t>
                      </a:r>
                      <a:r>
                        <a:rPr lang="zh-CN" altLang="en-US" sz="1000" b="0" i="0" u="none" strike="noStrike" dirty="0">
                          <a:solidFill>
                            <a:srgbClr val="000000"/>
                          </a:solidFill>
                          <a:effectLst/>
                          <a:latin typeface="Calibri" panose="020F0502020204030204" pitchFamily="34" charset="0"/>
                        </a:rPr>
                        <a:t>种已被证实可由中度嗜盐菌合成的非糖类相容性溶质，标注其对应的最适合成盐度区间</a:t>
                      </a:r>
                    </a:p>
                  </a:txBody>
                  <a:tcPr marL="8945" marR="8945" marT="8945" marB="0" anchor="b"/>
                </a:tc>
                <a:extLst>
                  <a:ext uri="{0D108BD9-81ED-4DB2-BD59-A6C34878D82A}">
                    <a16:rowId xmlns:a16="http://schemas.microsoft.com/office/drawing/2014/main" val="1207951754"/>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lang="en" altLang="zh-CN" sz="1000" b="0" i="0" u="none" strike="noStrike" dirty="0" err="1">
                          <a:solidFill>
                            <a:srgbClr val="000000"/>
                          </a:solidFill>
                          <a:effectLst/>
                          <a:latin typeface="Calibri" panose="020F0502020204030204" pitchFamily="34" charset="0"/>
                        </a:rPr>
                        <a:t>相容性溶质</a:t>
                      </a:r>
                      <a:endParaRPr lang="en" altLang="zh-CN" sz="1000" b="0" i="0" u="none" strike="noStrike" dirty="0">
                        <a:solidFill>
                          <a:srgbClr val="000000"/>
                        </a:solidFill>
                        <a:effectLst/>
                        <a:latin typeface="Calibri" panose="020F0502020204030204" pitchFamily="34" charset="0"/>
                      </a:endParaRPr>
                    </a:p>
                    <a:p>
                      <a:pPr algn="l" fontAlgn="b">
                        <a:buNone/>
                      </a:pPr>
                      <a:endParaRPr lang="e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b="0" i="0" u="none" strike="noStrike" dirty="0">
                          <a:solidFill>
                            <a:srgbClr val="000000"/>
                          </a:solidFill>
                          <a:effectLst/>
                          <a:latin typeface="Calibri" panose="020F0502020204030204" pitchFamily="34" charset="0"/>
                        </a:rPr>
                        <a:t>列举所有的相容性溶质类型以及所赋存的典型微生物种类</a:t>
                      </a:r>
                    </a:p>
                  </a:txBody>
                  <a:tcPr marL="8945" marR="8945" marT="8945" marB="0" anchor="b"/>
                </a:tc>
                <a:extLst>
                  <a:ext uri="{0D108BD9-81ED-4DB2-BD59-A6C34878D82A}">
                    <a16:rowId xmlns:a16="http://schemas.microsoft.com/office/drawing/2014/main" val="1555361939"/>
                  </a:ext>
                </a:extLst>
              </a:tr>
              <a:tr h="305906">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sz="1000" b="0" i="0" u="none" strike="noStrike" dirty="0" err="1">
                          <a:solidFill>
                            <a:srgbClr val="000000"/>
                          </a:solidFill>
                          <a:effectLst/>
                          <a:latin typeface="Calibri" panose="020F0502020204030204" pitchFamily="34" charset="0"/>
                        </a:rPr>
                        <a:t>微生物</a:t>
                      </a:r>
                      <a:endParaRPr lang="e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Calibri" panose="020F0502020204030204" pitchFamily="34" charset="0"/>
                        </a:rPr>
                        <a:t>筛选</a:t>
                      </a:r>
                      <a:r>
                        <a:rPr lang="en-US" altLang="zh-CN" sz="1000" b="0" i="0" u="none" strike="noStrike" dirty="0">
                          <a:solidFill>
                            <a:srgbClr val="000000"/>
                          </a:solidFill>
                          <a:effectLst/>
                          <a:latin typeface="Calibri" panose="020F0502020204030204" pitchFamily="34" charset="0"/>
                        </a:rPr>
                        <a:t>3</a:t>
                      </a:r>
                      <a:r>
                        <a:rPr lang="zh-CN" altLang="en-US" sz="1000" b="0" i="0" u="none" strike="noStrike" dirty="0">
                          <a:solidFill>
                            <a:srgbClr val="000000"/>
                          </a:solidFill>
                          <a:effectLst/>
                          <a:latin typeface="Calibri" panose="020F0502020204030204" pitchFamily="34" charset="0"/>
                        </a:rPr>
                        <a:t>株分离自高盐土壤（盐湖或者海滨）的耐盐反硝化菌，分别以甘氨酸甜菜碱、四氢嘧啶、海藻糖为核心相容性溶质</a:t>
                      </a:r>
                    </a:p>
                  </a:txBody>
                  <a:tcPr marL="8945" marR="8945" marT="8945" marB="0" anchor="b"/>
                </a:tc>
                <a:extLst>
                  <a:ext uri="{0D108BD9-81ED-4DB2-BD59-A6C34878D82A}">
                    <a16:rowId xmlns:a16="http://schemas.microsoft.com/office/drawing/2014/main" val="487487966"/>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altLang="zh-CN" sz="1000" b="0" i="0" u="none" strike="noStrike" dirty="0" err="1">
                          <a:solidFill>
                            <a:srgbClr val="000000"/>
                          </a:solidFill>
                          <a:effectLst/>
                          <a:latin typeface="Calibri" panose="020F0502020204030204" pitchFamily="34" charset="0"/>
                        </a:rPr>
                        <a:t>微生物</a:t>
                      </a:r>
                      <a:endParaRPr lang="en" altLang="zh-C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Calibri" panose="020F0502020204030204" pitchFamily="34" charset="0"/>
                        </a:rPr>
                        <a:t>列出</a:t>
                      </a:r>
                      <a:r>
                        <a:rPr lang="en-US" altLang="zh-CN" sz="1000" b="0" i="0" u="none" strike="noStrike" dirty="0">
                          <a:solidFill>
                            <a:srgbClr val="000000"/>
                          </a:solidFill>
                          <a:effectLst/>
                          <a:latin typeface="Calibri" panose="020F0502020204030204" pitchFamily="34" charset="0"/>
                        </a:rPr>
                        <a:t>1%</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3%</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5%</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8%</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10%</a:t>
                      </a:r>
                      <a:r>
                        <a:rPr lang="zh-CN" altLang="en-US" sz="1000" b="0" i="0" u="none" strike="noStrike" dirty="0">
                          <a:solidFill>
                            <a:srgbClr val="000000"/>
                          </a:solidFill>
                          <a:effectLst/>
                          <a:latin typeface="Calibri" panose="020F0502020204030204" pitchFamily="34" charset="0"/>
                        </a:rPr>
                        <a:t>这</a:t>
                      </a:r>
                      <a:r>
                        <a:rPr lang="en-US" altLang="zh-CN" sz="1000" b="0" i="0" u="none" strike="noStrike" dirty="0">
                          <a:solidFill>
                            <a:srgbClr val="000000"/>
                          </a:solidFill>
                          <a:effectLst/>
                          <a:latin typeface="Calibri" panose="020F0502020204030204" pitchFamily="34" charset="0"/>
                        </a:rPr>
                        <a:t>5</a:t>
                      </a:r>
                      <a:r>
                        <a:rPr lang="zh-CN" altLang="en-US" sz="1000" b="0" i="0" u="none" strike="noStrike" dirty="0">
                          <a:solidFill>
                            <a:srgbClr val="000000"/>
                          </a:solidFill>
                          <a:effectLst/>
                          <a:latin typeface="Calibri" panose="020F0502020204030204" pitchFamily="34" charset="0"/>
                        </a:rPr>
                        <a:t>个特征盐度下，已报道的典型脱氮功能嗜盐菌属名称，标注其耐盐上限</a:t>
                      </a:r>
                    </a:p>
                  </a:txBody>
                  <a:tcPr marL="8945" marR="8945" marT="8945" marB="0" anchor="b"/>
                </a:tc>
                <a:extLst>
                  <a:ext uri="{0D108BD9-81ED-4DB2-BD59-A6C34878D82A}">
                    <a16:rowId xmlns:a16="http://schemas.microsoft.com/office/drawing/2014/main" val="1185350685"/>
                  </a:ext>
                </a:extLst>
              </a:tr>
              <a:tr h="330944">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altLang="zh-CN" sz="1000" b="0" i="0" u="none" strike="noStrike" dirty="0" err="1">
                          <a:solidFill>
                            <a:srgbClr val="000000"/>
                          </a:solidFill>
                          <a:effectLst/>
                          <a:latin typeface="Calibri" panose="020F0502020204030204" pitchFamily="34" charset="0"/>
                        </a:rPr>
                        <a:t>微生物</a:t>
                      </a:r>
                      <a:endParaRPr lang="en" altLang="zh-C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Calibri" panose="020F0502020204030204" pitchFamily="34" charset="0"/>
                        </a:rPr>
                        <a:t>列举</a:t>
                      </a:r>
                      <a:r>
                        <a:rPr lang="en-US" altLang="zh-CN" sz="1000" b="0" i="0" u="none" strike="noStrike" dirty="0">
                          <a:solidFill>
                            <a:srgbClr val="000000"/>
                          </a:solidFill>
                          <a:effectLst/>
                          <a:latin typeface="Calibri" panose="020F0502020204030204" pitchFamily="34" charset="0"/>
                        </a:rPr>
                        <a:t>3</a:t>
                      </a:r>
                      <a:r>
                        <a:rPr lang="zh-CN" altLang="en-US" sz="1000" b="0" i="0" u="none" strike="noStrike" dirty="0">
                          <a:solidFill>
                            <a:srgbClr val="000000"/>
                          </a:solidFill>
                          <a:effectLst/>
                          <a:latin typeface="Calibri" panose="020F0502020204030204" pitchFamily="34" charset="0"/>
                        </a:rPr>
                        <a:t>株可同时合成</a:t>
                      </a:r>
                      <a:r>
                        <a:rPr lang="en-US" altLang="zh-CN" sz="1000" b="0" i="0" u="none" strike="noStrike" dirty="0">
                          <a:solidFill>
                            <a:srgbClr val="000000"/>
                          </a:solidFill>
                          <a:effectLst/>
                          <a:latin typeface="Calibri" panose="020F0502020204030204" pitchFamily="34" charset="0"/>
                        </a:rPr>
                        <a:t>2</a:t>
                      </a:r>
                      <a:r>
                        <a:rPr lang="zh-CN" altLang="en-US" sz="1000" b="0" i="0" u="none" strike="noStrike" dirty="0">
                          <a:solidFill>
                            <a:srgbClr val="000000"/>
                          </a:solidFill>
                          <a:effectLst/>
                          <a:latin typeface="Calibri" panose="020F0502020204030204" pitchFamily="34" charset="0"/>
                        </a:rPr>
                        <a:t>种及以上相容性溶质的中度嗜盐菌，标注其对应的溶质组合类型</a:t>
                      </a:r>
                    </a:p>
                  </a:txBody>
                  <a:tcPr marL="8945" marR="8945" marT="8945" marB="0" anchor="b"/>
                </a:tc>
                <a:extLst>
                  <a:ext uri="{0D108BD9-81ED-4DB2-BD59-A6C34878D82A}">
                    <a16:rowId xmlns:a16="http://schemas.microsoft.com/office/drawing/2014/main" val="2159233201"/>
                  </a:ext>
                </a:extLst>
              </a:tr>
              <a:tr h="221174">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altLang="zh-CN" sz="1000" b="0" i="0" u="none" strike="noStrike" dirty="0" err="1">
                          <a:solidFill>
                            <a:srgbClr val="000000"/>
                          </a:solidFill>
                          <a:effectLst/>
                          <a:latin typeface="Calibri" panose="020F0502020204030204" pitchFamily="34" charset="0"/>
                        </a:rPr>
                        <a:t>样本</a:t>
                      </a:r>
                      <a:endParaRPr lang="en" altLang="zh-C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Calibri" panose="020F0502020204030204" pitchFamily="34" charset="0"/>
                        </a:rPr>
                        <a:t>列出</a:t>
                      </a:r>
                      <a:r>
                        <a:rPr lang="en-US" altLang="zh-CN" sz="1000" b="0" i="0" u="none" strike="noStrike" dirty="0">
                          <a:solidFill>
                            <a:srgbClr val="000000"/>
                          </a:solidFill>
                          <a:effectLst/>
                          <a:latin typeface="Calibri" panose="020F0502020204030204" pitchFamily="34" charset="0"/>
                        </a:rPr>
                        <a:t>1%~10%</a:t>
                      </a:r>
                      <a:r>
                        <a:rPr lang="zh-CN" altLang="en-US" sz="1000" b="0" i="0" u="none" strike="noStrike" dirty="0">
                          <a:solidFill>
                            <a:srgbClr val="000000"/>
                          </a:solidFill>
                          <a:effectLst/>
                          <a:latin typeface="Calibri" panose="020F0502020204030204" pitchFamily="34" charset="0"/>
                        </a:rPr>
                        <a:t>盐度梯度下，不同盐度区间对应的典型工业高盐废水样本类型，标注其主流排放行业</a:t>
                      </a:r>
                    </a:p>
                  </a:txBody>
                  <a:tcPr marL="8945" marR="8945" marT="8945" marB="0" anchor="b"/>
                </a:tc>
                <a:extLst>
                  <a:ext uri="{0D108BD9-81ED-4DB2-BD59-A6C34878D82A}">
                    <a16:rowId xmlns:a16="http://schemas.microsoft.com/office/drawing/2014/main" val="2226556211"/>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altLang="zh-CN" sz="1000" b="0" i="0" u="none" strike="noStrike" dirty="0" err="1">
                          <a:solidFill>
                            <a:srgbClr val="000000"/>
                          </a:solidFill>
                          <a:effectLst/>
                          <a:latin typeface="Calibri" panose="020F0502020204030204" pitchFamily="34" charset="0"/>
                        </a:rPr>
                        <a:t>样本</a:t>
                      </a:r>
                      <a:endParaRPr lang="en" altLang="zh-C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Calibri" panose="020F0502020204030204" pitchFamily="34" charset="0"/>
                        </a:rPr>
                        <a:t>筛选</a:t>
                      </a:r>
                      <a:r>
                        <a:rPr lang="en-US" altLang="zh-CN" sz="1000" b="0" i="0" u="none" strike="noStrike" dirty="0">
                          <a:solidFill>
                            <a:srgbClr val="000000"/>
                          </a:solidFill>
                          <a:effectLst/>
                          <a:latin typeface="Calibri" panose="020F0502020204030204" pitchFamily="34" charset="0"/>
                        </a:rPr>
                        <a:t>10</a:t>
                      </a:r>
                      <a:r>
                        <a:rPr lang="zh-CN" altLang="en-US" sz="1000" b="0" i="0" u="none" strike="noStrike" dirty="0">
                          <a:solidFill>
                            <a:srgbClr val="000000"/>
                          </a:solidFill>
                          <a:effectLst/>
                          <a:latin typeface="Calibri" panose="020F0502020204030204" pitchFamily="34" charset="0"/>
                        </a:rPr>
                        <a:t>个国内已公开宏基因组测序的盐湖采样点，按样点实测盐度</a:t>
                      </a:r>
                      <a:r>
                        <a:rPr lang="en-US" altLang="zh-CN" sz="1000" b="0" i="0" u="none" strike="noStrike" dirty="0">
                          <a:solidFill>
                            <a:srgbClr val="000000"/>
                          </a:solidFill>
                          <a:effectLst/>
                          <a:latin typeface="Calibri" panose="020F0502020204030204" pitchFamily="34" charset="0"/>
                        </a:rPr>
                        <a:t>1%~10%</a:t>
                      </a:r>
                      <a:r>
                        <a:rPr lang="zh-CN" altLang="en-US" sz="1000" b="0" i="0" u="none" strike="noStrike" dirty="0">
                          <a:solidFill>
                            <a:srgbClr val="000000"/>
                          </a:solidFill>
                          <a:effectLst/>
                          <a:latin typeface="Calibri" panose="020F0502020204030204" pitchFamily="34" charset="0"/>
                        </a:rPr>
                        <a:t>梯度排序，标注其具体经纬度与生境类型</a:t>
                      </a:r>
                    </a:p>
                  </a:txBody>
                  <a:tcPr marL="8945" marR="8945" marT="8945" marB="0" anchor="b"/>
                </a:tc>
                <a:extLst>
                  <a:ext uri="{0D108BD9-81ED-4DB2-BD59-A6C34878D82A}">
                    <a16:rowId xmlns:a16="http://schemas.microsoft.com/office/drawing/2014/main" val="2966436115"/>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sz="1000" b="0" i="0" u="none" strike="noStrike" dirty="0" err="1">
                          <a:solidFill>
                            <a:srgbClr val="000000"/>
                          </a:solidFill>
                          <a:effectLst/>
                          <a:latin typeface="Calibri" panose="020F0502020204030204" pitchFamily="34" charset="0"/>
                        </a:rPr>
                        <a:t>样本</a:t>
                      </a:r>
                      <a:endParaRPr lang="e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列出</a:t>
                      </a:r>
                      <a:r>
                        <a:rPr lang="en-US" altLang="zh-CN" sz="1000" u="none" strike="noStrike" dirty="0">
                          <a:effectLst/>
                        </a:rPr>
                        <a:t>2%</a:t>
                      </a:r>
                      <a:r>
                        <a:rPr lang="zh-CN" altLang="en-US" sz="1000" u="none" strike="noStrike" dirty="0">
                          <a:effectLst/>
                        </a:rPr>
                        <a:t>、</a:t>
                      </a:r>
                      <a:r>
                        <a:rPr lang="en-US" altLang="zh-CN" sz="1000" u="none" strike="noStrike" dirty="0">
                          <a:effectLst/>
                        </a:rPr>
                        <a:t>4%</a:t>
                      </a:r>
                      <a:r>
                        <a:rPr lang="zh-CN" altLang="en-US" sz="1000" u="none" strike="noStrike" dirty="0">
                          <a:effectLst/>
                        </a:rPr>
                        <a:t>、</a:t>
                      </a:r>
                      <a:r>
                        <a:rPr lang="en-US" altLang="zh-CN" sz="1000" u="none" strike="noStrike" dirty="0">
                          <a:effectLst/>
                        </a:rPr>
                        <a:t>6%</a:t>
                      </a:r>
                      <a:r>
                        <a:rPr lang="zh-CN" altLang="en-US" sz="1000" u="none" strike="noStrike" dirty="0">
                          <a:effectLst/>
                        </a:rPr>
                        <a:t>、</a:t>
                      </a:r>
                      <a:r>
                        <a:rPr lang="en-US" altLang="zh-CN" sz="1000" u="none" strike="noStrike" dirty="0">
                          <a:effectLst/>
                        </a:rPr>
                        <a:t>8%</a:t>
                      </a:r>
                      <a:r>
                        <a:rPr lang="zh-CN" altLang="en-US" sz="1000" u="none" strike="noStrike" dirty="0">
                          <a:effectLst/>
                        </a:rPr>
                        <a:t>盐度下的典型滨海湿地盐土样本，标注其采样地域与已报道的优势耐盐功能类群</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extLst>
                  <a:ext uri="{0D108BD9-81ED-4DB2-BD59-A6C34878D82A}">
                    <a16:rowId xmlns:a16="http://schemas.microsoft.com/office/drawing/2014/main" val="3173341994"/>
                  </a:ext>
                </a:extLst>
              </a:tr>
              <a:tr h="24648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sz="1000" b="0" i="0" u="none" strike="noStrike" dirty="0" err="1">
                          <a:solidFill>
                            <a:srgbClr val="000000"/>
                          </a:solidFill>
                          <a:effectLst/>
                          <a:latin typeface="Calibri" panose="020F0502020204030204" pitchFamily="34" charset="0"/>
                        </a:rPr>
                        <a:t>微生物及相容性溶质</a:t>
                      </a:r>
                      <a:endParaRPr lang="e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US" altLang="zh-CN" sz="1000" b="0" i="0" u="none" strike="noStrike" dirty="0">
                          <a:solidFill>
                            <a:srgbClr val="000000"/>
                          </a:solidFill>
                          <a:effectLst/>
                          <a:latin typeface="Calibri" panose="020F0502020204030204" pitchFamily="34" charset="0"/>
                        </a:rPr>
                        <a:t>1%</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2%</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3%</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4%</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5%</a:t>
                      </a:r>
                      <a:r>
                        <a:rPr lang="zh-CN" altLang="en-US" sz="1000" b="0" i="0" u="none" strike="noStrike" dirty="0">
                          <a:solidFill>
                            <a:srgbClr val="000000"/>
                          </a:solidFill>
                          <a:effectLst/>
                          <a:latin typeface="Calibri" panose="020F0502020204030204" pitchFamily="34" charset="0"/>
                        </a:rPr>
                        <a:t>、</a:t>
                      </a:r>
                      <a:r>
                        <a:rPr lang="en-US" altLang="zh-CN" sz="1000" b="0" i="0" u="none" strike="noStrike" dirty="0">
                          <a:solidFill>
                            <a:srgbClr val="000000"/>
                          </a:solidFill>
                          <a:effectLst/>
                          <a:latin typeface="Calibri" panose="020F0502020204030204" pitchFamily="34" charset="0"/>
                        </a:rPr>
                        <a:t>6%……10%</a:t>
                      </a:r>
                      <a:r>
                        <a:rPr lang="zh-CN" altLang="en-US" sz="1000" b="0" i="0" u="none" strike="noStrike" dirty="0">
                          <a:solidFill>
                            <a:srgbClr val="000000"/>
                          </a:solidFill>
                          <a:effectLst/>
                          <a:latin typeface="Calibri" panose="020F0502020204030204" pitchFamily="34" charset="0"/>
                        </a:rPr>
                        <a:t>盐度条件下主要的耐盐微生物和关键的相容性溶质是什么？</a:t>
                      </a:r>
                    </a:p>
                  </a:txBody>
                  <a:tcPr marL="8945" marR="8945" marT="8945" marB="0" anchor="b"/>
                </a:tc>
                <a:extLst>
                  <a:ext uri="{0D108BD9-81ED-4DB2-BD59-A6C34878D82A}">
                    <a16:rowId xmlns:a16="http://schemas.microsoft.com/office/drawing/2014/main" val="3408707136"/>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altLang="zh-CN" sz="1000" b="0" i="0" u="none" strike="noStrike" dirty="0" err="1">
                          <a:solidFill>
                            <a:srgbClr val="000000"/>
                          </a:solidFill>
                          <a:effectLst/>
                          <a:latin typeface="Calibri" panose="020F0502020204030204" pitchFamily="34" charset="0"/>
                        </a:rPr>
                        <a:t>微生物及相容性溶质</a:t>
                      </a:r>
                      <a:endParaRPr lang="en" altLang="zh-C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列举</a:t>
                      </a:r>
                      <a:r>
                        <a:rPr lang="en-US" altLang="zh-CN" sz="1000" u="none" strike="noStrike" dirty="0">
                          <a:effectLst/>
                        </a:rPr>
                        <a:t>5</a:t>
                      </a:r>
                      <a:r>
                        <a:rPr lang="zh-CN" altLang="en-US" sz="1000" u="none" strike="noStrike" dirty="0">
                          <a:effectLst/>
                        </a:rPr>
                        <a:t>种已在高盐脱氮系统中被证实存在的功能菌，标注其已报道可自主合成的相容性溶质类型</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extLst>
                  <a:ext uri="{0D108BD9-81ED-4DB2-BD59-A6C34878D82A}">
                    <a16:rowId xmlns:a16="http://schemas.microsoft.com/office/drawing/2014/main" val="633717085"/>
                  </a:ext>
                </a:extLst>
              </a:tr>
              <a:tr h="431513">
                <a:tc>
                  <a:txBody>
                    <a:bodyPr/>
                    <a:lstStyle/>
                    <a:p>
                      <a:pPr algn="l" fontAlgn="b">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zh-CN" altLang="en-US" sz="1000" u="none" strike="noStrike" dirty="0">
                          <a:effectLst/>
                        </a:rPr>
                        <a:t>基础事实检索</a:t>
                      </a:r>
                      <a:endParaRPr lang="zh-CN" altLang="en-US" sz="1000" b="0" i="0" u="none" strike="noStrike" dirty="0">
                        <a:solidFill>
                          <a:srgbClr val="000000"/>
                        </a:solidFill>
                        <a:effectLst/>
                        <a:latin typeface="Calibri" panose="020F0502020204030204" pitchFamily="34" charset="0"/>
                      </a:endParaRPr>
                    </a:p>
                  </a:txBody>
                  <a:tcPr marL="8945" marR="8945" marT="8945" marB="0" anchor="b"/>
                </a:tc>
                <a:tc>
                  <a:txBody>
                    <a:bodyPr/>
                    <a:lstStyle/>
                    <a:p>
                      <a:pPr algn="l" fontAlgn="b">
                        <a:buNone/>
                      </a:pPr>
                      <a:r>
                        <a:rPr lang="en" altLang="zh-CN" sz="1000" b="0" i="0" u="none" strike="noStrike" dirty="0" err="1">
                          <a:solidFill>
                            <a:srgbClr val="000000"/>
                          </a:solidFill>
                          <a:effectLst/>
                          <a:latin typeface="Calibri" panose="020F0502020204030204" pitchFamily="34" charset="0"/>
                        </a:rPr>
                        <a:t>微生物及相容性溶质</a:t>
                      </a:r>
                      <a:endParaRPr lang="en" altLang="zh-CN" sz="1000" b="0" i="0" u="none" strike="noStrike" dirty="0">
                        <a:solidFill>
                          <a:srgbClr val="000000"/>
                        </a:solidFill>
                        <a:effectLst/>
                        <a:latin typeface="Calibri" panose="020F0502020204030204" pitchFamily="34" charset="0"/>
                      </a:endParaRPr>
                    </a:p>
                  </a:txBody>
                  <a:tcPr marL="8945" marR="8945" marT="8945" marB="0" anchor="b"/>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Calibri" panose="020F0502020204030204" pitchFamily="34" charset="0"/>
                        </a:rPr>
                        <a:t>梳理从</a:t>
                      </a:r>
                      <a:r>
                        <a:rPr lang="en-US" altLang="zh-CN" sz="1000" b="0" i="0" u="none" strike="noStrike" dirty="0">
                          <a:solidFill>
                            <a:srgbClr val="000000"/>
                          </a:solidFill>
                          <a:effectLst/>
                          <a:latin typeface="Calibri" panose="020F0502020204030204" pitchFamily="34" charset="0"/>
                        </a:rPr>
                        <a:t>1%</a:t>
                      </a:r>
                      <a:r>
                        <a:rPr lang="zh-CN" altLang="en-US" sz="1000" b="0" i="0" u="none" strike="noStrike" dirty="0">
                          <a:solidFill>
                            <a:srgbClr val="000000"/>
                          </a:solidFill>
                          <a:effectLst/>
                          <a:latin typeface="Calibri" panose="020F0502020204030204" pitchFamily="34" charset="0"/>
                        </a:rPr>
                        <a:t>到</a:t>
                      </a:r>
                      <a:r>
                        <a:rPr lang="en-US" altLang="zh-CN" sz="1000" b="0" i="0" u="none" strike="noStrike" dirty="0">
                          <a:solidFill>
                            <a:srgbClr val="000000"/>
                          </a:solidFill>
                          <a:effectLst/>
                          <a:latin typeface="Calibri" panose="020F0502020204030204" pitchFamily="34" charset="0"/>
                        </a:rPr>
                        <a:t>10%</a:t>
                      </a:r>
                      <a:r>
                        <a:rPr lang="zh-CN" altLang="en-US" sz="1000" b="0" i="0" u="none" strike="noStrike" dirty="0">
                          <a:solidFill>
                            <a:srgbClr val="000000"/>
                          </a:solidFill>
                          <a:effectLst/>
                          <a:latin typeface="Calibri" panose="020F0502020204030204" pitchFamily="34" charset="0"/>
                        </a:rPr>
                        <a:t>盐度升高过程中，环境中优势相容性溶质的种类演替规律，以及对应的功能微生物群落结构变化趋势</a:t>
                      </a:r>
                    </a:p>
                  </a:txBody>
                  <a:tcPr marL="8945" marR="8945" marT="8945" marB="0" anchor="b"/>
                </a:tc>
                <a:extLst>
                  <a:ext uri="{0D108BD9-81ED-4DB2-BD59-A6C34878D82A}">
                    <a16:rowId xmlns:a16="http://schemas.microsoft.com/office/drawing/2014/main" val="513173183"/>
                  </a:ext>
                </a:extLst>
              </a:tr>
              <a:tr h="430299">
                <a:tc>
                  <a:txBody>
                    <a:bodyPr/>
                    <a:lstStyle/>
                    <a:p>
                      <a:pPr fontAlgn="t">
                        <a:lnSpc>
                          <a:spcPts val="1875"/>
                        </a:lnSpc>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800" dirty="0">
                        <a:effectLst/>
                      </a:endParaRPr>
                    </a:p>
                  </a:txBody>
                  <a:tcPr marL="152400" marR="152400" marT="100013" marB="100013"/>
                </a:tc>
                <a:tc>
                  <a:txBody>
                    <a:bodyPr/>
                    <a:lstStyle/>
                    <a:p>
                      <a:pPr fontAlgn="t">
                        <a:lnSpc>
                          <a:spcPts val="1875"/>
                        </a:lnSpc>
                        <a:buNone/>
                      </a:pPr>
                      <a:r>
                        <a:rPr lang="zh-CN" altLang="en-US" sz="800">
                          <a:effectLst/>
                        </a:rPr>
                        <a:t>基础事实检索</a:t>
                      </a:r>
                    </a:p>
                  </a:txBody>
                  <a:tcPr marL="152400" marR="152400" marT="100013" marB="100013"/>
                </a:tc>
                <a:tc>
                  <a:txBody>
                    <a:bodyPr/>
                    <a:lstStyle/>
                    <a:p>
                      <a:pPr fontAlgn="t">
                        <a:lnSpc>
                          <a:spcPts val="1875"/>
                        </a:lnSpc>
                        <a:buNone/>
                      </a:pPr>
                      <a:r>
                        <a:rPr lang="zh-CN" altLang="en-US" sz="800">
                          <a:effectLst/>
                        </a:rPr>
                        <a:t>废水处理</a:t>
                      </a:r>
                      <a:r>
                        <a:rPr lang="en-US" altLang="zh-CN" sz="800">
                          <a:effectLst/>
                        </a:rPr>
                        <a:t>-</a:t>
                      </a:r>
                      <a:r>
                        <a:rPr lang="zh-CN" altLang="en-US" sz="800">
                          <a:effectLst/>
                        </a:rPr>
                        <a:t>样本</a:t>
                      </a:r>
                    </a:p>
                  </a:txBody>
                  <a:tcPr marL="152400" marR="152400" marT="100013" marB="100013"/>
                </a:tc>
                <a:tc>
                  <a:txBody>
                    <a:bodyPr/>
                    <a:lstStyle/>
                    <a:p>
                      <a:pPr fontAlgn="t">
                        <a:lnSpc>
                          <a:spcPct val="100000"/>
                        </a:lnSpc>
                        <a:buNone/>
                      </a:pPr>
                      <a:r>
                        <a:rPr lang="zh-CN" altLang="en-US" sz="800" dirty="0">
                          <a:effectLst/>
                        </a:rPr>
                        <a:t>列出</a:t>
                      </a:r>
                      <a:r>
                        <a:rPr lang="en" sz="800" dirty="0">
                          <a:effectLst/>
                        </a:rPr>
                        <a:t>TDS 2%、3%、5%</a:t>
                      </a:r>
                      <a:r>
                        <a:rPr lang="zh-CN" altLang="en-US" sz="800" dirty="0">
                          <a:effectLst/>
                        </a:rPr>
                        <a:t>三个典型盐度下的主流工业高盐废水样本来源，标注其行业类别与常规特征污染物类型</a:t>
                      </a:r>
                    </a:p>
                  </a:txBody>
                  <a:tcPr marL="152400" marR="152400" marT="100013" marB="100013"/>
                </a:tc>
                <a:extLst>
                  <a:ext uri="{0D108BD9-81ED-4DB2-BD59-A6C34878D82A}">
                    <a16:rowId xmlns:a16="http://schemas.microsoft.com/office/drawing/2014/main" val="320977747"/>
                  </a:ext>
                </a:extLst>
              </a:tr>
              <a:tr h="431513">
                <a:tc>
                  <a:txBody>
                    <a:bodyPr/>
                    <a:lstStyle/>
                    <a:p>
                      <a:pPr fontAlgn="t">
                        <a:lnSpc>
                          <a:spcPts val="1875"/>
                        </a:lnSpc>
                        <a:buNone/>
                      </a:pPr>
                      <a:r>
                        <a:rPr kumimoji="0" lang="en" altLang="zh-CN"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基础入门级</a:t>
                      </a:r>
                      <a:endParaRPr lang="zh-CN" altLang="en-US" sz="800">
                        <a:effectLst/>
                      </a:endParaRPr>
                    </a:p>
                  </a:txBody>
                  <a:tcPr marL="152400" marR="152400" marT="100013" marB="100013"/>
                </a:tc>
                <a:tc>
                  <a:txBody>
                    <a:bodyPr/>
                    <a:lstStyle/>
                    <a:p>
                      <a:pPr fontAlgn="t">
                        <a:lnSpc>
                          <a:spcPts val="1875"/>
                        </a:lnSpc>
                        <a:buNone/>
                      </a:pPr>
                      <a:r>
                        <a:rPr lang="zh-CN" altLang="en-US" sz="800">
                          <a:effectLst/>
                        </a:rPr>
                        <a:t>基础事实检索</a:t>
                      </a:r>
                    </a:p>
                  </a:txBody>
                  <a:tcPr marL="152400" marR="152400" marT="100013" marB="100013"/>
                </a:tc>
                <a:tc>
                  <a:txBody>
                    <a:bodyPr/>
                    <a:lstStyle/>
                    <a:p>
                      <a:pPr fontAlgn="t">
                        <a:lnSpc>
                          <a:spcPts val="1875"/>
                        </a:lnSpc>
                        <a:buNone/>
                      </a:pPr>
                      <a:r>
                        <a:rPr lang="zh-CN" altLang="en-US" sz="800">
                          <a:effectLst/>
                        </a:rPr>
                        <a:t>废水处理</a:t>
                      </a:r>
                      <a:r>
                        <a:rPr lang="en-US" altLang="zh-CN" sz="800">
                          <a:effectLst/>
                        </a:rPr>
                        <a:t>-</a:t>
                      </a:r>
                      <a:r>
                        <a:rPr lang="zh-CN" altLang="en-US" sz="800">
                          <a:effectLst/>
                        </a:rPr>
                        <a:t>微生物</a:t>
                      </a:r>
                    </a:p>
                  </a:txBody>
                  <a:tcPr marL="152400" marR="152400" marT="100013" marB="100013"/>
                </a:tc>
                <a:tc>
                  <a:txBody>
                    <a:bodyPr/>
                    <a:lstStyle/>
                    <a:p>
                      <a:pPr fontAlgn="t">
                        <a:lnSpc>
                          <a:spcPct val="100000"/>
                        </a:lnSpc>
                        <a:buNone/>
                      </a:pPr>
                      <a:r>
                        <a:rPr lang="zh-CN" altLang="en-US" sz="800" dirty="0">
                          <a:effectLst/>
                        </a:rPr>
                        <a:t>列举已在</a:t>
                      </a:r>
                      <a:r>
                        <a:rPr lang="en-US" altLang="zh-CN" sz="800" dirty="0">
                          <a:effectLst/>
                        </a:rPr>
                        <a:t>2%~4%</a:t>
                      </a:r>
                      <a:r>
                        <a:rPr lang="zh-CN" altLang="en-US" sz="800" dirty="0">
                          <a:effectLst/>
                        </a:rPr>
                        <a:t>盐度的</a:t>
                      </a:r>
                      <a:r>
                        <a:rPr lang="en" sz="800" dirty="0">
                          <a:effectLst/>
                        </a:rPr>
                        <a:t>anammox</a:t>
                      </a:r>
                      <a:r>
                        <a:rPr lang="zh-CN" altLang="en-US" sz="800" dirty="0">
                          <a:effectLst/>
                        </a:rPr>
                        <a:t>生物处理系统中被报道过的</a:t>
                      </a:r>
                      <a:r>
                        <a:rPr lang="en-US" altLang="zh-CN" sz="800" dirty="0">
                          <a:effectLst/>
                        </a:rPr>
                        <a:t>3</a:t>
                      </a:r>
                      <a:r>
                        <a:rPr lang="zh-CN" altLang="en-US" sz="800" dirty="0">
                          <a:effectLst/>
                        </a:rPr>
                        <a:t>株伴生耐盐辅助菌，标注其可合成的核心相容性溶质种类</a:t>
                      </a:r>
                    </a:p>
                  </a:txBody>
                  <a:tcPr marL="152400" marR="152400" marT="100013" marB="100013"/>
                </a:tc>
                <a:extLst>
                  <a:ext uri="{0D108BD9-81ED-4DB2-BD59-A6C34878D82A}">
                    <a16:rowId xmlns:a16="http://schemas.microsoft.com/office/drawing/2014/main" val="150898804"/>
                  </a:ext>
                </a:extLst>
              </a:tr>
              <a:tr h="431513">
                <a:tc>
                  <a:txBody>
                    <a:bodyPr/>
                    <a:lstStyle/>
                    <a:p>
                      <a:pPr fontAlgn="t">
                        <a:lnSpc>
                          <a:spcPts val="1875"/>
                        </a:lnSpc>
                        <a:buNone/>
                      </a:pPr>
                      <a:r>
                        <a:rPr kumimoji="0" lang="en" altLang="zh-CN" sz="1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Level 1 </a:t>
                      </a:r>
                      <a:r>
                        <a:rPr kumimoji="0" lang="zh-CN" altLang="en-US" sz="1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基础入门级</a:t>
                      </a:r>
                      <a:endParaRPr lang="zh-CN" altLang="en-US" sz="800" dirty="0">
                        <a:effectLst/>
                      </a:endParaRPr>
                    </a:p>
                  </a:txBody>
                  <a:tcPr marL="152400" marR="152400" marT="100013" marB="100013"/>
                </a:tc>
                <a:tc>
                  <a:txBody>
                    <a:bodyPr/>
                    <a:lstStyle/>
                    <a:p>
                      <a:pPr fontAlgn="t">
                        <a:lnSpc>
                          <a:spcPts val="1875"/>
                        </a:lnSpc>
                        <a:buNone/>
                      </a:pPr>
                      <a:r>
                        <a:rPr lang="zh-CN" altLang="en-US" sz="800">
                          <a:effectLst/>
                        </a:rPr>
                        <a:t>基础事实检索</a:t>
                      </a:r>
                    </a:p>
                  </a:txBody>
                  <a:tcPr marL="152400" marR="152400" marT="100013" marB="100013"/>
                </a:tc>
                <a:tc>
                  <a:txBody>
                    <a:bodyPr/>
                    <a:lstStyle/>
                    <a:p>
                      <a:pPr fontAlgn="t">
                        <a:lnSpc>
                          <a:spcPts val="1875"/>
                        </a:lnSpc>
                        <a:buNone/>
                      </a:pPr>
                      <a:r>
                        <a:rPr lang="zh-CN" altLang="en-US" sz="800">
                          <a:effectLst/>
                        </a:rPr>
                        <a:t>废水处理</a:t>
                      </a:r>
                      <a:r>
                        <a:rPr lang="en-US" altLang="zh-CN" sz="800">
                          <a:effectLst/>
                        </a:rPr>
                        <a:t>-</a:t>
                      </a:r>
                      <a:r>
                        <a:rPr lang="zh-CN" altLang="en-US" sz="800">
                          <a:effectLst/>
                        </a:rPr>
                        <a:t>溶质匹配</a:t>
                      </a:r>
                    </a:p>
                  </a:txBody>
                  <a:tcPr marL="152400" marR="152400" marT="100013" marB="100013"/>
                </a:tc>
                <a:tc>
                  <a:txBody>
                    <a:bodyPr/>
                    <a:lstStyle/>
                    <a:p>
                      <a:pPr fontAlgn="t">
                        <a:lnSpc>
                          <a:spcPct val="100000"/>
                        </a:lnSpc>
                        <a:buNone/>
                      </a:pPr>
                      <a:r>
                        <a:rPr lang="zh-CN" altLang="en-US" sz="800" dirty="0">
                          <a:effectLst/>
                        </a:rPr>
                        <a:t>针对</a:t>
                      </a:r>
                      <a:r>
                        <a:rPr lang="en-US" altLang="zh-CN" sz="800" dirty="0">
                          <a:effectLst/>
                        </a:rPr>
                        <a:t>1%~6%</a:t>
                      </a:r>
                      <a:r>
                        <a:rPr lang="zh-CN" altLang="en-US" sz="800" dirty="0">
                          <a:effectLst/>
                        </a:rPr>
                        <a:t>盐度的连续流反硝化生物处理系统，分别列出不同盐度区间内已被文献证实可提升系统脱氮稳定性的</a:t>
                      </a:r>
                      <a:r>
                        <a:rPr lang="en-US" altLang="zh-CN" sz="800" dirty="0">
                          <a:effectLst/>
                        </a:rPr>
                        <a:t>3</a:t>
                      </a:r>
                      <a:r>
                        <a:rPr lang="zh-CN" altLang="en-US" sz="800" dirty="0">
                          <a:effectLst/>
                        </a:rPr>
                        <a:t>种主流相容性溶质类型</a:t>
                      </a:r>
                    </a:p>
                  </a:txBody>
                  <a:tcPr marL="152400" marR="152400" marT="100013" marB="100013"/>
                </a:tc>
                <a:extLst>
                  <a:ext uri="{0D108BD9-81ED-4DB2-BD59-A6C34878D82A}">
                    <a16:rowId xmlns:a16="http://schemas.microsoft.com/office/drawing/2014/main" val="3776218474"/>
                  </a:ext>
                </a:extLst>
              </a:tr>
            </a:tbl>
          </a:graphicData>
        </a:graphic>
      </p:graphicFrame>
    </p:spTree>
    <p:extLst>
      <p:ext uri="{BB962C8B-B14F-4D97-AF65-F5344CB8AC3E}">
        <p14:creationId xmlns:p14="http://schemas.microsoft.com/office/powerpoint/2010/main" val="1985319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3193C313-6E44-CA50-DDCA-FF94D9407C29}"/>
              </a:ext>
            </a:extLst>
          </p:cNvPr>
          <p:cNvGraphicFramePr>
            <a:graphicFrameLocks noGrp="1"/>
          </p:cNvGraphicFramePr>
          <p:nvPr>
            <p:extLst>
              <p:ext uri="{D42A27DB-BD31-4B8C-83A1-F6EECF244321}">
                <p14:modId xmlns:p14="http://schemas.microsoft.com/office/powerpoint/2010/main" val="3804633864"/>
              </p:ext>
            </p:extLst>
          </p:nvPr>
        </p:nvGraphicFramePr>
        <p:xfrm>
          <a:off x="121022" y="120076"/>
          <a:ext cx="11542060" cy="6617848"/>
        </p:xfrm>
        <a:graphic>
          <a:graphicData uri="http://schemas.openxmlformats.org/drawingml/2006/table">
            <a:tbl>
              <a:tblPr>
                <a:tableStyleId>{5C22544A-7EE6-4342-B048-85BDC9FD1C3A}</a:tableStyleId>
              </a:tblPr>
              <a:tblGrid>
                <a:gridCol w="1322295">
                  <a:extLst>
                    <a:ext uri="{9D8B030D-6E8A-4147-A177-3AD203B41FA5}">
                      <a16:colId xmlns:a16="http://schemas.microsoft.com/office/drawing/2014/main" val="3948714145"/>
                    </a:ext>
                  </a:extLst>
                </a:gridCol>
                <a:gridCol w="1846729">
                  <a:extLst>
                    <a:ext uri="{9D8B030D-6E8A-4147-A177-3AD203B41FA5}">
                      <a16:colId xmlns:a16="http://schemas.microsoft.com/office/drawing/2014/main" val="741081775"/>
                    </a:ext>
                  </a:extLst>
                </a:gridCol>
                <a:gridCol w="1290918">
                  <a:extLst>
                    <a:ext uri="{9D8B030D-6E8A-4147-A177-3AD203B41FA5}">
                      <a16:colId xmlns:a16="http://schemas.microsoft.com/office/drawing/2014/main" val="1664718716"/>
                    </a:ext>
                  </a:extLst>
                </a:gridCol>
                <a:gridCol w="7082118">
                  <a:extLst>
                    <a:ext uri="{9D8B030D-6E8A-4147-A177-3AD203B41FA5}">
                      <a16:colId xmlns:a16="http://schemas.microsoft.com/office/drawing/2014/main" val="2733587631"/>
                    </a:ext>
                  </a:extLst>
                </a:gridCol>
              </a:tblGrid>
              <a:tr h="311650">
                <a:tc>
                  <a:txBody>
                    <a:bodyPr/>
                    <a:lstStyle/>
                    <a:p>
                      <a:pPr fontAlgn="t">
                        <a:buNone/>
                      </a:pPr>
                      <a:r>
                        <a:rPr lang="zh-CN" altLang="en-US" sz="1000" b="1" dirty="0">
                          <a:effectLst/>
                          <a:latin typeface="PingFang SC" panose="020B0400000000000000" pitchFamily="34" charset="-122"/>
                          <a:ea typeface="PingFang SC" panose="020B0400000000000000" pitchFamily="34" charset="-122"/>
                        </a:rPr>
                        <a:t>难度等级</a:t>
                      </a:r>
                    </a:p>
                  </a:txBody>
                  <a:tcPr marL="152400" marR="152400" marT="100013" marB="71438"/>
                </a:tc>
                <a:tc>
                  <a:txBody>
                    <a:bodyPr/>
                    <a:lstStyle/>
                    <a:p>
                      <a:pPr fontAlgn="t">
                        <a:buNone/>
                      </a:pPr>
                      <a:r>
                        <a:rPr lang="zh-CN" altLang="en-US" sz="1000" b="1" dirty="0">
                          <a:effectLst/>
                          <a:latin typeface="PingFang SC" panose="020B0400000000000000" pitchFamily="34" charset="-122"/>
                          <a:ea typeface="PingFang SC" panose="020B0400000000000000" pitchFamily="34" charset="-122"/>
                        </a:rPr>
                        <a:t>测试维度</a:t>
                      </a:r>
                    </a:p>
                  </a:txBody>
                  <a:tcPr marL="152400" marR="152400" marT="100013" marB="71438"/>
                </a:tc>
                <a:tc>
                  <a:txBody>
                    <a:bodyPr/>
                    <a:lstStyle/>
                    <a:p>
                      <a:pPr fontAlgn="t">
                        <a:buNone/>
                      </a:pPr>
                      <a:r>
                        <a:rPr lang="zh-CN" altLang="en-US" sz="1000" b="1" dirty="0">
                          <a:effectLst/>
                          <a:latin typeface="PingFang SC" panose="020B0400000000000000" pitchFamily="34" charset="-122"/>
                          <a:ea typeface="PingFang SC" panose="020B0400000000000000" pitchFamily="34" charset="-122"/>
                        </a:rPr>
                        <a:t>分类</a:t>
                      </a:r>
                    </a:p>
                  </a:txBody>
                  <a:tcPr marL="152400" marR="152400" marT="100013" marB="71438"/>
                </a:tc>
                <a:tc>
                  <a:txBody>
                    <a:bodyPr/>
                    <a:lstStyle/>
                    <a:p>
                      <a:pPr fontAlgn="t">
                        <a:buNone/>
                      </a:pPr>
                      <a:r>
                        <a:rPr lang="zh-CN" altLang="en-US" sz="1000" b="1" dirty="0">
                          <a:effectLst/>
                          <a:latin typeface="PingFang SC" panose="020B0400000000000000" pitchFamily="34" charset="-122"/>
                          <a:ea typeface="PingFang SC" panose="020B0400000000000000" pitchFamily="34" charset="-122"/>
                        </a:rPr>
                        <a:t>具体测试问题</a:t>
                      </a:r>
                    </a:p>
                  </a:txBody>
                  <a:tcPr marL="152400" marR="152400" marT="100013" marB="71438"/>
                </a:tc>
                <a:extLst>
                  <a:ext uri="{0D108BD9-81ED-4DB2-BD59-A6C34878D82A}">
                    <a16:rowId xmlns:a16="http://schemas.microsoft.com/office/drawing/2014/main" val="3529457846"/>
                  </a:ext>
                </a:extLst>
              </a:tr>
              <a:tr h="656908">
                <a:tc>
                  <a:txBody>
                    <a:bodyPr/>
                    <a:lstStyle/>
                    <a:p>
                      <a:pPr fontAlgn="t">
                        <a:lnSpc>
                          <a:spcPts val="1875"/>
                        </a:lnSpc>
                        <a:buNone/>
                      </a:pPr>
                      <a:r>
                        <a:rPr lang="en" sz="900" dirty="0">
                          <a:effectLst/>
                        </a:rPr>
                        <a:t>Level 2 </a:t>
                      </a:r>
                      <a:r>
                        <a:rPr lang="zh-CN" altLang="en-US" sz="900" dirty="0">
                          <a:effectLst/>
                        </a:rPr>
                        <a:t>进阶级</a:t>
                      </a:r>
                    </a:p>
                  </a:txBody>
                  <a:tcPr marL="152400" marR="152400" marT="100013" marB="100013"/>
                </a:tc>
                <a:tc>
                  <a:txBody>
                    <a:bodyPr/>
                    <a:lstStyle/>
                    <a:p>
                      <a:pPr fontAlgn="t">
                        <a:lnSpc>
                          <a:spcPts val="1875"/>
                        </a:lnSpc>
                        <a:buNone/>
                      </a:pPr>
                      <a:r>
                        <a:rPr lang="zh-CN" altLang="en-US" sz="900" dirty="0">
                          <a:effectLst/>
                        </a:rPr>
                        <a:t>功能菌株定向筛选</a:t>
                      </a:r>
                    </a:p>
                  </a:txBody>
                  <a:tcPr marL="152400" marR="152400" marT="100013" marB="100013"/>
                </a:tc>
                <a:tc>
                  <a:txBody>
                    <a:bodyPr/>
                    <a:lstStyle/>
                    <a:p>
                      <a:pPr fontAlgn="t">
                        <a:lnSpc>
                          <a:spcPts val="1875"/>
                        </a:lnSpc>
                        <a:buNone/>
                      </a:pPr>
                      <a:r>
                        <a:rPr lang="zh-CN" altLang="en-US" sz="900">
                          <a:effectLst/>
                        </a:rPr>
                        <a:t>脱氮系统菌株匹配</a:t>
                      </a:r>
                    </a:p>
                  </a:txBody>
                  <a:tcPr marL="152400" marR="152400" marT="100013" marB="100013"/>
                </a:tc>
                <a:tc>
                  <a:txBody>
                    <a:bodyPr/>
                    <a:lstStyle/>
                    <a:p>
                      <a:pPr fontAlgn="t">
                        <a:lnSpc>
                          <a:spcPts val="1875"/>
                        </a:lnSpc>
                        <a:buNone/>
                      </a:pPr>
                      <a:r>
                        <a:rPr lang="zh-CN" altLang="en-US" sz="900" dirty="0">
                          <a:effectLst/>
                        </a:rPr>
                        <a:t>针对</a:t>
                      </a:r>
                      <a:r>
                        <a:rPr lang="en-US" altLang="zh-CN" sz="900" dirty="0">
                          <a:effectLst/>
                        </a:rPr>
                        <a:t>2.5%</a:t>
                      </a:r>
                      <a:r>
                        <a:rPr lang="zh-CN" altLang="en-US" sz="900" dirty="0">
                          <a:effectLst/>
                        </a:rPr>
                        <a:t>盐度的</a:t>
                      </a:r>
                      <a:r>
                        <a:rPr lang="en" sz="900" dirty="0">
                          <a:effectLst/>
                        </a:rPr>
                        <a:t>anammox</a:t>
                      </a:r>
                      <a:r>
                        <a:rPr lang="zh-CN" altLang="en-US" sz="900" dirty="0">
                          <a:effectLst/>
                        </a:rPr>
                        <a:t>脱氮系统，筛选</a:t>
                      </a:r>
                      <a:r>
                        <a:rPr lang="en-US" altLang="zh-CN" sz="900" dirty="0">
                          <a:effectLst/>
                        </a:rPr>
                        <a:t>2</a:t>
                      </a:r>
                      <a:r>
                        <a:rPr lang="zh-CN" altLang="en-US" sz="900" dirty="0">
                          <a:effectLst/>
                        </a:rPr>
                        <a:t>株不与</a:t>
                      </a:r>
                      <a:r>
                        <a:rPr lang="en" sz="900" dirty="0">
                          <a:effectLst/>
                        </a:rPr>
                        <a:t>anammox</a:t>
                      </a:r>
                      <a:r>
                        <a:rPr lang="zh-CN" altLang="en-US" sz="900" dirty="0">
                          <a:effectLst/>
                        </a:rPr>
                        <a:t>菌竞争基质、可自主合成四氢嘧啶的伴生辅助菌株，标注其相容性溶质胞外释放效率范围</a:t>
                      </a:r>
                    </a:p>
                  </a:txBody>
                  <a:tcPr marL="152400" marR="152400" marT="100013" marB="100013"/>
                </a:tc>
                <a:extLst>
                  <a:ext uri="{0D108BD9-81ED-4DB2-BD59-A6C34878D82A}">
                    <a16:rowId xmlns:a16="http://schemas.microsoft.com/office/drawing/2014/main" val="4171925419"/>
                  </a:ext>
                </a:extLst>
              </a:tr>
              <a:tr h="656908">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dirty="0">
                          <a:effectLst/>
                        </a:rPr>
                        <a:t>功能菌株定向筛选</a:t>
                      </a:r>
                    </a:p>
                  </a:txBody>
                  <a:tcPr marL="152400" marR="152400" marT="100013" marB="100013"/>
                </a:tc>
                <a:tc>
                  <a:txBody>
                    <a:bodyPr/>
                    <a:lstStyle/>
                    <a:p>
                      <a:pPr fontAlgn="t">
                        <a:lnSpc>
                          <a:spcPts val="1875"/>
                        </a:lnSpc>
                        <a:buNone/>
                      </a:pPr>
                      <a:r>
                        <a:rPr lang="zh-CN" altLang="en-US" sz="900">
                          <a:effectLst/>
                        </a:rPr>
                        <a:t>多菌株协同组合</a:t>
                      </a:r>
                    </a:p>
                  </a:txBody>
                  <a:tcPr marL="152400" marR="152400" marT="100013" marB="100013"/>
                </a:tc>
                <a:tc>
                  <a:txBody>
                    <a:bodyPr/>
                    <a:lstStyle/>
                    <a:p>
                      <a:pPr fontAlgn="t">
                        <a:lnSpc>
                          <a:spcPts val="1875"/>
                        </a:lnSpc>
                        <a:buNone/>
                      </a:pPr>
                      <a:r>
                        <a:rPr lang="zh-CN" altLang="en-US" sz="900" dirty="0">
                          <a:effectLst/>
                        </a:rPr>
                        <a:t>针对</a:t>
                      </a:r>
                      <a:r>
                        <a:rPr lang="en-US" altLang="zh-CN" sz="900" dirty="0">
                          <a:effectLst/>
                        </a:rPr>
                        <a:t>4%</a:t>
                      </a:r>
                      <a:r>
                        <a:rPr lang="zh-CN" altLang="en-US" sz="900" dirty="0">
                          <a:effectLst/>
                        </a:rPr>
                        <a:t>盐度的反硝化系统，筛选一组无代谢拮抗的协同功能菌组合：一株主产甘氨酸甜菜碱，另一株主产海藻糖，同时具备完整反硝化功能</a:t>
                      </a:r>
                    </a:p>
                  </a:txBody>
                  <a:tcPr marL="152400" marR="152400" marT="100013" marB="100013"/>
                </a:tc>
                <a:extLst>
                  <a:ext uri="{0D108BD9-81ED-4DB2-BD59-A6C34878D82A}">
                    <a16:rowId xmlns:a16="http://schemas.microsoft.com/office/drawing/2014/main" val="1738808"/>
                  </a:ext>
                </a:extLst>
              </a:tr>
              <a:tr h="656908">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溶质</a:t>
                      </a:r>
                      <a:r>
                        <a:rPr lang="en-US" altLang="zh-CN" sz="900">
                          <a:effectLst/>
                        </a:rPr>
                        <a:t>-</a:t>
                      </a:r>
                      <a:r>
                        <a:rPr lang="zh-CN" altLang="en-US" sz="900">
                          <a:effectLst/>
                        </a:rPr>
                        <a:t>工况匹配</a:t>
                      </a:r>
                    </a:p>
                  </a:txBody>
                  <a:tcPr marL="152400" marR="152400" marT="100013" marB="100013"/>
                </a:tc>
                <a:tc>
                  <a:txBody>
                    <a:bodyPr/>
                    <a:lstStyle/>
                    <a:p>
                      <a:pPr fontAlgn="t">
                        <a:lnSpc>
                          <a:spcPts val="1875"/>
                        </a:lnSpc>
                        <a:buNone/>
                      </a:pPr>
                      <a:r>
                        <a:rPr lang="zh-CN" altLang="en-US" sz="900">
                          <a:effectLst/>
                        </a:rPr>
                        <a:t>交叉保护适配</a:t>
                      </a:r>
                    </a:p>
                  </a:txBody>
                  <a:tcPr marL="152400" marR="152400" marT="100013" marB="100013"/>
                </a:tc>
                <a:tc>
                  <a:txBody>
                    <a:bodyPr/>
                    <a:lstStyle/>
                    <a:p>
                      <a:pPr fontAlgn="t">
                        <a:lnSpc>
                          <a:spcPts val="1875"/>
                        </a:lnSpc>
                        <a:buNone/>
                      </a:pPr>
                      <a:r>
                        <a:rPr lang="zh-CN" altLang="en-US" sz="900" dirty="0">
                          <a:effectLst/>
                        </a:rPr>
                        <a:t>某高盐食品废水系统进水盐度长期</a:t>
                      </a:r>
                      <a:r>
                        <a:rPr lang="en-US" altLang="zh-CN" sz="900" dirty="0">
                          <a:effectLst/>
                        </a:rPr>
                        <a:t>2%~4%</a:t>
                      </a:r>
                      <a:r>
                        <a:rPr lang="zh-CN" altLang="en-US" sz="900" dirty="0">
                          <a:effectLst/>
                        </a:rPr>
                        <a:t>波动，间歇式遭遇</a:t>
                      </a:r>
                      <a:r>
                        <a:rPr lang="en-US" altLang="zh-CN" sz="900" dirty="0">
                          <a:effectLst/>
                        </a:rPr>
                        <a:t>40℃</a:t>
                      </a:r>
                      <a:r>
                        <a:rPr lang="zh-CN" altLang="en-US" sz="900" dirty="0">
                          <a:effectLst/>
                        </a:rPr>
                        <a:t>高温冲击，匹配</a:t>
                      </a:r>
                      <a:r>
                        <a:rPr lang="en-US" altLang="zh-CN" sz="900" dirty="0">
                          <a:effectLst/>
                        </a:rPr>
                        <a:t>3</a:t>
                      </a:r>
                      <a:r>
                        <a:rPr lang="zh-CN" altLang="en-US" sz="900" dirty="0">
                          <a:effectLst/>
                        </a:rPr>
                        <a:t>种可实现交叉保护的相容性溶质，说明每种溶质对应的抗逆覆盖维度</a:t>
                      </a:r>
                    </a:p>
                  </a:txBody>
                  <a:tcPr marL="152400" marR="152400" marT="100013" marB="100013"/>
                </a:tc>
                <a:extLst>
                  <a:ext uri="{0D108BD9-81ED-4DB2-BD59-A6C34878D82A}">
                    <a16:rowId xmlns:a16="http://schemas.microsoft.com/office/drawing/2014/main" val="1207951754"/>
                  </a:ext>
                </a:extLst>
              </a:tr>
              <a:tr h="656908">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溶质</a:t>
                      </a:r>
                      <a:r>
                        <a:rPr lang="en-US" altLang="zh-CN" sz="900">
                          <a:effectLst/>
                        </a:rPr>
                        <a:t>-</a:t>
                      </a:r>
                      <a:r>
                        <a:rPr lang="zh-CN" altLang="en-US" sz="900">
                          <a:effectLst/>
                        </a:rPr>
                        <a:t>工况匹配</a:t>
                      </a:r>
                    </a:p>
                  </a:txBody>
                  <a:tcPr marL="152400" marR="152400" marT="100013" marB="100013"/>
                </a:tc>
                <a:tc>
                  <a:txBody>
                    <a:bodyPr/>
                    <a:lstStyle/>
                    <a:p>
                      <a:pPr fontAlgn="t">
                        <a:lnSpc>
                          <a:spcPts val="1875"/>
                        </a:lnSpc>
                        <a:buNone/>
                      </a:pPr>
                      <a:r>
                        <a:rPr lang="zh-CN" altLang="en-US" sz="900">
                          <a:effectLst/>
                        </a:rPr>
                        <a:t>初步性能预判</a:t>
                      </a:r>
                    </a:p>
                  </a:txBody>
                  <a:tcPr marL="152400" marR="152400" marT="100013" marB="100013"/>
                </a:tc>
                <a:tc>
                  <a:txBody>
                    <a:bodyPr/>
                    <a:lstStyle/>
                    <a:p>
                      <a:pPr fontAlgn="t">
                        <a:lnSpc>
                          <a:spcPts val="1875"/>
                        </a:lnSpc>
                        <a:buNone/>
                      </a:pPr>
                      <a:r>
                        <a:rPr lang="zh-CN" altLang="en-US" sz="900" dirty="0">
                          <a:effectLst/>
                        </a:rPr>
                        <a:t>向</a:t>
                      </a:r>
                      <a:r>
                        <a:rPr lang="en-US" altLang="zh-CN" sz="900" dirty="0">
                          <a:effectLst/>
                        </a:rPr>
                        <a:t>3%</a:t>
                      </a:r>
                      <a:r>
                        <a:rPr lang="zh-CN" altLang="en-US" sz="900" dirty="0">
                          <a:effectLst/>
                        </a:rPr>
                        <a:t>盐度冲击的</a:t>
                      </a:r>
                      <a:r>
                        <a:rPr lang="en" sz="900" dirty="0">
                          <a:effectLst/>
                        </a:rPr>
                        <a:t>SBR</a:t>
                      </a:r>
                      <a:r>
                        <a:rPr lang="zh-CN" altLang="en-US" sz="900" dirty="0">
                          <a:effectLst/>
                        </a:rPr>
                        <a:t>脱氮系统中投加产四氢嘧啶功能菌，结合已发表实证数据，估算该系统反硝化效率维持率区间，列出支撑该结果的</a:t>
                      </a:r>
                      <a:r>
                        <a:rPr lang="en-US" altLang="zh-CN" sz="900" dirty="0">
                          <a:effectLst/>
                        </a:rPr>
                        <a:t>3</a:t>
                      </a:r>
                      <a:r>
                        <a:rPr lang="zh-CN" altLang="en-US" sz="900" dirty="0">
                          <a:effectLst/>
                        </a:rPr>
                        <a:t>条核心文献证据</a:t>
                      </a:r>
                    </a:p>
                  </a:txBody>
                  <a:tcPr marL="152400" marR="152400" marT="100013" marB="100013"/>
                </a:tc>
                <a:extLst>
                  <a:ext uri="{0D108BD9-81ED-4DB2-BD59-A6C34878D82A}">
                    <a16:rowId xmlns:a16="http://schemas.microsoft.com/office/drawing/2014/main" val="1555361939"/>
                  </a:ext>
                </a:extLst>
              </a:tr>
              <a:tr h="632963">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分离菌株直接应用</a:t>
                      </a:r>
                    </a:p>
                  </a:txBody>
                  <a:tcPr marL="152400" marR="152400" marT="100013" marB="100013"/>
                </a:tc>
                <a:tc>
                  <a:txBody>
                    <a:bodyPr/>
                    <a:lstStyle/>
                    <a:p>
                      <a:pPr fontAlgn="t">
                        <a:lnSpc>
                          <a:spcPts val="1875"/>
                        </a:lnSpc>
                        <a:buNone/>
                      </a:pPr>
                      <a:r>
                        <a:rPr lang="zh-CN" altLang="en-US" sz="900">
                          <a:effectLst/>
                        </a:rPr>
                        <a:t>菌株场景适配</a:t>
                      </a:r>
                    </a:p>
                  </a:txBody>
                  <a:tcPr marL="152400" marR="152400" marT="100013" marB="100013"/>
                </a:tc>
                <a:tc>
                  <a:txBody>
                    <a:bodyPr/>
                    <a:lstStyle/>
                    <a:p>
                      <a:pPr fontAlgn="t">
                        <a:lnSpc>
                          <a:spcPts val="1875"/>
                        </a:lnSpc>
                        <a:buNone/>
                      </a:pPr>
                      <a:r>
                        <a:rPr lang="zh-CN" altLang="en-US" sz="900" dirty="0">
                          <a:effectLst/>
                        </a:rPr>
                        <a:t>筛选一株可在</a:t>
                      </a:r>
                      <a:r>
                        <a:rPr lang="en-US" altLang="zh-CN" sz="900" dirty="0">
                          <a:effectLst/>
                        </a:rPr>
                        <a:t>4%</a:t>
                      </a:r>
                      <a:r>
                        <a:rPr lang="zh-CN" altLang="en-US" sz="900" dirty="0">
                          <a:effectLst/>
                        </a:rPr>
                        <a:t>盐度下稳定运行的异养硝化</a:t>
                      </a:r>
                      <a:r>
                        <a:rPr lang="en-US" altLang="zh-CN" sz="900" dirty="0">
                          <a:effectLst/>
                        </a:rPr>
                        <a:t>-</a:t>
                      </a:r>
                      <a:r>
                        <a:rPr lang="zh-CN" altLang="en-US" sz="900" dirty="0">
                          <a:effectLst/>
                        </a:rPr>
                        <a:t>好氧反硝化菌株，标注其基因组中相容性溶质合成的关键基因信息</a:t>
                      </a:r>
                    </a:p>
                  </a:txBody>
                  <a:tcPr marL="152400" marR="152400" marT="100013" marB="100013"/>
                </a:tc>
                <a:extLst>
                  <a:ext uri="{0D108BD9-81ED-4DB2-BD59-A6C34878D82A}">
                    <a16:rowId xmlns:a16="http://schemas.microsoft.com/office/drawing/2014/main" val="487487966"/>
                  </a:ext>
                </a:extLst>
              </a:tr>
              <a:tr h="425897">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天然群落直接应用</a:t>
                      </a:r>
                    </a:p>
                  </a:txBody>
                  <a:tcPr marL="152400" marR="152400" marT="100013" marB="100013"/>
                </a:tc>
                <a:tc>
                  <a:txBody>
                    <a:bodyPr/>
                    <a:lstStyle/>
                    <a:p>
                      <a:pPr fontAlgn="t">
                        <a:lnSpc>
                          <a:spcPts val="1875"/>
                        </a:lnSpc>
                        <a:buNone/>
                      </a:pPr>
                      <a:r>
                        <a:rPr lang="zh-CN" altLang="en-US" sz="900">
                          <a:effectLst/>
                        </a:rPr>
                        <a:t>生境样本定位</a:t>
                      </a:r>
                    </a:p>
                  </a:txBody>
                  <a:tcPr marL="152400" marR="152400" marT="100013" marB="100013"/>
                </a:tc>
                <a:tc>
                  <a:txBody>
                    <a:bodyPr/>
                    <a:lstStyle/>
                    <a:p>
                      <a:pPr fontAlgn="t">
                        <a:lnSpc>
                          <a:spcPts val="1875"/>
                        </a:lnSpc>
                        <a:buNone/>
                      </a:pPr>
                      <a:r>
                        <a:rPr lang="zh-CN" altLang="en-US" sz="900" dirty="0">
                          <a:effectLst/>
                        </a:rPr>
                        <a:t>筛选一个原生盐度</a:t>
                      </a:r>
                      <a:r>
                        <a:rPr lang="en-US" altLang="zh-CN" sz="900" dirty="0">
                          <a:effectLst/>
                        </a:rPr>
                        <a:t>3%~4%</a:t>
                      </a:r>
                      <a:r>
                        <a:rPr lang="zh-CN" altLang="en-US" sz="900" dirty="0">
                          <a:effectLst/>
                        </a:rPr>
                        <a:t>、天然富集高丰度产相容性溶质脱氮功能菌的极端环境样本，标注其采样点基础信息与核心群落结构特征</a:t>
                      </a:r>
                    </a:p>
                  </a:txBody>
                  <a:tcPr marL="152400" marR="152400" marT="100013" marB="100013"/>
                </a:tc>
                <a:extLst>
                  <a:ext uri="{0D108BD9-81ED-4DB2-BD59-A6C34878D82A}">
                    <a16:rowId xmlns:a16="http://schemas.microsoft.com/office/drawing/2014/main" val="1185350685"/>
                  </a:ext>
                </a:extLst>
              </a:tr>
              <a:tr h="656908">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天然群落直接应用</a:t>
                      </a:r>
                    </a:p>
                  </a:txBody>
                  <a:tcPr marL="152400" marR="152400" marT="100013" marB="100013"/>
                </a:tc>
                <a:tc>
                  <a:txBody>
                    <a:bodyPr/>
                    <a:lstStyle/>
                    <a:p>
                      <a:pPr fontAlgn="t">
                        <a:lnSpc>
                          <a:spcPts val="1875"/>
                        </a:lnSpc>
                        <a:buNone/>
                      </a:pPr>
                      <a:r>
                        <a:rPr lang="zh-CN" altLang="en-US" sz="900">
                          <a:effectLst/>
                        </a:rPr>
                        <a:t>废水工况适配</a:t>
                      </a:r>
                    </a:p>
                  </a:txBody>
                  <a:tcPr marL="152400" marR="152400" marT="100013" marB="100013"/>
                </a:tc>
                <a:tc>
                  <a:txBody>
                    <a:bodyPr/>
                    <a:lstStyle/>
                    <a:p>
                      <a:pPr fontAlgn="t">
                        <a:lnSpc>
                          <a:spcPts val="1875"/>
                        </a:lnSpc>
                        <a:buNone/>
                      </a:pPr>
                      <a:r>
                        <a:rPr lang="zh-CN" altLang="en-US" sz="900" dirty="0">
                          <a:effectLst/>
                        </a:rPr>
                        <a:t>某高盐印染废水长期进水盐度稳定在</a:t>
                      </a:r>
                      <a:r>
                        <a:rPr lang="en-US" altLang="zh-CN" sz="900" dirty="0">
                          <a:effectLst/>
                        </a:rPr>
                        <a:t>3%</a:t>
                      </a:r>
                      <a:r>
                        <a:rPr lang="zh-CN" altLang="en-US" sz="900" dirty="0">
                          <a:effectLst/>
                        </a:rPr>
                        <a:t>，需要直接引入天然极端功能群落启动生物脱氮系统，选出适配度最高的功能群落样本，说明其适配该废水的</a:t>
                      </a:r>
                      <a:r>
                        <a:rPr lang="en-US" altLang="zh-CN" sz="900" dirty="0">
                          <a:effectLst/>
                        </a:rPr>
                        <a:t>3</a:t>
                      </a:r>
                      <a:r>
                        <a:rPr lang="zh-CN" altLang="en-US" sz="900" dirty="0">
                          <a:effectLst/>
                        </a:rPr>
                        <a:t>项核心优势</a:t>
                      </a:r>
                    </a:p>
                  </a:txBody>
                  <a:tcPr marL="152400" marR="152400" marT="100013" marB="100013"/>
                </a:tc>
                <a:extLst>
                  <a:ext uri="{0D108BD9-81ED-4DB2-BD59-A6C34878D82A}">
                    <a16:rowId xmlns:a16="http://schemas.microsoft.com/office/drawing/2014/main" val="2159233201"/>
                  </a:ext>
                </a:extLst>
              </a:tr>
              <a:tr h="656908">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人工群落强化</a:t>
                      </a:r>
                    </a:p>
                  </a:txBody>
                  <a:tcPr marL="152400" marR="152400" marT="100013" marB="100013"/>
                </a:tc>
                <a:tc>
                  <a:txBody>
                    <a:bodyPr/>
                    <a:lstStyle/>
                    <a:p>
                      <a:pPr fontAlgn="t">
                        <a:lnSpc>
                          <a:spcPts val="1875"/>
                        </a:lnSpc>
                        <a:buNone/>
                      </a:pPr>
                      <a:r>
                        <a:rPr lang="zh-CN" altLang="en-US" sz="900">
                          <a:effectLst/>
                        </a:rPr>
                        <a:t>功能缺口识别</a:t>
                      </a:r>
                    </a:p>
                  </a:txBody>
                  <a:tcPr marL="152400" marR="152400" marT="100013" marB="100013"/>
                </a:tc>
                <a:tc>
                  <a:txBody>
                    <a:bodyPr/>
                    <a:lstStyle/>
                    <a:p>
                      <a:pPr fontAlgn="t">
                        <a:lnSpc>
                          <a:spcPts val="1875"/>
                        </a:lnSpc>
                        <a:buNone/>
                      </a:pPr>
                      <a:r>
                        <a:rPr lang="zh-CN" altLang="en-US" sz="900">
                          <a:effectLst/>
                        </a:rPr>
                        <a:t>现有一组人工构建的</a:t>
                      </a:r>
                      <a:r>
                        <a:rPr lang="en" sz="900">
                          <a:effectLst/>
                        </a:rPr>
                        <a:t>anammox</a:t>
                      </a:r>
                      <a:r>
                        <a:rPr lang="zh-CN" altLang="en-US" sz="900">
                          <a:effectLst/>
                        </a:rPr>
                        <a:t>脱氮群落，在</a:t>
                      </a:r>
                      <a:r>
                        <a:rPr lang="en-US" altLang="zh-CN" sz="900">
                          <a:effectLst/>
                        </a:rPr>
                        <a:t>3%</a:t>
                      </a:r>
                      <a:r>
                        <a:rPr lang="zh-CN" altLang="en-US" sz="900">
                          <a:effectLst/>
                        </a:rPr>
                        <a:t>盐度下无法自主合成足量四氢嘧啶，识别该人工群落的核心功能缺口，定位可补充该功能的目标天然功能类群</a:t>
                      </a:r>
                    </a:p>
                  </a:txBody>
                  <a:tcPr marL="152400" marR="152400" marT="100013" marB="100013"/>
                </a:tc>
                <a:extLst>
                  <a:ext uri="{0D108BD9-81ED-4DB2-BD59-A6C34878D82A}">
                    <a16:rowId xmlns:a16="http://schemas.microsoft.com/office/drawing/2014/main" val="2226556211"/>
                  </a:ext>
                </a:extLst>
              </a:tr>
              <a:tr h="656908">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人工群落强化</a:t>
                      </a:r>
                    </a:p>
                  </a:txBody>
                  <a:tcPr marL="152400" marR="152400" marT="100013" marB="100013"/>
                </a:tc>
                <a:tc>
                  <a:txBody>
                    <a:bodyPr/>
                    <a:lstStyle/>
                    <a:p>
                      <a:pPr fontAlgn="t">
                        <a:lnSpc>
                          <a:spcPts val="1875"/>
                        </a:lnSpc>
                        <a:buNone/>
                      </a:pPr>
                      <a:r>
                        <a:rPr lang="zh-CN" altLang="en-US" sz="900">
                          <a:effectLst/>
                        </a:rPr>
                        <a:t>强化方案初设</a:t>
                      </a:r>
                    </a:p>
                  </a:txBody>
                  <a:tcPr marL="152400" marR="152400" marT="100013" marB="100013"/>
                </a:tc>
                <a:tc>
                  <a:txBody>
                    <a:bodyPr/>
                    <a:lstStyle/>
                    <a:p>
                      <a:pPr fontAlgn="t">
                        <a:lnSpc>
                          <a:spcPts val="1875"/>
                        </a:lnSpc>
                        <a:buNone/>
                      </a:pPr>
                      <a:r>
                        <a:rPr lang="zh-CN" altLang="en-US" sz="900">
                          <a:effectLst/>
                        </a:rPr>
                        <a:t>针对</a:t>
                      </a:r>
                      <a:r>
                        <a:rPr lang="en-US" altLang="zh-CN" sz="900">
                          <a:effectLst/>
                        </a:rPr>
                        <a:t>4%</a:t>
                      </a:r>
                      <a:r>
                        <a:rPr lang="zh-CN" altLang="en-US" sz="900">
                          <a:effectLst/>
                        </a:rPr>
                        <a:t>盐度下脱氮效率快速下降的人工反硝化合成群落，设计一个基于天然产相容性溶质功能群落的强化方案，标注天然群落的最优接种比例范围</a:t>
                      </a:r>
                    </a:p>
                  </a:txBody>
                  <a:tcPr marL="152400" marR="152400" marT="100013" marB="100013"/>
                </a:tc>
                <a:extLst>
                  <a:ext uri="{0D108BD9-81ED-4DB2-BD59-A6C34878D82A}">
                    <a16:rowId xmlns:a16="http://schemas.microsoft.com/office/drawing/2014/main" val="2966436115"/>
                  </a:ext>
                </a:extLst>
              </a:tr>
              <a:tr h="425897">
                <a:tc>
                  <a:txBody>
                    <a:bodyPr/>
                    <a:lstStyle/>
                    <a:p>
                      <a:pPr fontAlgn="t">
                        <a:lnSpc>
                          <a:spcPts val="1875"/>
                        </a:lnSpc>
                        <a:buNone/>
                      </a:pPr>
                      <a:r>
                        <a:rPr lang="en" sz="900">
                          <a:effectLst/>
                        </a:rPr>
                        <a:t>Level 2 </a:t>
                      </a:r>
                      <a:r>
                        <a:rPr lang="zh-CN" altLang="en-US" sz="900">
                          <a:effectLst/>
                        </a:rPr>
                        <a:t>进阶级</a:t>
                      </a:r>
                    </a:p>
                  </a:txBody>
                  <a:tcPr marL="152400" marR="152400" marT="100013" marB="100013"/>
                </a:tc>
                <a:tc>
                  <a:txBody>
                    <a:bodyPr/>
                    <a:lstStyle/>
                    <a:p>
                      <a:pPr fontAlgn="t">
                        <a:lnSpc>
                          <a:spcPts val="1875"/>
                        </a:lnSpc>
                        <a:buNone/>
                      </a:pPr>
                      <a:r>
                        <a:rPr lang="zh-CN" altLang="en-US" sz="900">
                          <a:effectLst/>
                        </a:rPr>
                        <a:t>通路关联分析</a:t>
                      </a:r>
                    </a:p>
                  </a:txBody>
                  <a:tcPr marL="152400" marR="152400" marT="100013" marB="100013"/>
                </a:tc>
                <a:tc>
                  <a:txBody>
                    <a:bodyPr/>
                    <a:lstStyle/>
                    <a:p>
                      <a:pPr fontAlgn="t">
                        <a:lnSpc>
                          <a:spcPts val="1875"/>
                        </a:lnSpc>
                        <a:buNone/>
                      </a:pPr>
                      <a:r>
                        <a:rPr lang="zh-CN" altLang="en-US" sz="900">
                          <a:effectLst/>
                        </a:rPr>
                        <a:t>合成通路校验</a:t>
                      </a:r>
                    </a:p>
                  </a:txBody>
                  <a:tcPr marL="152400" marR="152400" marT="100013" marB="100013"/>
                </a:tc>
                <a:tc>
                  <a:txBody>
                    <a:bodyPr/>
                    <a:lstStyle/>
                    <a:p>
                      <a:pPr fontAlgn="t">
                        <a:lnSpc>
                          <a:spcPts val="1875"/>
                        </a:lnSpc>
                        <a:buNone/>
                      </a:pPr>
                      <a:r>
                        <a:rPr lang="zh-CN" altLang="en-US" sz="900" dirty="0">
                          <a:effectLst/>
                        </a:rPr>
                        <a:t>提供</a:t>
                      </a:r>
                      <a:r>
                        <a:rPr lang="en-US" altLang="zh-CN" sz="900" dirty="0">
                          <a:effectLst/>
                        </a:rPr>
                        <a:t>3</a:t>
                      </a:r>
                      <a:r>
                        <a:rPr lang="zh-CN" altLang="en-US" sz="900" dirty="0">
                          <a:effectLst/>
                        </a:rPr>
                        <a:t>株分别携带甘氨酸甜菜碱、四氢嘧啶、海藻糖完整合成通路的耐盐脱氮菌株，标注每条通路的关键酶编码基因信息</a:t>
                      </a:r>
                    </a:p>
                  </a:txBody>
                  <a:tcPr marL="152400" marR="152400" marT="100013" marB="100013"/>
                </a:tc>
                <a:extLst>
                  <a:ext uri="{0D108BD9-81ED-4DB2-BD59-A6C34878D82A}">
                    <a16:rowId xmlns:a16="http://schemas.microsoft.com/office/drawing/2014/main" val="3173341994"/>
                  </a:ext>
                </a:extLst>
              </a:tr>
            </a:tbl>
          </a:graphicData>
        </a:graphic>
      </p:graphicFrame>
    </p:spTree>
    <p:extLst>
      <p:ext uri="{BB962C8B-B14F-4D97-AF65-F5344CB8AC3E}">
        <p14:creationId xmlns:p14="http://schemas.microsoft.com/office/powerpoint/2010/main" val="323068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DE7E-B644-F5FB-7DC2-D7557A6E19FF}"/>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B56EFEE3-3EE5-6E72-6317-F982E248ACDC}"/>
              </a:ext>
            </a:extLst>
          </p:cNvPr>
          <p:cNvGraphicFramePr>
            <a:graphicFrameLocks noGrp="1"/>
          </p:cNvGraphicFramePr>
          <p:nvPr>
            <p:extLst>
              <p:ext uri="{D42A27DB-BD31-4B8C-83A1-F6EECF244321}">
                <p14:modId xmlns:p14="http://schemas.microsoft.com/office/powerpoint/2010/main" val="3497917102"/>
              </p:ext>
            </p:extLst>
          </p:nvPr>
        </p:nvGraphicFramePr>
        <p:xfrm>
          <a:off x="546846" y="566177"/>
          <a:ext cx="10757647" cy="5673255"/>
        </p:xfrm>
        <a:graphic>
          <a:graphicData uri="http://schemas.openxmlformats.org/drawingml/2006/table">
            <a:tbl>
              <a:tblPr>
                <a:tableStyleId>{5C22544A-7EE6-4342-B048-85BDC9FD1C3A}</a:tableStyleId>
              </a:tblPr>
              <a:tblGrid>
                <a:gridCol w="1593725">
                  <a:extLst>
                    <a:ext uri="{9D8B030D-6E8A-4147-A177-3AD203B41FA5}">
                      <a16:colId xmlns:a16="http://schemas.microsoft.com/office/drawing/2014/main" val="1361460989"/>
                    </a:ext>
                  </a:extLst>
                </a:gridCol>
                <a:gridCol w="1992157">
                  <a:extLst>
                    <a:ext uri="{9D8B030D-6E8A-4147-A177-3AD203B41FA5}">
                      <a16:colId xmlns:a16="http://schemas.microsoft.com/office/drawing/2014/main" val="2738040627"/>
                    </a:ext>
                  </a:extLst>
                </a:gridCol>
                <a:gridCol w="2191373">
                  <a:extLst>
                    <a:ext uri="{9D8B030D-6E8A-4147-A177-3AD203B41FA5}">
                      <a16:colId xmlns:a16="http://schemas.microsoft.com/office/drawing/2014/main" val="2960910365"/>
                    </a:ext>
                  </a:extLst>
                </a:gridCol>
                <a:gridCol w="4980392">
                  <a:extLst>
                    <a:ext uri="{9D8B030D-6E8A-4147-A177-3AD203B41FA5}">
                      <a16:colId xmlns:a16="http://schemas.microsoft.com/office/drawing/2014/main" val="1597436741"/>
                    </a:ext>
                  </a:extLst>
                </a:gridCol>
              </a:tblGrid>
              <a:tr h="158382">
                <a:tc>
                  <a:txBody>
                    <a:bodyPr/>
                    <a:lstStyle/>
                    <a:p>
                      <a:pPr algn="l" fontAlgn="b">
                        <a:buNone/>
                      </a:pPr>
                      <a:r>
                        <a:rPr lang="zh-CN" altLang="en-US" sz="700" u="none" strike="noStrike">
                          <a:effectLst/>
                        </a:rPr>
                        <a:t>难度等级</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测试维度</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分类</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具体测试问题</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382909310"/>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全流程工程闭环</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完整生物强化方案输出</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某日处理</a:t>
                      </a:r>
                      <a:r>
                        <a:rPr lang="en-US" altLang="zh-CN" sz="700" u="none" strike="noStrike">
                          <a:effectLst/>
                        </a:rPr>
                        <a:t>1000</a:t>
                      </a:r>
                      <a:r>
                        <a:rPr lang="zh-CN" altLang="en-US" sz="700" u="none" strike="noStrike">
                          <a:effectLst/>
                        </a:rPr>
                        <a:t>吨的高盐印染废水脱氮系统，长期进水盐度</a:t>
                      </a:r>
                      <a:r>
                        <a:rPr lang="en-US" altLang="zh-CN" sz="700" u="none" strike="noStrike">
                          <a:effectLst/>
                        </a:rPr>
                        <a:t>1%~4%</a:t>
                      </a:r>
                      <a:r>
                        <a:rPr lang="zh-CN" altLang="en-US" sz="700" u="none" strike="noStrike">
                          <a:effectLst/>
                        </a:rPr>
                        <a:t>波动，进水</a:t>
                      </a:r>
                      <a:r>
                        <a:rPr lang="en" sz="700" u="none" strike="noStrike">
                          <a:effectLst/>
                        </a:rPr>
                        <a:t>TN</a:t>
                      </a:r>
                      <a:r>
                        <a:rPr lang="zh-CN" altLang="en-US" sz="700" u="none" strike="noStrike">
                          <a:effectLst/>
                        </a:rPr>
                        <a:t>负荷</a:t>
                      </a:r>
                      <a:r>
                        <a:rPr lang="en-US" altLang="zh-CN" sz="700" u="none" strike="noStrike">
                          <a:effectLst/>
                        </a:rPr>
                        <a:t>0.3</a:t>
                      </a:r>
                      <a:r>
                        <a:rPr lang="en" sz="700" u="none" strike="noStrike">
                          <a:effectLst/>
                        </a:rPr>
                        <a:t>kg/(m³·d)，</a:t>
                      </a:r>
                      <a:r>
                        <a:rPr lang="zh-CN" altLang="en-US" sz="700" u="none" strike="noStrike">
                          <a:effectLst/>
                        </a:rPr>
                        <a:t>出水要求</a:t>
                      </a:r>
                      <a:r>
                        <a:rPr lang="en" sz="700" u="none" strike="noStrike">
                          <a:effectLst/>
                        </a:rPr>
                        <a:t>TN＜15mg/L，</a:t>
                      </a:r>
                      <a:r>
                        <a:rPr lang="zh-CN" altLang="en-US" sz="700" u="none" strike="noStrike">
                          <a:effectLst/>
                        </a:rPr>
                        <a:t>输出一套完整的产相容性溶质功能菌生物强化部署方案，覆盖菌株选型、投加策略、启动工况、</a:t>
                      </a:r>
                      <a:r>
                        <a:rPr lang="en-US" altLang="zh-CN" sz="700" u="none" strike="noStrike">
                          <a:effectLst/>
                        </a:rPr>
                        <a:t>7</a:t>
                      </a:r>
                      <a:r>
                        <a:rPr lang="zh-CN" altLang="en-US" sz="700" u="none" strike="noStrike">
                          <a:effectLst/>
                        </a:rPr>
                        <a:t>天运行性能预判全环节</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2783360841"/>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全流程工程闭环</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多胁迫叠加系统优化</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某高盐制药废水</a:t>
                      </a:r>
                      <a:r>
                        <a:rPr lang="en" sz="700" u="none" strike="noStrike">
                          <a:effectLst/>
                        </a:rPr>
                        <a:t>anammox</a:t>
                      </a:r>
                      <a:r>
                        <a:rPr lang="zh-CN" altLang="en-US" sz="700" u="none" strike="noStrike">
                          <a:effectLst/>
                        </a:rPr>
                        <a:t>系统，长期面临</a:t>
                      </a:r>
                      <a:r>
                        <a:rPr lang="en-US" altLang="zh-CN" sz="700" u="none" strike="noStrike">
                          <a:effectLst/>
                        </a:rPr>
                        <a:t>2%~5%</a:t>
                      </a:r>
                      <a:r>
                        <a:rPr lang="zh-CN" altLang="en-US" sz="700" u="none" strike="noStrike">
                          <a:effectLst/>
                        </a:rPr>
                        <a:t>盐度波动、</a:t>
                      </a:r>
                      <a:r>
                        <a:rPr lang="en" sz="700" u="none" strike="noStrike">
                          <a:effectLst/>
                        </a:rPr>
                        <a:t>pH 5.5~9.5</a:t>
                      </a:r>
                      <a:r>
                        <a:rPr lang="zh-CN" altLang="en-US" sz="700" u="none" strike="noStrike">
                          <a:effectLst/>
                        </a:rPr>
                        <a:t>冲击、冬季</a:t>
                      </a:r>
                      <a:r>
                        <a:rPr lang="en-US" altLang="zh-CN" sz="700" u="none" strike="noStrike">
                          <a:effectLst/>
                        </a:rPr>
                        <a:t>15℃</a:t>
                      </a:r>
                      <a:r>
                        <a:rPr lang="zh-CN" altLang="en-US" sz="700" u="none" strike="noStrike">
                          <a:effectLst/>
                        </a:rPr>
                        <a:t>低温三类胁迫，构建一套基于相容性溶质功能资源的全流程抗逆强化方案，明确不同胁迫等级下的动态调控策略</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4101197330"/>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全流程工程闭环</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天然群落工程化落地</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从极端生境功能资源出发，设计一套直接引入天然盐湖产相容性溶质功能群落，启动</a:t>
                      </a:r>
                      <a:r>
                        <a:rPr lang="en-US" altLang="zh-CN" sz="700" u="none" strike="noStrike">
                          <a:effectLst/>
                        </a:rPr>
                        <a:t>3%</a:t>
                      </a:r>
                      <a:r>
                        <a:rPr lang="zh-CN" altLang="en-US" sz="700" u="none" strike="noStrike">
                          <a:effectLst/>
                        </a:rPr>
                        <a:t>盐度下的反硝化生物处理系统的完整工艺方案，包含接种量、驯化梯度、启动周期、性能验收指标</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3422158255"/>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多维度因果链解析</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强化机制逐层拆解</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dirty="0">
                          <a:effectLst/>
                        </a:rPr>
                        <a:t>针对“向</a:t>
                      </a:r>
                      <a:r>
                        <a:rPr lang="en-US" altLang="zh-CN" sz="700" u="none" strike="noStrike" dirty="0">
                          <a:effectLst/>
                        </a:rPr>
                        <a:t>3%</a:t>
                      </a:r>
                      <a:r>
                        <a:rPr lang="zh-CN" altLang="en-US" sz="700" u="none" strike="noStrike" dirty="0">
                          <a:effectLst/>
                        </a:rPr>
                        <a:t>盐度冲击的</a:t>
                      </a:r>
                      <a:r>
                        <a:rPr lang="en" sz="700" u="none" strike="noStrike" dirty="0">
                          <a:effectLst/>
                        </a:rPr>
                        <a:t>anammox</a:t>
                      </a:r>
                      <a:r>
                        <a:rPr lang="zh-CN" altLang="en-US" sz="700" u="none" strike="noStrike" dirty="0">
                          <a:effectLst/>
                        </a:rPr>
                        <a:t>系统中投加产甘氨酸甜菜碱辅助菌”这一操作，沿「体系脱氮性能变化→群落演替规律→相容性溶质介导的分子互作」三层因果链，逐层拆解完整作用机制，每一层推论都标注对应的文献证据支撑</a:t>
                      </a:r>
                      <a:endParaRPr lang="zh-CN" altLang="en-US" sz="700" b="0" i="0" u="none" strike="noStrike" dirty="0">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3092580089"/>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多维度因果链解析</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故障反向溯源</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某投加了产四氢嘧啶功能菌的高盐脱氮系统，在</a:t>
                      </a:r>
                      <a:r>
                        <a:rPr lang="en-US" altLang="zh-CN" sz="700" u="none" strike="noStrike">
                          <a:effectLst/>
                        </a:rPr>
                        <a:t>4%</a:t>
                      </a:r>
                      <a:r>
                        <a:rPr lang="zh-CN" altLang="en-US" sz="700" u="none" strike="noStrike">
                          <a:effectLst/>
                        </a:rPr>
                        <a:t>盐度冲击下仍出现脱氮效率骤降，从相容性溶质合成</a:t>
                      </a:r>
                      <a:r>
                        <a:rPr lang="en-US" altLang="zh-CN" sz="700" u="none" strike="noStrike">
                          <a:effectLst/>
                        </a:rPr>
                        <a:t>-</a:t>
                      </a:r>
                      <a:r>
                        <a:rPr lang="zh-CN" altLang="en-US" sz="700" u="none" strike="noStrike">
                          <a:effectLst/>
                        </a:rPr>
                        <a:t>释放</a:t>
                      </a:r>
                      <a:r>
                        <a:rPr lang="en-US" altLang="zh-CN" sz="700" u="none" strike="noStrike">
                          <a:effectLst/>
                        </a:rPr>
                        <a:t>-</a:t>
                      </a:r>
                      <a:r>
                        <a:rPr lang="zh-CN" altLang="en-US" sz="700" u="none" strike="noStrike">
                          <a:effectLst/>
                        </a:rPr>
                        <a:t>群落互作的完整链条出发，反向定位</a:t>
                      </a:r>
                      <a:r>
                        <a:rPr lang="en-US" altLang="zh-CN" sz="700" u="none" strike="noStrike">
                          <a:effectLst/>
                        </a:rPr>
                        <a:t>3</a:t>
                      </a:r>
                      <a:r>
                        <a:rPr lang="zh-CN" altLang="en-US" sz="700" u="none" strike="noStrike">
                          <a:effectLst/>
                        </a:rPr>
                        <a:t>个最可能的底层故障位点，给出对应的验证排查路径</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2101668392"/>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多维度因果链解析</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多溶质协同机制解析</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针对“甘氨酸甜菜碱</a:t>
                      </a:r>
                      <a:r>
                        <a:rPr lang="en-US" altLang="zh-CN" sz="700" u="none" strike="noStrike">
                          <a:effectLst/>
                        </a:rPr>
                        <a:t>+</a:t>
                      </a:r>
                      <a:r>
                        <a:rPr lang="zh-CN" altLang="en-US" sz="700" u="none" strike="noStrike">
                          <a:effectLst/>
                        </a:rPr>
                        <a:t>海藻糖”双溶质协同强化的高盐反硝化系统，解析两种溶质在分子保护、群落互作、系统性能三个层面的协同增益机制，量化估算协同效应相比单溶质投加的性能提升幅度</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3917363417"/>
                  </a:ext>
                </a:extLst>
              </a:tr>
              <a:tr h="426048">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未知边缘场景探索</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极端场景方案构建</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针对公开文献极少报道的</a:t>
                      </a:r>
                      <a:r>
                        <a:rPr lang="en-US" altLang="zh-CN" sz="700" u="none" strike="noStrike">
                          <a:effectLst/>
                        </a:rPr>
                        <a:t>5%</a:t>
                      </a:r>
                      <a:r>
                        <a:rPr lang="zh-CN" altLang="en-US" sz="700" u="none" strike="noStrike">
                          <a:effectLst/>
                        </a:rPr>
                        <a:t>盐度</a:t>
                      </a:r>
                      <a:r>
                        <a:rPr lang="en-US" altLang="zh-CN" sz="700" u="none" strike="noStrike">
                          <a:effectLst/>
                        </a:rPr>
                        <a:t>+45℃</a:t>
                      </a:r>
                      <a:r>
                        <a:rPr lang="zh-CN" altLang="en-US" sz="700" u="none" strike="noStrike">
                          <a:effectLst/>
                        </a:rPr>
                        <a:t>高温</a:t>
                      </a:r>
                      <a:r>
                        <a:rPr lang="en-US" altLang="zh-CN" sz="700" u="none" strike="noStrike">
                          <a:effectLst/>
                        </a:rPr>
                        <a:t>+</a:t>
                      </a:r>
                      <a:r>
                        <a:rPr lang="en" sz="700" u="none" strike="noStrike">
                          <a:effectLst/>
                        </a:rPr>
                        <a:t>pH 10</a:t>
                      </a:r>
                      <a:r>
                        <a:rPr lang="zh-CN" altLang="en-US" sz="700" u="none" strike="noStrike">
                          <a:effectLst/>
                        </a:rPr>
                        <a:t>强碱性的极端脱氮场景，从零构建一套基于相容性溶质功能资源的生物强化方案，说明方案设计的核心依据与潜在风险防控措施</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351348089"/>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未知边缘场景探索</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人工合成群落定向强化</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现有一组人工构建的完全自养脱氮合成群落，无任何耐盐驯化背景，设计一套基于天然盐湖功能资源的定向强化方案，使其可直接耐受</a:t>
                      </a:r>
                      <a:r>
                        <a:rPr lang="en-US" altLang="zh-CN" sz="700" u="none" strike="noStrike">
                          <a:effectLst/>
                        </a:rPr>
                        <a:t>3%</a:t>
                      </a:r>
                      <a:r>
                        <a:rPr lang="zh-CN" altLang="en-US" sz="700" u="none" strike="noStrike">
                          <a:effectLst/>
                        </a:rPr>
                        <a:t>盐度冲击，明确强化过程中的群落功能重构路径</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4104473082"/>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方案择优与定量评估</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多方案排序验证</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针对</a:t>
                      </a:r>
                      <a:r>
                        <a:rPr lang="en-US" altLang="zh-CN" sz="700" u="none" strike="noStrike">
                          <a:effectLst/>
                        </a:rPr>
                        <a:t>2.5%</a:t>
                      </a:r>
                      <a:r>
                        <a:rPr lang="zh-CN" altLang="en-US" sz="700" u="none" strike="noStrike">
                          <a:effectLst/>
                        </a:rPr>
                        <a:t>盐度冲击的反硝化系统，生成</a:t>
                      </a:r>
                      <a:r>
                        <a:rPr lang="en-US" altLang="zh-CN" sz="700" u="none" strike="noStrike">
                          <a:effectLst/>
                        </a:rPr>
                        <a:t>3</a:t>
                      </a:r>
                      <a:r>
                        <a:rPr lang="zh-CN" altLang="en-US" sz="700" u="none" strike="noStrike">
                          <a:effectLst/>
                        </a:rPr>
                        <a:t>种不同的产相容性溶质功能菌投加方案，从脱氮效率维持率、运行成本、长期群落稳定性三个维度进行定量打分，按综合性能从高到低排序并说明排序依据</a:t>
                      </a:r>
                      <a:endParaRPr lang="zh-CN" altLang="en-US" sz="700" b="0" i="0" u="none" strike="noStrike">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1777911802"/>
                  </a:ext>
                </a:extLst>
              </a:tr>
              <a:tr h="565425">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 altLang="zh-CN" sz="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Level 3 </a:t>
                      </a:r>
                      <a:r>
                        <a:rPr kumimoji="0" lang="zh-CN" altLang="en-US" sz="7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专家级</a:t>
                      </a:r>
                      <a:endParaRPr kumimoji="0" lang="zh-CN" altLang="en-US" sz="7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txBody>
                  <a:tcPr marL="6318" marR="6318" marT="6318" marB="0" anchor="b"/>
                </a:tc>
                <a:tc>
                  <a:txBody>
                    <a:bodyPr/>
                    <a:lstStyle/>
                    <a:p>
                      <a:pPr algn="l" fontAlgn="b">
                        <a:buNone/>
                      </a:pPr>
                      <a:r>
                        <a:rPr lang="zh-CN" altLang="en-US" sz="700" u="none" strike="noStrike">
                          <a:effectLst/>
                        </a:rPr>
                        <a:t>跨领域交叉应用</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a:effectLst/>
                        </a:rPr>
                        <a:t>工艺</a:t>
                      </a:r>
                      <a:r>
                        <a:rPr lang="en-US" altLang="zh-CN" sz="700" u="none" strike="noStrike">
                          <a:effectLst/>
                        </a:rPr>
                        <a:t>-</a:t>
                      </a:r>
                      <a:r>
                        <a:rPr lang="zh-CN" altLang="en-US" sz="700" u="none" strike="noStrike">
                          <a:effectLst/>
                        </a:rPr>
                        <a:t>功能协同优化</a:t>
                      </a:r>
                      <a:endParaRPr lang="zh-CN" altLang="en-US" sz="700" b="0" i="0" u="none" strike="noStrike">
                        <a:solidFill>
                          <a:srgbClr val="000000"/>
                        </a:solidFill>
                        <a:effectLst/>
                        <a:latin typeface="Calibri" panose="020F0502020204030204" pitchFamily="34" charset="0"/>
                      </a:endParaRPr>
                    </a:p>
                  </a:txBody>
                  <a:tcPr marL="6318" marR="6318" marT="6318" marB="0" anchor="b"/>
                </a:tc>
                <a:tc>
                  <a:txBody>
                    <a:bodyPr/>
                    <a:lstStyle/>
                    <a:p>
                      <a:pPr algn="l" fontAlgn="b">
                        <a:buNone/>
                      </a:pPr>
                      <a:r>
                        <a:rPr lang="zh-CN" altLang="en-US" sz="700" u="none" strike="noStrike" dirty="0">
                          <a:effectLst/>
                        </a:rPr>
                        <a:t>将相容性溶质抗逆机制与</a:t>
                      </a:r>
                      <a:r>
                        <a:rPr lang="en" sz="700" u="none" strike="noStrike" dirty="0">
                          <a:effectLst/>
                        </a:rPr>
                        <a:t>SBR</a:t>
                      </a:r>
                      <a:r>
                        <a:rPr lang="zh-CN" altLang="en-US" sz="700" u="none" strike="noStrike" dirty="0">
                          <a:effectLst/>
                        </a:rPr>
                        <a:t>脱氮工艺的运行时序优化结合，设计一套适配</a:t>
                      </a:r>
                      <a:r>
                        <a:rPr lang="en-US" altLang="zh-CN" sz="700" u="none" strike="noStrike" dirty="0">
                          <a:effectLst/>
                        </a:rPr>
                        <a:t>3%</a:t>
                      </a:r>
                      <a:r>
                        <a:rPr lang="zh-CN" altLang="en-US" sz="700" u="none" strike="noStrike" dirty="0">
                          <a:effectLst/>
                        </a:rPr>
                        <a:t>盐度废水的时序调控策略，通过运行参数调整进一步强化功能菌的相容性溶质合成效率，提升系统整体抗冲击能力</a:t>
                      </a:r>
                      <a:endParaRPr lang="zh-CN" altLang="en-US" sz="700" b="0" i="0" u="none" strike="noStrike" dirty="0">
                        <a:solidFill>
                          <a:srgbClr val="000000"/>
                        </a:solidFill>
                        <a:effectLst/>
                        <a:latin typeface="Calibri" panose="020F0502020204030204" pitchFamily="34" charset="0"/>
                      </a:endParaRPr>
                    </a:p>
                  </a:txBody>
                  <a:tcPr marL="6318" marR="6318" marT="6318" marB="0" anchor="b"/>
                </a:tc>
                <a:extLst>
                  <a:ext uri="{0D108BD9-81ED-4DB2-BD59-A6C34878D82A}">
                    <a16:rowId xmlns:a16="http://schemas.microsoft.com/office/drawing/2014/main" val="2988669826"/>
                  </a:ext>
                </a:extLst>
              </a:tr>
            </a:tbl>
          </a:graphicData>
        </a:graphic>
      </p:graphicFrame>
    </p:spTree>
    <p:extLst>
      <p:ext uri="{BB962C8B-B14F-4D97-AF65-F5344CB8AC3E}">
        <p14:creationId xmlns:p14="http://schemas.microsoft.com/office/powerpoint/2010/main" val="2868786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9274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4112</Words>
  <Application>Microsoft Macintosh PowerPoint</Application>
  <PresentationFormat>宽屏</PresentationFormat>
  <Paragraphs>247</Paragraphs>
  <Slides>12</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PingFang SC</vt:lpstr>
      <vt:lpstr>Arial</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Xuejiao Qiao</cp:lastModifiedBy>
  <cp:revision>10</cp:revision>
  <dcterms:created xsi:type="dcterms:W3CDTF">2013-01-27T09:14:16Z</dcterms:created>
  <dcterms:modified xsi:type="dcterms:W3CDTF">2026-09-28T09:16:23Z</dcterms:modified>
  <cp:category/>
</cp:coreProperties>
</file>