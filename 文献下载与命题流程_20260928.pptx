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OA 命中率</c:v>
                </c:pt>
              </c:strCache>
            </c:strRef>
          </c:tx>
          <c:spPr>
            <a:solidFill>
              <a:srgbClr val="0E6E6B"/>
            </a:solidFill>
            <a:effectLst/>
          </c:spPr>
          <c:invertIfNegative val="0"/>
          <c:dLbls>
            <c:numFmt formatCode="0.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B2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Water Research  1657→61</c:v>
                  </c:pt>
                  <c:pt idx="1">
                    <c:v>Bioresource Technology  80→0</c:v>
                  </c:pt>
                  <c:pt idx="2">
                    <c:v>Environ. Sci. Technol.  185→110</c:v>
                  </c:pt>
                  <c:pt idx="3">
                    <c:v>Scientific Reports  158→158</c:v>
                  </c:pt>
                  <c:pt idx="4">
                    <c:v>npj Clean Water  29→29</c:v>
                  </c:pt>
                  <c:pt idx="5">
                    <c:v>mSystems  23→22</c:v>
                  </c:pt>
                  <c:pt idx="6">
                    <c:v>Nature Communications  19→19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</c:v>
                </c:pt>
                <c:pt idx="1">
                  <c:v>0</c:v>
                </c:pt>
                <c:pt idx="2">
                  <c:v>59.5</c:v>
                </c:pt>
                <c:pt idx="3">
                  <c:v>100</c:v>
                </c:pt>
                <c:pt idx="4">
                  <c:v>100</c:v>
                </c:pt>
                <c:pt idx="5">
                  <c:v>95.7</c:v>
                </c:pt>
                <c:pt idx="6">
                  <c:v>100</c:v>
                </c:pt>
              </c:numCache>
            </c:numRef>
          </c:val>
        </c:ser>
        <c:dLbls>
          <c:numFmt formatCode="0.#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C2B2A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C2B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7EF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A77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构成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6E6B"/>
              </a:solidFill>
              <a:effectLst/>
            </c:spPr>
          </c:dPt>
          <c:dPt>
            <c:idx val="1"/>
            <c:bubble3D val="0"/>
            <c:spPr>
              <a:solidFill>
                <a:srgbClr val="8FBDB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Microsoft YaHe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全文正文 580</c:v>
                </c:pt>
                <c:pt idx="1">
                  <c:v>补充材料 SI 174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580</c:v>
                </c:pt>
                <c:pt idx="1">
                  <c:v>174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50">
              <a:solidFill>
                <a:srgbClr val="1C2B2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题量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C2B2A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E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E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E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6E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E6E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机理分析 M</c:v>
                  </c:pt>
                  <c:pt idx="1">
                    <c:v>环境工程 E</c:v>
                  </c:pt>
                  <c:pt idx="2">
                    <c:v>总体耐盐化 T1</c:v>
                  </c:pt>
                  <c:pt idx="3">
                    <c:v>场景推理 T10</c:v>
                  </c:pt>
                  <c:pt idx="4">
                    <c:v>菌株选择 T5</c:v>
                  </c:pt>
                  <c:pt idx="5">
                    <c:v>培养基设计 T7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3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C2B2A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2B2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科研智能体评测 · 题库构建复盘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754 篇文献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 17 道评测题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4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高盐厌氧氨氧化方向评测题库是怎么做出来的 —— 文献下载情况 × 命题流程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5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2026-09-28 · WWBench 题库组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75320" y="1691640"/>
            <a:ext cx="3246120" cy="1207008"/>
          </a:xfrm>
          <a:prstGeom prst="roundRect">
            <a:avLst>
              <a:gd name="adj" fmla="val 5303"/>
            </a:avLst>
          </a:prstGeom>
          <a:solidFill>
            <a:srgbClr val="114A4C"/>
          </a:solidFill>
          <a:ln/>
        </p:spPr>
      </p:sp>
      <p:sp>
        <p:nvSpPr>
          <p:cNvPr id="7" name="Text 5"/>
          <p:cNvSpPr/>
          <p:nvPr/>
        </p:nvSpPr>
        <p:spPr>
          <a:xfrm>
            <a:off x="8549640" y="18379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3,927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54964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待下载清单（20260926）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75320" y="3172968"/>
            <a:ext cx="3246120" cy="1207008"/>
          </a:xfrm>
          <a:prstGeom prst="roundRect">
            <a:avLst>
              <a:gd name="adj" fmla="val 5303"/>
            </a:avLst>
          </a:prstGeom>
          <a:solidFill>
            <a:srgbClr val="114A4C"/>
          </a:solidFill>
          <a:ln/>
        </p:spPr>
      </p:sp>
      <p:sp>
        <p:nvSpPr>
          <p:cNvPr id="10" name="Text 8"/>
          <p:cNvSpPr/>
          <p:nvPr/>
        </p:nvSpPr>
        <p:spPr>
          <a:xfrm>
            <a:off x="8549640" y="33192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549640" y="39227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全文到库 · 19.2%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75320" y="4654296"/>
            <a:ext cx="3246120" cy="1207008"/>
          </a:xfrm>
          <a:prstGeom prst="roundRect">
            <a:avLst>
              <a:gd name="adj" fmla="val 5303"/>
            </a:avLst>
          </a:prstGeom>
          <a:solidFill>
            <a:srgbClr val="114A4C"/>
          </a:solidFill>
          <a:ln/>
        </p:spPr>
      </p:sp>
      <p:sp>
        <p:nvSpPr>
          <p:cNvPr id="13" name="Text 11"/>
          <p:cNvSpPr/>
          <p:nvPr/>
        </p:nvSpPr>
        <p:spPr>
          <a:xfrm>
            <a:off x="8549640" y="4800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题 · 19 DOI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49640" y="5404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试题产出 · 全部可溯源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全景：一条从清单到题库的流水线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E3F0E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待下载清单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 × 期刊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加权筛选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3,927 篇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340864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E3F0EE"/>
          </a:solidFill>
          <a:ln/>
        </p:spPr>
      </p:sp>
      <p:sp>
        <p:nvSpPr>
          <p:cNvPr id="10" name="Text 8"/>
          <p:cNvSpPr/>
          <p:nvPr/>
        </p:nvSpPr>
        <p:spPr>
          <a:xfrm>
            <a:off x="2505456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05456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榨取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05456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多通道直链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解析下载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05456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 篇 · 19.2%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24528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E3F0E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全库分诊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89120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前三页文本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加权评分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 篇候选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08192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E3F0EE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72784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证据挖掘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272784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段落摘要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精读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72784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25 篇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991856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E3F0EE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156448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模板化命题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56448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对齐原库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句式与评分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156448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题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9875520" y="1600200"/>
            <a:ext cx="1783080" cy="2743200"/>
          </a:xfrm>
          <a:prstGeom prst="roundRect">
            <a:avLst>
              <a:gd name="adj" fmla="val 4103"/>
            </a:avLst>
          </a:prstGeom>
          <a:solidFill>
            <a:srgbClr val="0E6E6B"/>
          </a:solidFill>
          <a:ln/>
        </p:spPr>
      </p:sp>
      <p:sp>
        <p:nvSpPr>
          <p:cNvPr id="30" name="Text 28"/>
          <p:cNvSpPr/>
          <p:nvPr/>
        </p:nvSpPr>
        <p:spPr>
          <a:xfrm>
            <a:off x="10040112" y="1783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FE0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40112" y="2267712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核真验收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040112" y="269748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E0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 对照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FE0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原文首页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040112" y="361188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D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在库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全程脚本化、可复现、可扩题：</a:t>
            </a:r>
            <a:pPr indent="0" marL="0">
              <a:buNone/>
            </a:pPr>
            <a:r>
              <a:rPr lang="en-US" sz="13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qa_gen/ 保存了每一步的脚本与中间产物（triage → fulltext → digest → gen → validate → verify_titles）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数据来源：qa_gen/ 各阶段日志（2026-09-26 ~ 09-27）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文献下载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榨取：3,927 篇清单，拿下 754 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417320"/>
            <a:ext cx="4023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 PDF 到库 · 占清单 19.2%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38862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E3F0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580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全文正文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0" y="3886200"/>
            <a:ext cx="1920240" cy="960120"/>
          </a:xfrm>
          <a:prstGeom prst="roundRect">
            <a:avLst>
              <a:gd name="adj" fmla="val 6667"/>
            </a:avLst>
          </a:prstGeom>
          <a:solidFill>
            <a:srgbClr val="E3F0E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39959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4498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补充材料 SI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1389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旧队列 2,790 篇 OA 命中≈0，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已整队放弃；改用 20260926 新清单（主题聚焦 + OA 友好期刊加权）后命中 19.2%。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清单构成与缺口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35040" y="19385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已到库 754 · 19.2%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35040" y="2267712"/>
            <a:ext cx="1088136" cy="658368"/>
          </a:xfrm>
          <a:prstGeom prst="rect">
            <a:avLst/>
          </a:prstGeom>
          <a:solidFill>
            <a:srgbClr val="0E6E6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3176" y="2267712"/>
            <a:ext cx="4608576" cy="658368"/>
          </a:xfrm>
          <a:prstGeom prst="rect">
            <a:avLst/>
          </a:prstGeom>
          <a:solidFill>
            <a:srgbClr val="C9D6D4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404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C4A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3,173 待机构 SSO · 80.8%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0" y="33101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缺口在哪里：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集中在订阅型大刊 —— Water Research 一家占清单 1,657 篇，OA 命中仅 61 篇。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0" y="424281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怎么补：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等机构 SSO 权限开通后运行 start_missing_20260926.cmd 一键续采；补采脚本与失败清单均已留档。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0" y="517550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为什么值得等：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3,173 篇缺口多为主题高相关订阅刊，补齐后可支撑更大规模的扩题与证据交叉验证。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来源：文献下载总览_20260926.xlsx；lit_workspace/final_stats.txt（queued=3927，pdf=754，fulltext=580，si=174，todo=3173）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文献下载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下载率由期刊 OA 政策决定，而非主题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5895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6676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命中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366760" y="207568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OA 刊一网打尽：Sci. Rep.、npj Clean Water、Nat. Commun.、mSystems（22/23）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366760" y="3081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3.7%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366760" y="3557016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Water Research 1,657 篇仅 61 篇 OA —— 全库最大缺口来源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366760" y="45628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80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66760" y="5038344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Bioresource Technology 全军覆没：订阅墙，只能等 SSO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来源：lit_workspace/final_stats.txt（2026-09-26，按期刊统计）· 柱标签格式：在清单篇数 → 已下载篇数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· 文献下载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到库文献：以 DOI 为主键的机器可回溯语料库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36776"/>
            <a:ext cx="128016" cy="128016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51790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oa_pdf_20260926／ — 754 个 PDF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49808" y="193852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全部以 DOI 命名（如 10.1016_j.cej.2022.136712.pdf），题库引用可一键回查原文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630936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770632"/>
            <a:ext cx="128016" cy="128016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65176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bench_pdfs_fulltext／ — 581 个文件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9808" y="307238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面向评测的正文子集，与下载清单、状态总览表联动管理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630936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904488"/>
            <a:ext cx="128016" cy="128016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8561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双轨完整性体检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49808" y="420624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页数 / 体积 / 可解析性校验 + 解析缓存去重，损坏与失败逐条留档、支持重下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828032"/>
            <a:ext cx="630936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5038344"/>
            <a:ext cx="128016" cy="128016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9194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 与正文同权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9808" y="534009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174 份补充材料带关键附表（如 PI/SI 反应器对照、批次试验矩阵），是命题证据的一部分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7223760" y="1600200"/>
          <a:ext cx="42976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795528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 篇构成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来源：lit_workspace/literature/ 目录盘点（2026-09-28）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A6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640080" y="25146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题是怎么造出来的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D4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六步流水线：每一步都有脚本与中间产物，可复现、可扩题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对齐评测框架    ·    02 全库分诊    ·    03 全文抽取    ·    04 证据挖掘    ·    05 模板化命题    ·    06 核真验收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命题流程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第一关：把评分器拆开看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91056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78992" y="157276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字段逐字对齐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78992" y="197510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原库 52 题的 12 列表头原样沿用，新题题号接续 q-201 ~ q-217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578608"/>
            <a:ext cx="640080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724912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78992" y="27066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rubric_6dims 评分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8992" y="3108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六维各 0–2 分：准确 / 完整 / 机制 / 工程 / 依据 / 逻辑，另加要点逐条命中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12464"/>
            <a:ext cx="640080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858768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78992" y="3840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要点切分规则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78992" y="424281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ideal_keypoints 按「；」切分 → 要点内部禁用该符号，评分器行为决定写法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846320"/>
            <a:ext cx="6400800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992624"/>
            <a:ext cx="566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78992" y="49743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 维引证锚点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78992" y="537667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启发式评分以详解中的 DOI / 期刊+年份 为锚 → 每题详解必须嵌真实引证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06640" y="1572768"/>
            <a:ext cx="4297680" cy="4160520"/>
          </a:xfrm>
          <a:prstGeom prst="roundRect">
            <a:avLst>
              <a:gd name="adj" fmla="val 1978"/>
            </a:avLst>
          </a:prstGeom>
          <a:solidFill>
            <a:srgbClr val="E3F0EE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18105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评分器看到什么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680960" y="228600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keypoint_hits [true/false …]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要点逐条判定，与要点串等长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dim_scores {0|1|2} × 6 维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0 缺失 / 1 部分 / 2 达标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refused / overall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拒答直接记 0 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0" y="5138928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出处：WWBench_v1.0/harness（prompts.py · dataset.py · graders.py）逐行核对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来源：WWBench_v1.0 harness 源码 + 原题库「Wastewater biological treatment questions.csv」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命题流程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证据挖掘：从 754 篇到约 25 篇的漏斗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E3F0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0665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全库 PDF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逐篇前三页文本抽取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27248" y="190195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19856" y="148132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E3F0EE"/>
          </a:solidFill>
          <a:ln/>
        </p:spPr>
      </p:sp>
      <p:sp>
        <p:nvSpPr>
          <p:cNvPr id="9" name="Text 7"/>
          <p:cNvSpPr/>
          <p:nvPr/>
        </p:nvSpPr>
        <p:spPr>
          <a:xfrm>
            <a:off x="3602736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02736" y="20665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anammox × 盐度 × 溶质加权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89904" y="190195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382512" y="148132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E3F0EE"/>
          </a:solidFill>
          <a:ln/>
        </p:spPr>
      </p:sp>
      <p:sp>
        <p:nvSpPr>
          <p:cNvPr id="13" name="Text 11"/>
          <p:cNvSpPr/>
          <p:nvPr/>
        </p:nvSpPr>
        <p:spPr>
          <a:xfrm>
            <a:off x="6565392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 KB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565392" y="20665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段落级摘要库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盐度证据结构化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052560" y="1901952"/>
            <a:ext cx="310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45168" y="148132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E3F0EE"/>
          </a:solidFill>
          <a:ln/>
        </p:spPr>
      </p:sp>
      <p:sp>
        <p:nvSpPr>
          <p:cNvPr id="17" name="Text 15"/>
          <p:cNvSpPr/>
          <p:nvPr/>
        </p:nvSpPr>
        <p:spPr>
          <a:xfrm>
            <a:off x="9528048" y="15910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~25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28048" y="20665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核心文献精读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逐题锚定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12724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锚点文献（DOI）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43400" y="312724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为命题贡献的核心事实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561320" y="31272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648456"/>
            <a:ext cx="11274552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94176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10.1021/acs.est.2c01104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343400" y="3694176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梯度 vs 急性提盐反应器对照；谷氨酸批次试验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561320" y="369417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题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4215384"/>
            <a:ext cx="11274552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61104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10.1021/acs.est.4c01417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343400" y="426110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Jettenia 膜重塑 vs Scalindua salt-in 策略对比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561320" y="426110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题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782312"/>
            <a:ext cx="11274552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10.1038/s41396-021-01031-8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343400" y="482803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Scalindua 维持能 4.3 kJ、产率随盐度反升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0561320" y="482803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10.1038/s41396-020-00850-5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343400" y="539496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糖原→海藻糖内源轴（饥饿预调理基础）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561320" y="539496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题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5916168"/>
            <a:ext cx="11274552" cy="0"/>
          </a:xfrm>
          <a:prstGeom prst="line">
            <a:avLst/>
          </a:prstGeom>
          <a:noFill/>
          <a:ln w="12700">
            <a:solidFill>
              <a:srgbClr val="D8E5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6188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10.1128/mbio.00092-22 等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343400" y="5961888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Mg2+/K+ 串扰；EPS 阳离子交换毒性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561320" y="596188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题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来源：qa_gen/triage.json、digest_core.txt（共精读 25 篇，此处列前 5 个锚点）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命题流程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产出：17 道题，全部为三步作答结构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62940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3F0EE"/>
          </a:solidFill>
          <a:ln/>
        </p:spPr>
      </p:sp>
      <p:sp>
        <p:nvSpPr>
          <p:cNvPr id="6" name="Text 3"/>
          <p:cNvSpPr/>
          <p:nvPr/>
        </p:nvSpPr>
        <p:spPr>
          <a:xfrm>
            <a:off x="6793992" y="168249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 13 · 中等 4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793992" y="234086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难度分布：以复杂推理为主，中等题作能力基线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23544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E3F0EE"/>
          </a:solidFill>
          <a:ln/>
        </p:spPr>
      </p:sp>
      <p:sp>
        <p:nvSpPr>
          <p:cNvPr id="9" name="Text 6"/>
          <p:cNvSpPr/>
          <p:nvPr/>
        </p:nvSpPr>
        <p:spPr>
          <a:xfrm>
            <a:off x="9400032" y="1682496"/>
            <a:ext cx="21579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微生物调控 8 · 环境工程 5 · 高盐胁迫 4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400032" y="2340864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主题分布：覆盖机理、工程与胁迫三条主线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29400" y="315468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F4F9F8"/>
          </a:solidFill>
          <a:ln w="12700">
            <a:solidFill>
              <a:srgbClr val="D8E5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0" y="3310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样例 · q-216（T1 梯度计算题）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58000" y="3712464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1.5%→4.0%、0.5%/步 ⇒ 5 步 35 天；每梯度进级判据与监测指标；谷氨酸 2 mM 投加时机；性能不恢复的回退方案。锚：10.1021/acs.est.2c01104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523036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题号接续原库（q-061 ~ q-200 → 自 q-201 起），题干只给场景参数、证据留给作答者推导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来源：高盐厌氧氨氧化AI智能体评测试题_20260927.csv（工作区根目录，17 行 × 12 列）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6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· 命题流程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两轮返工与引用核真：交付即可导入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20624" cy="420624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1848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15568" y="1572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复盘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15568" y="197510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题干把文献证据整段「喂」给作答者 —— 偏离原库风格，难度失真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752344"/>
            <a:ext cx="420624" cy="420624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7063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67512" y="2432304"/>
            <a:ext cx="0" cy="320040"/>
          </a:xfrm>
          <a:prstGeom prst="line">
            <a:avLst/>
          </a:prstGeom>
          <a:noFill/>
          <a:ln w="19050">
            <a:solidFill>
              <a:srgbClr val="D8E5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7249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 重写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115568" y="312724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题干只留场景参数，句式逐一对齐原库 T1 / T5 / T7 / T10 / E 五套模板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04488"/>
            <a:ext cx="420624" cy="420624"/>
          </a:xfrm>
          <a:prstGeom prst="ellipse">
            <a:avLst/>
          </a:prstGeom>
          <a:solidFill>
            <a:srgbClr val="0E6E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2277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" y="3584448"/>
            <a:ext cx="0" cy="320040"/>
          </a:xfrm>
          <a:prstGeom prst="line">
            <a:avLst/>
          </a:prstGeom>
          <a:noFill/>
          <a:ln w="19050">
            <a:solidFill>
              <a:srgbClr val="D8E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8770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引用核真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15568" y="42793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个 DOI 逐一对照 PDF 首页标题：全部真实存在，顺带修正 4 处标题出入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056632"/>
            <a:ext cx="420624" cy="420624"/>
          </a:xfrm>
          <a:prstGeom prst="ellipse">
            <a:avLst/>
          </a:prstGeom>
          <a:solidFill>
            <a:srgbClr val="E8871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07492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67512" y="4736592"/>
            <a:ext cx="0" cy="320040"/>
          </a:xfrm>
          <a:prstGeom prst="line">
            <a:avLst/>
          </a:prstGeom>
          <a:noFill/>
          <a:ln w="19050">
            <a:solidFill>
              <a:srgbClr val="D8E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50292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机器验收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1115568" y="5431536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表头 12 列逐字一致 · 要点 3–6 条可解析 · 分隔符合规 · DOI 在库率 100%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55280" y="17830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6600" dirty="0"/>
          </a:p>
        </p:txBody>
      </p:sp>
      <p:sp>
        <p:nvSpPr>
          <p:cNvPr id="24" name="Text 22"/>
          <p:cNvSpPr/>
          <p:nvPr/>
        </p:nvSpPr>
        <p:spPr>
          <a:xfrm>
            <a:off x="7973568" y="30358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C2B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个引用 DOI 全部在库、可回溯到原文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955280" y="3977640"/>
            <a:ext cx="3794760" cy="1234440"/>
          </a:xfrm>
          <a:prstGeom prst="roundRect">
            <a:avLst>
              <a:gd name="adj" fmla="val 5926"/>
            </a:avLst>
          </a:prstGeom>
          <a:solidFill>
            <a:srgbClr val="E3F0EE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41330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E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条引用 · 19 篇唯一文献 · 4 处标题修正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183880" y="46268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核真脚本 verify_titles.py：DOI → PDF 首页标题逐字比对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1908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A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来源：qa_gen/validate.py（评分器同逻辑复检）+ verify_titles.py（DOI 核真）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5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可复用资产与下一步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沉淀的资产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450592"/>
            <a:ext cx="118872" cy="118872"/>
          </a:xfrm>
          <a:prstGeom prst="ellipse">
            <a:avLst/>
          </a:prstGeom>
          <a:solidFill>
            <a:srgbClr val="9FE0D8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23225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qa_gen/ 全管线脚本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32688" y="2706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 → 全文抽取 → 摘要 → 命题 → 验收 → 核真，一条命令可重跑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8368" y="3529584"/>
            <a:ext cx="118872" cy="118872"/>
          </a:xfrm>
          <a:prstGeom prst="ellipse">
            <a:avLst/>
          </a:prstGeom>
          <a:solidFill>
            <a:srgbClr val="9FE0D8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34015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篇核心锚点文献清单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32688" y="37856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每篇标注可命制考点与已用题目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4608576"/>
            <a:ext cx="118872" cy="118872"/>
          </a:xfrm>
          <a:prstGeom prst="ellipse">
            <a:avLst/>
          </a:prstGeom>
          <a:solidFill>
            <a:srgbClr val="9FE0D8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 KB 结构化证据摘要库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32688" y="486460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盐度 × anammox 段落级事实，扩题直接取材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BD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35915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67728" y="23225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3,173 篇缺口补采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967728" y="270662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等机构 SSO 开通后运行 start_missing_20260926.cmd 一键续跑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438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67728" y="340156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并入 WWBench 跑首轮评测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967728" y="37856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 CSV 已可直接导入 harness，heuristic + LLM judge 双轨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451713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7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67728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按成绩反哺扩题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967728" y="486460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FC3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弱项维度（如 evidence 维）定向补题、迭代题库 v2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A5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题库文件：高盐厌氧氨氧化AI智能体评测试题_20260927.csv（工作区根目录）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从文献到题库：下载情况与命题流程</dc:title>
  <dc:subject>PptxGenJS Presentation</dc:subject>
  <dc:creator>WWBench 题库组</dc:creator>
  <cp:lastModifiedBy>WWBench 题库组</cp:lastModifiedBy>
  <cp:revision>1</cp:revision>
  <dcterms:created xsi:type="dcterms:W3CDTF">2026-09-28T06:32:54Z</dcterms:created>
  <dcterms:modified xsi:type="dcterms:W3CDTF">2026-09-28T06:32:54Z</dcterms:modified>
</cp:coreProperties>
</file>